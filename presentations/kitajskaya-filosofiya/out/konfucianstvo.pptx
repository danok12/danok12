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Тема моего выступления — конфуцианство, одно из двух главных течений китайской философии.</a:t>
            </a:r>
          </a:p>
          <a:p/>
          <a:p>
            <a:r>
              <a:t>Начну с фразы, которую знают все, даже если не знают, кому она принадлежит: «Не делай другим того, чего не желаешь себе». Это золотое правило нравственности, и сформулировал его Конфуций — примерно за пятьсот лет до нашей эры.</a:t>
            </a:r>
          </a:p>
          <a:p/>
          <a:p>
            <a:r>
              <a:t>Сегодня я расскажу, кем был этот человек, в чём суть его учения и почему оно почти три тысячи лет остаётся живым.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выступления. Задержаться на пять секунд, не зачитывать вслух.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Итак, кто он такой. Настоящее имя — Кун Цю. В литературе его называют Кун-цзы, Кун Фу-цзы или просто Цзы — «Учитель». Именно из «Кун Фу-цзы» европейские миссионеры сделали привычное нам «Конфуций».</a:t>
            </a:r>
          </a:p>
          <a:p/>
          <a:p>
            <a:r>
              <a:t>Годы жизни — 551—479 до нашей эры. Он был потомком обедневшего аристократического рода, сыном пожилого чиновника и его молодой наложницы. То есть происхождение знатное, а жизнь — бедная: ему приходилось зарабатывать с юности.</a:t>
            </a:r>
          </a:p>
          <a:p/>
          <a:p>
            <a:r>
              <a:t>Уже в 22 года он стал первым в Китае частным учителем. До него образование было привилегией знати, а Конфуций начал брать учеников независимо от происхождения — по преданию, платой могла быть связка вяленого мяса. Позже он снискал славу самого знаменитого педагога Поднебесной.</a:t>
            </a:r>
          </a:p>
          <a:p/>
          <a:p>
            <a:r>
              <a:t>Любопытная деталь: сам он не написал ни одной книги. Всё, что мы знаем, записали ученики — это сборник «Лунь юй», «Беседы и суждения».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Конфуций не любил говорить о себе. Но однажды он описал весь свой жизненный путь буквально в шести строчках — и это, на мой взгляд, одна из самых красивых автобиографий в истории:</a:t>
            </a:r>
          </a:p>
          <a:p/>
          <a:p>
            <a:r>
              <a:t>«В 15 лет я обратил свои помыслы к учению. В 30 лет — я обрёл прочную основу. В 40 лет — я сумел освободиться от сомнений. В 50 лет — я познал волю Неба. В 60 лет — я научился отличать правду от лжи. В 70 лет — я стал следовать зову моего сердца и не нарушал Ритуала».</a:t>
            </a:r>
          </a:p>
          <a:p/>
          <a:p>
            <a:r>
              <a:t>Обратите внимание на последнюю строчку. Высшая точка — не когда человек заставляет себя поступать правильно, а когда он делает что хочет — и это совпадает с правильным. Вся педагогика Конфуция про это: воспитать человека так, чтобы добродетель стала его желанием, а не обязанностью.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сути 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— о чём, собственно, учение.</a:t>
            </a:r>
          </a:p>
          <a:p/>
          <a:p>
            <a:r>
              <a:t>Конфуцианство — учение ярко выраженного социально-этического характера. Это важно: оно почти не говорит о том, как устроена вселенная, откуда взялся мир, что такое бытие. Его интересует человек: как жить среди людей, как воспитывать, как управлять. Главная тема — моральные принципы, на которых держатся и отношения между людьми, и государство.</a:t>
            </a:r>
          </a:p>
          <a:p/>
          <a:p>
            <a:r>
              <a:t>Место для судьбы в этой картине тоже есть. Конфуций говорил: «Всё изначально предопределено судьбой, и тут ничего не убавишь и не прибавишь». Но это не повод опустить руки: судьба задаёт рамку, а внутри неё человек отвечает за себя сам.</a:t>
            </a:r>
          </a:p>
          <a:p/>
          <a:p>
            <a:r>
              <a:t>И ещё одна мысль, очень смелая для своего времени. По своей природе, говорит Конфуций, люди похожи друг на друга — незыблемы только высшая мудрость и крайняя глупость. А различаются люди благодаря воспитанию и привычкам. То есть человека делает не происхождение, а образование. Для общества, где всё решала знатность рода, это была почти революционная идея.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Знание Конфуций выстраивает в лестницу из четырёх ступеней.</a:t>
            </a:r>
          </a:p>
          <a:p/>
          <a:p>
            <a:r>
              <a:t>Высшее знание — то, которое человек имеет при рождении. Ниже — знания, приобретаемые в процессе изучения. Ещё ниже — знания, полученные в результате преодоления трудностей: то есть когда жизнь сама заставила научиться.</a:t>
            </a:r>
          </a:p>
          <a:p/>
          <a:p>
            <a:r>
              <a:t>А самый ничтожный, по Конфуцию, тот, кто не хочет извлечь поучительный урок даже из трудностей. Заметьте: осуждается не глупость и не бедность, а нежелание учиться. Это единственное, что он считает по-настоящему недостойным.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 же мысль он формулирует ещё короче — в цитате, которую вы наверняка слышали:</a:t>
            </a:r>
          </a:p>
          <a:p/>
          <a:p>
            <a:r>
              <a:t>«Три пути ведут к знанию: путь размышления — это путь самый благородный, путь подражания — это путь самый лёгкий, путь опыта — это путь самый горький».</a:t>
            </a:r>
          </a:p>
          <a:p/>
          <a:p>
            <a:r>
              <a:t>Здесь нет запрета на два последних пути. Есть честное предупреждение: подражать легко, но чужой ум не станет твоим; учиться на своих ошибках можно, но это дорого обходится. Думать своей головой — труднее всего и благороднее всего.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— фундамент всего учения. Эталон человека у Конфуция называется «благородный муж», по-китайски цзюнь-цзы. Это не про знатность: благородным становятся, а не рождаются. У него пять качеств.</a:t>
            </a:r>
          </a:p>
          <a:p/>
          <a:p>
            <a:r>
              <a:t>Первое — жэнь, гуманность, человеколюбие. Именно здесь звучит золотое правило: не делай другим того, чего не желал бы себе. Жэнь — это спокойная, самодостаточная любовь к людям, которая приносит в мир гармонию.</a:t>
            </a:r>
          </a:p>
          <a:p/>
          <a:p>
            <a:r>
              <a:t>Второе — ли, почтительность и ритуал. Широкий круг правил, которые регламентируют буквально все сферы жизни: от того, как вести себя с родителями, до отношений с государством. Ритуал для Конфуция — не формальность, а способ сделать уважение видимым.</a:t>
            </a:r>
          </a:p>
          <a:p/>
          <a:p>
            <a:r>
              <a:t>Третье — и, чувство долга, долг-справедливость. Моральные принципы, которых совершенный человек держится по собственной воле, в силу своей добродетели, а не из страха наказания.</a:t>
            </a:r>
          </a:p>
          <a:p/>
          <a:p>
            <a:r>
              <a:t>Четвёртое — чжи: здравый смысл, рассудительность, умение просчитать последствия своих действий и посмотреть на них со стороны. Чжи противостоит глупости.</a:t>
            </a:r>
          </a:p>
          <a:p/>
          <a:p>
            <a:r>
              <a:t>И пятое — синь: искренность, доброе намерение, добросовестность. Синь уравновешивает ли: без искренности ритуал превращается в пустое лицемерие. То есть система сама себя страхует от вырождения в показуху.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 же принципы Конфуций переносит на государство — и это самая влиятельная часть его учения.</a:t>
            </a:r>
          </a:p>
          <a:p/>
          <a:p>
            <a:r>
              <a:t>Он считал, что человек должен жить в обществе гуманности и милосердия, а правитель и его чиновники обязаны управлять страной по принципам справедливости, честности и любви. Золотое правило — «не делай другим того, чего не желаешь себе» — звучит у него не только как личный, но и как политический принцип.</a:t>
            </a:r>
          </a:p>
          <a:p/>
          <a:p>
            <a:r>
              <a:t>Логика простая и цельная: правильный человек создаёт правильное общество, а правильное общество — правильное государство. Начинать нужно с себя, а не с реформы законов.</a:t>
            </a:r>
          </a:p>
          <a:p/>
          <a:p>
            <a:r>
              <a:t>Поэтому Конфуций спорил со сторонниками жёсткого закона и наказаний. Он считал, что страх заставляет людей избегать наказания, но не делает их лучше. А личный пример правителя — делает.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Очень образно он говорит об этом так:</a:t>
            </a:r>
          </a:p>
          <a:p/>
          <a:p>
            <a:r>
              <a:t>«Суть господина подобна ветру, а суть простых людей подобна траве. И когда ветер веет над травой, она не может выбирать, а наклоняется».</a:t>
            </a:r>
          </a:p>
          <a:p/>
          <a:p>
            <a:r>
              <a:t>То есть каким будет правитель — таким станет и народ, причём почти автоматически, без принуждения. Это одновременно и обещание, и предупреждение: власть отвечает не только за свои указы, но и за свой нравственный облик.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подвести итог — несколько практических советов Конфуция. Им две с половиной тысячи лет, но звучат они как современная книга по саморазвитию.</a:t>
            </a:r>
          </a:p>
          <a:p/>
          <a:p>
            <a:r>
              <a:t>Идите к своей цели, пусть даже медленно, но не останавливаясь.</a:t>
            </a:r>
          </a:p>
          <a:p/>
          <a:p>
            <a:r>
              <a:t>Держите свой инструмент остро отточенным — ваша удача зависит от того, насколько хорошо вы подготовились.</a:t>
            </a:r>
          </a:p>
          <a:p/>
          <a:p>
            <a:r>
              <a:t>Делайте только по-настоящему важное и интересное для вас дело, прикладывая максимальные усилия.</a:t>
            </a:r>
          </a:p>
          <a:p/>
          <a:p>
            <a:r>
              <a:t>Общайтесь только с теми, кто развивается: такой человек поведёт вас за собой.</a:t>
            </a:r>
          </a:p>
          <a:p/>
          <a:p>
            <a:r>
              <a:t>Работайте над собой и делайте добро — мир вокруг вас есть зеркало вашего внутреннего «я».</a:t>
            </a:r>
          </a:p>
          <a:p/>
          <a:p>
            <a:r>
              <a:t>И контролируйте свой гнев: за всё придётся платить. Сюда же — не позволяйте обидам сбить вас с пути, и наблюдайте за людьми: каждый может чему-то научить или от чего-то предостеречь.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Подведу итог.</a:t>
            </a:r>
          </a:p>
          <a:p/>
          <a:p>
            <a:r>
              <a:t>Конфуцианство — это философия не о том, как устроен мир, а о том, как человеку жить среди людей. Его главная ставка — на воспитание: человека делает не происхождение, а то, чему и как его научили.</a:t>
            </a:r>
          </a:p>
          <a:p/>
          <a:p>
            <a:r>
              <a:t>Благородство здесь не титул, а пять качеств — человеколюбие, ритуал, долг, мудрость и искренность, — которым учатся всю жизнь. И государство, по Конфуцию, начинается не с законов, а с личного примера тех, кто им управляет.</a:t>
            </a:r>
          </a:p>
          <a:p/>
          <a:p>
            <a:r>
              <a:t>Именно поэтому конфуцианство на две с половиной тысячи лет стало основой китайской культуры и государственной идеологией — и, честно говоря, его советы не устарели до сих пор.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73552"/>
            <a:ext cx="12191695" cy="3584448"/>
          </a:xfrm>
          <a:prstGeom prst="rect">
            <a:avLst/>
          </a:prstGeom>
          <a:solidFill>
            <a:srgbClr val="E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73552"/>
            <a:ext cx="12191695" cy="10972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spc="340">
                <a:solidFill>
                  <a:srgbClr val="8A8578"/>
                </a:solidFill>
                <a:latin typeface="Arial"/>
              </a:rPr>
              <a:t>ФИЛОСОФИЯ ДРЕВНЕГО КИТАЯ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51376"/>
            <a:ext cx="6035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 i="0" spc="120">
                <a:solidFill>
                  <a:srgbClr val="2A2A24"/>
                </a:solidFill>
                <a:latin typeface="Arial"/>
              </a:rPr>
              <a:t>КОНФУЦИАНСТВО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000752"/>
            <a:ext cx="182880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0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60">
                <a:solidFill>
                  <a:srgbClr val="4A4942"/>
                </a:solidFill>
                <a:latin typeface="Arial"/>
              </a:rPr>
              <a:t>Учение о человеке и государстве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967728" y="3822191"/>
            <a:ext cx="12801" cy="1137793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3822191"/>
            <a:ext cx="3931920" cy="753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 i="1">
                <a:solidFill>
                  <a:srgbClr val="4A4942"/>
                </a:solidFill>
                <a:latin typeface="Arial"/>
              </a:rPr>
              <a:t>«Не делай другим того, чего не желаешь себе.»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4850257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240">
                <a:solidFill>
                  <a:srgbClr val="8A8578"/>
                </a:solidFill>
                <a:latin typeface="Arial"/>
              </a:rPr>
              <a:t>КОНФУЦИЙ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570585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200">
                <a:solidFill>
                  <a:srgbClr val="8A8578"/>
                </a:solidFill>
                <a:latin typeface="Arial"/>
              </a:rPr>
              <a:t>Кун Цю · 551—479 гг. до н. э.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530352"/>
            <a:ext cx="822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555750"/>
                </a:solidFill>
                <a:latin typeface="Arial"/>
              </a:rPr>
              <a:t>孔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800" b="0" i="0">
                <a:solidFill>
                  <a:srgbClr val="555750"/>
                </a:solidFill>
                <a:latin typeface="Arial"/>
              </a:rPr>
              <a:t>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reen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0"/>
            <a:ext cx="35780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16568" y="960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EDE9E1"/>
                </a:solidFill>
                <a:latin typeface="Arial"/>
              </a:rPr>
              <a:t>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1396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spc="320">
                <a:solidFill>
                  <a:srgbClr val="C2CBBF"/>
                </a:solidFill>
                <a:latin typeface="Arial"/>
              </a:rPr>
              <a:t>СОДЕРЖАНИЕ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670048"/>
            <a:ext cx="822960" cy="12801"/>
          </a:xfrm>
          <a:prstGeom prst="rect">
            <a:avLst/>
          </a:prstGeom>
          <a:solidFill>
            <a:srgbClr val="8F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877824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Кто такой Конфуций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225295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Биография и эпоха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36191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0078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664207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О чём учение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011679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Мораль, судьба, знание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322575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871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2450591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Благородный муж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2798063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Пять качеств цзюнь-цзы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108959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73551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3236975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Государство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3584447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Мораль как политика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895344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59935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023359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Итог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4370831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Чему это учит сегодня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СОДЕРЖАНИЕ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КТО ТАКОЙ КОНФУЦИЙ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4008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КУН ЦЮ,</a:t>
            </a:r>
          </a:p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УЧИТЕЛЬ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549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572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2538983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551—479 гг. до н. э.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3044951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Обедневший аристократический род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920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550919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В 22 года — первый частный учитель Китая</a:t>
            </a:r>
          </a:p>
        </p:txBody>
      </p:sp>
      <p:pic>
        <p:nvPicPr>
          <p:cNvPr id="12" name="Picture 11" descr="confucius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627" y="1170432"/>
            <a:ext cx="2092960" cy="3840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5157216"/>
            <a:ext cx="4007815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8A8578"/>
                </a:solidFill>
                <a:latin typeface="Arial"/>
              </a:rPr>
              <a:t>Кун Цю (Конфуций)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568823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769991"/>
            <a:ext cx="25603" cy="283337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769991"/>
            <a:ext cx="10143439" cy="338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 i="0">
                <a:solidFill>
                  <a:srgbClr val="2C382F"/>
                </a:solidFill>
                <a:latin typeface="Arial"/>
              </a:rPr>
              <a:t>Самый знаменитый педагог Поднебесной — и при этом не оставивший ни одной книги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КТО ТАКОЙ КОНФУЦИЙ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КТО ТАКОЙ КОНФУЦИЙ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АВТОБИОГРАФИЯ В ШЕСТЬ СТРОК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7900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79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235452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81756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обратил помыслы к учению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2247900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28879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3458" y="3235452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3381756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обрёл прочную основу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8236" y="2247900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8236" y="28879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8236" y="3235452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8236" y="3381756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освободился от сомнений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58412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984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045964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92268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познал волю Неба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3458" y="4058412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3458" y="46984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3458" y="5045964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3458" y="5192268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отличал правду от лжи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8236" y="4058412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8236" y="46984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8236" y="5045964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8236" y="5192268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следовал зову сердца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88736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578"/>
                </a:solidFill>
                <a:latin typeface="Arial"/>
              </a:rPr>
              <a:t>Конфуций о себе — весь жизненный путь в шести строчках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КТО ТАКОЙ КОНФУЦИЙ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85455" y="105156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800" b="0" i="0">
                <a:solidFill>
                  <a:srgbClr val="3B493D"/>
                </a:solidFill>
                <a:latin typeface="Arial"/>
              </a:rPr>
              <a:t>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84831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340">
                <a:solidFill>
                  <a:srgbClr val="9AA697"/>
                </a:solidFill>
                <a:latin typeface="Arial"/>
              </a:rPr>
              <a:t>ПЕРЕХОДИМ К ГЛАВНОМУ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87168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 spc="200">
                <a:solidFill>
                  <a:srgbClr val="EDE9E1"/>
                </a:solidFill>
                <a:latin typeface="Arial"/>
              </a:rPr>
              <a:t>УЧЕНИЕ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39312"/>
            <a:ext cx="155448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 spc="60">
                <a:solidFill>
                  <a:srgbClr val="C2CBBF"/>
                </a:solidFill>
                <a:latin typeface="Arial"/>
              </a:rPr>
              <a:t>О чём говорит конфуцианство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82896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Мораль и судьба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2263" y="4882896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263" y="5138928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Градация знаний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882896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5138928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Благородный муж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9431" y="4882896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9431" y="5138928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Государство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B9C2B6"/>
                </a:solidFill>
                <a:latin typeface="Arial"/>
              </a:rPr>
              <a:t>УЧЕНИЕ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B9C2B6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О ЧЁМ 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76656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ЧЕЛОВЕК,</a:t>
            </a:r>
          </a:p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А НЕ ВСЕЛЕННАЯ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549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572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2538983"/>
            <a:ext cx="5632703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Учение социально-этическое, а не о мироздании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7162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3053333"/>
            <a:ext cx="5632703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Мораль — основа и отношений, и управления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59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567683"/>
            <a:ext cx="5632703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Люди равны по природе, различны по воспитанию</a:t>
            </a:r>
          </a:p>
        </p:txBody>
      </p:sp>
      <p:pic>
        <p:nvPicPr>
          <p:cNvPr id="12" name="Picture 11" descr="confucius-disciples.png"/>
          <p:cNvPicPr>
            <a:picLocks noChangeAspect="1"/>
          </p:cNvPicPr>
          <p:nvPr/>
        </p:nvPicPr>
        <p:blipFill>
          <a:blip r:embed="rId3"/>
          <a:srcRect l="8633" r="8633"/>
          <a:stretch>
            <a:fillRect/>
          </a:stretch>
        </p:blipFill>
        <p:spPr>
          <a:xfrm>
            <a:off x="7315200" y="1170432"/>
            <a:ext cx="4007815" cy="395020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68680" y="5568823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5769991"/>
            <a:ext cx="25603" cy="283337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769991"/>
            <a:ext cx="10143439" cy="338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 i="0">
                <a:solidFill>
                  <a:srgbClr val="2C382F"/>
                </a:solidFill>
                <a:latin typeface="Arial"/>
              </a:rPr>
              <a:t>«Всё изначально предопределено судьбой, и тут ничего не убавишь и не прибавишь»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О ЧЁМ УЧЕНИЕ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О ЧЁМ 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ГРАДАЦИЯ ЗНАНИЙ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447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160">
                <a:solidFill>
                  <a:srgbClr val="8C7B5F"/>
                </a:solidFill>
                <a:latin typeface="Arial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661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120">
                <a:solidFill>
                  <a:srgbClr val="2C382F"/>
                </a:solidFill>
                <a:latin typeface="Arial"/>
              </a:rPr>
              <a:t>ВЫСШЕЕ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93620"/>
            <a:ext cx="5562295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знание, которое человек имеет при рождении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41676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623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160">
                <a:solidFill>
                  <a:srgbClr val="8C7B5F"/>
                </a:solidFill>
                <a:latin typeface="Arial"/>
              </a:rP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1440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120">
                <a:solidFill>
                  <a:srgbClr val="2C382F"/>
                </a:solidFill>
                <a:latin typeface="Arial"/>
              </a:rPr>
              <a:t>НИЖЕ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71444"/>
            <a:ext cx="5562295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знания, приобретаемые изучением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619500"/>
            <a:ext cx="1008857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4040123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160">
                <a:solidFill>
                  <a:srgbClr val="8C7B5F"/>
                </a:solidFill>
                <a:latin typeface="Arial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021836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120">
                <a:solidFill>
                  <a:srgbClr val="2C382F"/>
                </a:solidFill>
                <a:latin typeface="Arial"/>
              </a:rPr>
              <a:t>ЕЩЁ НИЖЕ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049268"/>
            <a:ext cx="5562295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знания через преодоление трудностей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497324"/>
            <a:ext cx="972281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491794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160">
                <a:solidFill>
                  <a:srgbClr val="8C7B5F"/>
                </a:solidFill>
                <a:latin typeface="Arial"/>
              </a:rPr>
              <a:t>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996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120">
                <a:solidFill>
                  <a:srgbClr val="2C382F"/>
                </a:solidFill>
                <a:latin typeface="Arial"/>
              </a:rPr>
              <a:t>НИЧТОЖНЕЙШИЙ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927092"/>
            <a:ext cx="5562295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тот, кто не извлекает урок из трудностей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5375148"/>
            <a:ext cx="935705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О ЧЁМ УЧЕНИЕ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О ЧЁМ УЧЕНИЕ · ЦИТАТА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331720"/>
            <a:ext cx="9326880" cy="2190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«Три пути ведут к знанию: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путь размышления — самый благородный,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путь подражания — самый лёгкий,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путь опыта — самый горький.»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4668520"/>
            <a:ext cx="7315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87976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 spc="340">
                <a:solidFill>
                  <a:srgbClr val="2C382F"/>
                </a:solidFill>
                <a:latin typeface="Arial"/>
              </a:rPr>
              <a:t>КОНФУЦИЙ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О ЧЁМ УЧЕНИЕ · ЦИТАТА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60350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ФУНДАМЕНТ 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БЛАГОРОДНЫЙ МУЖ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26108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55291"/>
            <a:ext cx="8686800" cy="336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1">
                <a:solidFill>
                  <a:srgbClr val="2C382F"/>
                </a:solidFill>
                <a:latin typeface="Arial"/>
              </a:rPr>
              <a:t>ЦЗЮНЬ-ЦЗЫ — эталон человека, идущего по правильному пути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83662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45681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ЖЭНЬ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280428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Человеколюбие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29966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Не делай другим того, чего не желал бы себе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115182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42614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21576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356323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Ритуал, почтительность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88918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Правила жизни — от семьи до государства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874134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01566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97471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432219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Долг-справедливость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47870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По своей воле, а не из страха наказания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633086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60519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473367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ЧЖИ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5081143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Мудрость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06822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Умение просчитать следствия своих действий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5392038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19471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9928" y="5492623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СИНЬ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584009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Искренность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565774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Уравновешивает Ли, не давая ритуалу стать лицемерием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6150990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ФУНДАМЕНТ УЧЕНИЯ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ГОСУДАРСТВО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4008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МОРАЛЬ</a:t>
            </a:r>
          </a:p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КАК ПОЛИТИКА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549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572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2538983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Общество гуманности и милосердия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3044951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Власть — по справедливости, честности и любви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920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550919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Правильный человек → общество → государство</a:t>
            </a:r>
          </a:p>
        </p:txBody>
      </p:sp>
      <p:pic>
        <p:nvPicPr>
          <p:cNvPr id="12" name="Picture 11" descr="confucius-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05407"/>
            <a:ext cx="4007815" cy="25705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5157216"/>
            <a:ext cx="4007815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8A8578"/>
                </a:solidFill>
                <a:latin typeface="Arial"/>
              </a:rPr>
              <a:t>Конфуций с учениками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568823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769991"/>
            <a:ext cx="25603" cy="283337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769991"/>
            <a:ext cx="10143439" cy="338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 i="0">
                <a:solidFill>
                  <a:srgbClr val="2C382F"/>
                </a:solidFill>
                <a:latin typeface="Arial"/>
              </a:rPr>
              <a:t>Пример правителя действеннее любого указа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ГОСУДАРСТВО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ГОСУДАРСТВО · ЦИТАТА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331720"/>
            <a:ext cx="9326880" cy="2190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«Суть господина подобна ветру,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а суть простых людей подобна траве.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И когда ветер веет над травой,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она не может выбирать, а наклоняется.»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4668520"/>
            <a:ext cx="7315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87976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 spc="340">
                <a:solidFill>
                  <a:srgbClr val="2C382F"/>
                </a:solidFill>
                <a:latin typeface="Arial"/>
              </a:rPr>
              <a:t>КОНФУЦИЙ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ГОСУДАРСТВО · ЦИТАТА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60350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КОНФУЦИЙ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СОВЕТЫ КОНФУЦИЯ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26108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55291"/>
            <a:ext cx="8686800" cy="328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1">
                <a:solidFill>
                  <a:srgbClr val="2C382F"/>
                </a:solidFill>
                <a:latin typeface="Arial"/>
              </a:rPr>
              <a:t>Им две с половиной тысячи лет — а звучат как современная книга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5803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2145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Идите к цели медленно, но не останавливаясь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399282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0959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7301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Держите инструмент отточенным: удача — это подготовка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450841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115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24577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Делайте только по-настоящему важное дело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502401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5803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252145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Общайтесь с теми, кто развивается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399282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0959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357301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Мир вокруг — зеркало вашего внутреннего «я»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450841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66115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4624577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Контролируйте гнев: за всё придётся платить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5502401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КОНФУЦИЙ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КАКОЙ ИТОГ?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296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C2BBA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0276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Конфуцианство говорит не о мироздании, а о человеке среди людей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296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C2BBAC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0276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Человека делает воспитание, а не происхождение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109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C2BBAC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784092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Благородство — это пять качеств, которым учатся всю жизнь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109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C2BBAC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784092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Государство начинается с личного примера, а не с закона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560314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761482"/>
            <a:ext cx="25603" cy="291846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761482"/>
            <a:ext cx="10143439" cy="346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2C382F"/>
                </a:solidFill>
                <a:latin typeface="Arial"/>
              </a:rPr>
              <a:t>Две с половиной тысячи лет спустя это по-прежнему работает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ЗАКЛЮЧЕНИЕ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331720"/>
            <a:ext cx="12191695" cy="2377440"/>
          </a:xfrm>
          <a:prstGeom prst="rect">
            <a:avLst/>
          </a:prstGeom>
          <a:solidFill>
            <a:srgbClr val="E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9144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9160"/>
            <a:ext cx="12191695" cy="9144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 i="0" spc="300">
                <a:solidFill>
                  <a:srgbClr val="2A2A24"/>
                </a:solidFill>
                <a:latin typeface="Arial"/>
              </a:rPr>
              <a:t>СПАСИБО</a:t>
            </a:r>
          </a:p>
          <a:p>
            <a:pPr algn="ctr">
              <a:lnSpc>
                <a:spcPct val="110000"/>
              </a:lnSpc>
            </a:pPr>
            <a:r>
              <a:rPr sz="3600" b="1" i="0" spc="300">
                <a:solidFill>
                  <a:srgbClr val="2A2A24"/>
                </a:solidFill>
                <a:latin typeface="Arial"/>
              </a:rPr>
              <a:t>ЗА ВНИМАНИЕ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4133087"/>
            <a:ext cx="82296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138928"/>
            <a:ext cx="8138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450" b="0" i="1">
                <a:solidFill>
                  <a:srgbClr val="4A4942"/>
                </a:solidFill>
                <a:latin typeface="Arial"/>
              </a:rPr>
              <a:t>«Не делай другим того, чего не желаешь себе.»</a:t>
            </a:r>
          </a:p>
          <a:p>
            <a:pPr algn="ctr">
              <a:lnSpc>
                <a:spcPct val="125000"/>
              </a:lnSpc>
              <a:spcBef>
                <a:spcPts val="900"/>
              </a:spcBef>
            </a:pPr>
            <a:r>
              <a:rPr sz="1000" b="0" i="0" spc="260">
                <a:solidFill>
                  <a:srgbClr val="8A8578"/>
                </a:solidFill>
                <a:latin typeface="Arial"/>
              </a:rPr>
              <a:t>КОНФУЦИЙ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Конфуцианство</dc:title>
  <dc:subject>Философия Древнего Китая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