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Тема моего выступления — китайская философия, а конкретнее — два её главных течения: даосизм и конфуцианство.</a:t>
            </a:r>
          </a:p>
          <a:p/>
          <a:p>
            <a:r>
              <a:t>Начать я хочу с цитаты, которую приписывают некоему Ванталы: «Не иди по течению, не иди против течения — иди поперёк него, если хочешь достичь берега». Эта фраза очень точно передаёт дух китайской философии в целом: она не про слепое подчинение обстоятельствам и не про борьбу с ними любой ценой, а про поиск своего собственного, срединного пути. И сегодня мы разберём, как эту идею по-разному понимали два величайших китайских мыслителя.</a:t>
            </a:r>
          </a:p>
          <a:p/>
          <a:p>
            <a:r>
              <a:t>* Слова Ванталы — текст из 240 местами повторяющихся изречений философского содержания, причём последнее, 240-е изречение, не содержит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Краткий план выступления. Задержаться на 5—7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Речь пойдёт о двух современниках, живших в Китае в VI—V веках до нашей эры: Лао-цзы, основателе даосизма, и Конфуции, годы жизни которого — 551—479 годы до нашей эры. Оба они застали один из самых бурных периодов китайской истории, но предложили совершенно разные ответы на вопрос, как человеку и государству следует жить.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коротко сформулировать разницу между их учениями, то она выглядит так.</a:t>
            </a:r>
          </a:p>
          <a:p/>
          <a:p>
            <a:r>
              <a:t>Даосизм — это прежде всего онтологическое учение, то есть учение о бытии, о мироустройстве как таковом, и оно носит наивно-диалектический характер. Его главные представители — Лао-цзы, Чжуан-цзы и Ян Чжу.</a:t>
            </a:r>
          </a:p>
          <a:p/>
          <a:p>
            <a:r>
              <a:t>Конфуцианство же — учение ярко выраженного социально-этического характера. Оно меньше говорит о вселенной и больше — о человеке, обществе и государстве. Представители — сам Конфуций, известный в Китае как Кун Цю, а также Мэн-цзы и Сюнь-цзы.</a:t>
            </a:r>
          </a:p>
          <a:p/>
          <a:p>
            <a:r>
              <a:t>Проще говоря: даосизм смотрит наверх, в сторону мирового порядка, а конфуцианство — вокруг, на отношения между людьми. Но, как мы увидим, обе традиции причудливо переплетаются в истории Китая.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первой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Лао-цзы, и начнём с его биографии — точнее, с легенды о ней, потому что достоверных исторических сведений о нём почти нет.</a:t>
            </a:r>
          </a:p>
          <a:p/>
          <a:p>
            <a:r>
              <a:t>По преданию, он родился в деревне с говорящим названием «Искривлённая доброта», в уезде «Горький», в местечке «Жестокое». А дальше легенда становится совсем фантастической: якобы, пробыв в чреве матери 81 год, он появился на свет из её бедра уже глубоким стариком. Отсюда и его имя — Лао-цзы, что можно перевести и как «Старый учитель», и как «Вечный ребёнок», а можно и наоборот — «Старый ребёнок» и «Вечный учитель». И любой из этих вариантов, как ни странно, не лишён смысла.</a:t>
            </a:r>
          </a:p>
          <a:p/>
          <a:p>
            <a:r>
              <a:t>По легенде, он вёл скромную жизнь архивариуса при дворе правителя династии Чжоу. А когда пришёл срок, сел на чёрного быка и отправился на запад. На границе таможенник попросил его оставить людям наставления — и Лао-цзы в один присест написал трактат в пять тысяч иероглифов. Так родилась знаменитая «Книга о Дао и Дэ» — «Дао дэ цзин». После этого он продолжил путь на запад, и, по легенде, там стал… Буддой.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— к сути учения. Центральное место в даосизме занимают два понятия: Дао и Дэ.</a:t>
            </a:r>
          </a:p>
          <a:p/>
          <a:p>
            <a:r>
              <a:t>Дао буквально переводится как «путь», «дорога». Это великий путь, которому следует вся вселенная, и ему присуща собственная, ни от кого не зависящая благородная сила. Дао — это одновременно и сущность бытия, и всеобщий закон, и абсолют. Он безграничен и питает собой всё остальное.</a:t>
            </a:r>
          </a:p>
          <a:p/>
          <a:p>
            <a:r>
              <a:t>Дэ — это благо, через которое Дао проявляет себя в мире, конкретный способ бытия. Если Дао безгранично, то Дэ уже определённо, оно ближе к конкретному человеку и его поступкам. У Лао-цзы есть формула: тот, кто в своих делах следует Дао и очищает свой дух, вступает в союз с силой Дэ.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Приведу несколько цитат, которые хорошо иллюстрируют эту философию постепенности и естественности:</a:t>
            </a:r>
          </a:p>
          <a:p/>
          <a:p>
            <a:r>
              <a:t>«Осуществляй то, чего ещё нет, управляй тем, что ещё не противится».</a:t>
            </a:r>
          </a:p>
          <a:p/>
          <a:p>
            <a:r>
              <a:t>«Дерево толщиной в обхват вырастает из крошечного зёрнышка. Башня в девять этажей вырастает из груды земли. Путь длиной в тысячу ли начинается у тебя под ногами».</a:t>
            </a:r>
          </a:p>
          <a:p/>
          <a:p>
            <a:r>
              <a:t>Во всех этих образах — одна и та же мысль: великое рождается из малого, а любое действие должно быть согласовано с естественным ходом вещей, а не навязано ему силой.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этой идеи естественности вырастает, пожалуй, самое известное понятие даосизма — концепция у-вэй, или недеяния. Это не бездействие в буквальном смысле, а отказ от целенаправленной, насильственной деятельности, которая идёт вразрез с естественным миропорядком.</a:t>
            </a:r>
          </a:p>
          <a:p/>
          <a:p>
            <a:r>
              <a:t>Применительно к государственному устройству Лао-цзы формулирует это довольно радикально: лучший государь — тот, который ничего не делает для своих подданных. Его задача — не управлять в привычном смысле, а гармонизировать отношения и предотвращать смуту, а дальше подданные сами разберутся, что им делать. То есть идеальная власть — почти незаметна.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Примерно с 1000 года нашей эры ситуация в китайской философии меняется. Интерес к философии Дао начинает ослабевать. Зато происходит настоящая догматизация конфуцианства: само учение вместе с его основателем возвышается почти до религиозного почитания. Параллельно в Китай начинают проникать буддизм и христианство. Именно на этом фоне конфуцианство надолго становится главной государственной идеологией страны.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ко второй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Перейдём ко второй части — к Конфуцию. Его настоящее имя — Кун Цю, но в литературе его чаще называют Кун-цзы, Кун Фу-цзы или просто Цзы — «Учитель».</a:t>
            </a:r>
          </a:p>
          <a:p/>
          <a:p>
            <a:r>
              <a:t>Конфуций был потомком обедневшего аристократического рода, сыном пожилого чиновника и его молодой наложницы. Уже в 22 года он стал первым в Китае частным учителем, а позже снискал славу самого знаменитого педагога Поднебесной.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Он не любил говорить о себе, но весь свой жизненный путь однажды описал буквально в нескольких строчках, и мне кажется, это одна из самых красивых автобиографий в истории:</a:t>
            </a:r>
          </a:p>
          <a:p/>
          <a:p>
            <a:r>
              <a:t>«В 15 лет я обратил свои помыслы к учению. В 30 лет — я обрёл прочную основу. В 40 лет — я сумел освободиться от сомнений. В 50 лет — я познал волю Неба. В 60 лет — я научился отличать правду от лжи. В 70 лет — я стал следовать зову моего сердца и не нарушал Ритуала».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тема философии Конфуция — это моральные принципы, на которых строятся и отношения между людьми, и управление государством.</a:t>
            </a:r>
          </a:p>
          <a:p/>
          <a:p>
            <a:r>
              <a:t>Важное место в его учении занимает судьба: по Конфуцию, всё изначально предопределено, и здесь ничего нельзя ни убавить, ни прибавить. При этом, рассуждая о природе человеческого познания, он говорит, что по своей природе люди похожи друг на друга, и только высшая мудрость и крайняя глупость неизменны, — а различаются люди уже благодаря воспитанию и разным привычкам.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Конфуций предлагает своеобразную иерархию знаний. Высшее знание — то, что человек имеет от рождения. Ниже — знания, приобретённые в процессе учёбы. Ещё ниже — знания, добытые через преодоление трудностей. А самый ничтожный человек — тот, кто даже из трудностей не способен извлечь урок.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 этом же он говорит и в другой известной цитате: «Три пути ведут к знанию: путь размышления — это путь самый благородный, путь подражания — это путь самый лёгкий, путь опыта — это путь самый горький».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о фундаменте всего учения. Эталоном человека, идущего по правильному пути, Конфуций считает «благородного мужа» — цзюнь-цзы. К его основным качествам относятся пять понятий.</a:t>
            </a:r>
          </a:p>
          <a:p/>
          <a:p>
            <a:r>
              <a:t>Жэнь — гуманность, человеколюбие: не делай другим того, чего не желал бы себе. Это спокойно-самодостаточная любовь к людям, которая приносит в мир гармонию.</a:t>
            </a:r>
          </a:p>
          <a:p/>
          <a:p>
            <a:r>
              <a:t>Ли — почтительность, ритуал, церемонии. Это широкий круг правил, которые регламентируют буквально все сферы жизни общества — от семьи до отношений с государством.</a:t>
            </a:r>
          </a:p>
          <a:p/>
          <a:p>
            <a:r>
              <a:t>И — чувство долга, долг-справедливость. В широком смысле это моральные принципы, которых совершенный человек придерживается по собственной воле, в силу своей добродетели, а не из страха наказания.</a:t>
            </a:r>
          </a:p>
          <a:p/>
          <a:p>
            <a:r>
              <a:t>Чжи — здравый смысл, мудрость, рассудительность: умение просчитать последствия своих действий и посмотреть на них со стороны. Чжи противостоит глупости.</a:t>
            </a:r>
          </a:p>
          <a:p/>
          <a:p>
            <a:r>
              <a:t>И наконец, синь — искренность, доброе намерение, добросовестность. Синь как бы уравновешивает Ли, не давая ритуалу превратиться в пустое лицемерие.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 же принципы Конфуций переносит и на устройство государства. Он считал, что человек должен жить в обществе гуманности и милосердия, а правитель и его чиновники обязаны управлять страной по принципам справедливости, честности и любви.</a:t>
            </a:r>
          </a:p>
          <a:p/>
          <a:p>
            <a:r>
              <a:t>Знаменитое золотое правило — «не делай другим того, чего не желаешь себе» — у него звучит именно как политический, а не только личный принцип: правильный человек создаёт правильное общество, а правильное общество — правильное государство.</a:t>
            </a:r>
          </a:p>
          <a:p/>
          <a:p>
            <a:r>
              <a:t>Очень образно он говорит о власти в другой цитате: «Суть господина подобна ветру, а суть простых людей подобна траве. И когда ветер веет над травой, она не может выбирать, а наклоняется». То есть пример правителя, по Конфуцию, — самый действенный инструмент управления, куда сильнее любых указов.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завершение содержательной части — несколько практических советов Конфуция, которые актуальны, пожалуй, и сегодня. Идите к своей цели, пусть даже медленно, но не останавливаясь. Держите свой инструмент остро отточенным — ваша удача зависит от того, насколько хорошо вы подготовились. Не меняйте поставленную цель — важны не столько методы, сколько сама цель. Делайте только по-настоящему важное для вас дело, прикладывая максимальные усилия. Общайтесь только с теми, кто развивается, — он поведёт вас за собой. Работайте над собой и делайте добро: мир вокруг вас — это зеркало вашего внутреннего «я». Не позволяйте обидам сбить вас с пути. Контролируйте свой гнев — за всё придётся платить. И наблюдайте за людьми: каждый может чему-то научить или от чего-то предостеречь.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Подводя итог, хочу вернуться к цитате, с которой мы начинали. Даосизм и конфуцианство — это, по сути, два разных ответа на вопрос, как «достичь берега». Лао-цзы предлагает довериться естественному течению вещей и не мешать ему — идти путём недеяния. Конфуций же предлагает активно выстраивать себя и общество через воспитание, ритуал и моральный долг. Но в главном они удивительным образом сходятся: оба ищут не крайность, а верную меру — тот самый путь «поперёк течения», который ведёт к гармонии. Именно поэтому даосизм и конфуцианство почти три тысячи лет сосуществуют в китайской культуре не как враги, а как две стороны одной и той же мудрости.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73552"/>
            <a:ext cx="12191695" cy="3584448"/>
          </a:xfrm>
          <a:prstGeom prst="rect">
            <a:avLst/>
          </a:prstGeom>
          <a:solidFill>
            <a:srgbClr val="E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91695" cy="10972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spc="340">
                <a:solidFill>
                  <a:srgbClr val="8A8578"/>
                </a:solidFill>
                <a:latin typeface="Arial"/>
              </a:rPr>
              <a:t>ФИЛОСОФИЯ ДРЕВНЕГО КИТАЯ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51376"/>
            <a:ext cx="60350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i="0" spc="120">
                <a:solidFill>
                  <a:srgbClr val="2A2A24"/>
                </a:solidFill>
                <a:latin typeface="Arial"/>
              </a:rPr>
              <a:t>КИТАЙСКАЯ</a:t>
            </a:r>
          </a:p>
          <a:p>
            <a:pPr algn="l">
              <a:lnSpc>
                <a:spcPct val="106000"/>
              </a:lnSpc>
            </a:pPr>
            <a:r>
              <a:rPr sz="4000" b="1" i="0" spc="120">
                <a:solidFill>
                  <a:srgbClr val="2A2A24"/>
                </a:solidFill>
                <a:latin typeface="Arial"/>
              </a:rPr>
              <a:t>ФИЛОСОФИЯ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39232"/>
            <a:ext cx="182880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4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60">
                <a:solidFill>
                  <a:srgbClr val="4A4942"/>
                </a:solidFill>
                <a:latin typeface="Arial"/>
              </a:rPr>
              <a:t>Даосизм и конфуцианство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967728" y="3822191"/>
            <a:ext cx="12801" cy="142322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3822191"/>
            <a:ext cx="3931920" cy="1039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«Не иди по течению, не иди против течения — иди поперёк него, если хочешь достичь берега.»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513568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240">
                <a:solidFill>
                  <a:srgbClr val="8A8578"/>
                </a:solidFill>
                <a:latin typeface="Arial"/>
              </a:rPr>
              <a:t>СЛОВА ВАНТАЛЫ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570585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200">
                <a:solidFill>
                  <a:srgbClr val="8A8578"/>
                </a:solidFill>
                <a:latin typeface="Arial"/>
              </a:rPr>
              <a:t>VI—V вв. до н. э.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530352"/>
            <a:ext cx="822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555750"/>
                </a:solidFill>
                <a:latin typeface="Arial"/>
              </a:rPr>
              <a:t>道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800" b="0" i="0">
                <a:solidFill>
                  <a:srgbClr val="555750"/>
                </a:solidFill>
                <a:latin typeface="Arial"/>
              </a:rPr>
              <a:t>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reen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0"/>
            <a:ext cx="35780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16568" y="96012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EDE9E1"/>
                </a:solidFill>
                <a:latin typeface="Arial"/>
              </a:rP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1396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spc="320">
                <a:solidFill>
                  <a:srgbClr val="C2CBBF"/>
                </a:solidFill>
                <a:latin typeface="Arial"/>
              </a:rPr>
              <a:t>СОДЕРЖАНИЕ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670048"/>
            <a:ext cx="822960" cy="12801"/>
          </a:xfrm>
          <a:prstGeom prst="rect">
            <a:avLst/>
          </a:prstGeom>
          <a:solidFill>
            <a:srgbClr val="8F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877824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Два учителя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225295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Лао-цзы и Конфуций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36191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0078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664207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Сравнительный 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011679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Два ответа на один вопрос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22575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87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450591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Даосизм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2798063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Биография, Дао и Дэ, недеяние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08959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73551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236975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Новое время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584447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С 1000 года н. э.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895344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5993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023359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Конфуцианство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4370831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Биография, знание, цзюнь-цзы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681728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46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809744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Государство и успех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15721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Мораль как политика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468112"/>
            <a:ext cx="694944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327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spc="100">
                <a:solidFill>
                  <a:srgbClr val="8C7B5F"/>
                </a:solidFill>
                <a:latin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19" y="5596128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40">
                <a:solidFill>
                  <a:srgbClr val="2A2A24"/>
                </a:solidFill>
                <a:latin typeface="Arial"/>
              </a:rPr>
              <a:t>Итог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19" y="59436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Две стороны одной мудрости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СОДЕРЖАНИЕ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ДЕЙСТВУЮЩИЕ 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73152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ДВА УЧИТЕЛЯ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6703" y="1874519"/>
            <a:ext cx="12801" cy="2880360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ozi-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2111874"/>
            <a:ext cx="1783080" cy="2314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8959" y="202082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 spc="140">
                <a:solidFill>
                  <a:srgbClr val="2A2A24"/>
                </a:solidFill>
                <a:latin typeface="Arial"/>
              </a:rPr>
              <a:t>ЛАО-ЦЗЫ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59" y="253288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spc="140">
                <a:solidFill>
                  <a:srgbClr val="8C7B5F"/>
                </a:solidFill>
                <a:latin typeface="Arial"/>
              </a:rPr>
              <a:t>VI—V вв. до н. э.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59" y="2971800"/>
            <a:ext cx="731520" cy="12801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59" y="3172968"/>
            <a:ext cx="2697480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4A4942"/>
                </a:solidFill>
                <a:latin typeface="Arial"/>
              </a:rPr>
              <a:t>Основатель даосизма.</a:t>
            </a:r>
          </a:p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4A4942"/>
                </a:solidFill>
                <a:latin typeface="Arial"/>
              </a:rPr>
              <a:t>«Старый учитель»</a:t>
            </a:r>
          </a:p>
        </p:txBody>
      </p:sp>
      <p:pic>
        <p:nvPicPr>
          <p:cNvPr id="12" name="Picture 11" descr="confucius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1425526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02082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 spc="140">
                <a:solidFill>
                  <a:srgbClr val="2A2A24"/>
                </a:solidFill>
                <a:latin typeface="Arial"/>
              </a:rPr>
              <a:t>КОНФУЦИЙ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53288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 spc="140">
                <a:solidFill>
                  <a:srgbClr val="8C7B5F"/>
                </a:solidFill>
                <a:latin typeface="Arial"/>
              </a:rPr>
              <a:t>551—479 гг. до н. э.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971800"/>
            <a:ext cx="731520" cy="12801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172968"/>
            <a:ext cx="2697480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4A4942"/>
                </a:solidFill>
                <a:latin typeface="Arial"/>
              </a:rPr>
              <a:t>Кун Цю, основатель</a:t>
            </a:r>
          </a:p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4A4942"/>
                </a:solidFill>
                <a:latin typeface="Arial"/>
              </a:rPr>
              <a:t>конфуцианства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66155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85612"/>
            <a:ext cx="10454335" cy="322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8A8578"/>
                </a:solidFill>
                <a:latin typeface="Arial"/>
              </a:rPr>
              <a:t>Современники, заставшие один из самых бурных периодов китайской истории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ДЕЙСТВУЮЩИЕ ЛИЦА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СУТЬ РАЗЛИЧИЯ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2296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СРАВНИТЕЛЬНЫЙ АНАЛИЗ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6703" y="2211324"/>
            <a:ext cx="12801" cy="3520440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11324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C6C0B2"/>
                </a:solidFill>
                <a:latin typeface="Arial"/>
              </a:rPr>
              <a:t>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0276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 spc="120">
                <a:solidFill>
                  <a:srgbClr val="2C382F"/>
                </a:solidFill>
                <a:latin typeface="Arial"/>
              </a:rPr>
              <a:t>ДАОСИЗМ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148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240">
                <a:solidFill>
                  <a:srgbClr val="8A8578"/>
                </a:solidFill>
                <a:latin typeface="Arial"/>
              </a:rPr>
              <a:t>ОНТОЛОГИЧЕСКОЕ УЧЕНИЕ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00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381756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Учение о бытии и мироустройстве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7934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861054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Носит наивно-диалектический характер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586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340352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Лао-цзы, Чжуан-цзы, Ян Чжу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965954"/>
            <a:ext cx="731520" cy="12801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67122"/>
            <a:ext cx="4617720" cy="334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Смотрит наверх — на мировой порядок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11324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C6C0B2"/>
                </a:solidFill>
                <a:latin typeface="Arial"/>
              </a:rPr>
              <a:t>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30276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 spc="120">
                <a:solidFill>
                  <a:srgbClr val="2C382F"/>
                </a:solidFill>
                <a:latin typeface="Arial"/>
              </a:rPr>
              <a:t>КОНФУЦИАНСТВО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8148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240">
                <a:solidFill>
                  <a:srgbClr val="8A8578"/>
                </a:solidFill>
                <a:latin typeface="Arial"/>
              </a:rPr>
              <a:t>СОЦИАЛЬНО-ЭТИЧЕСКОЕ УЧЕНИЕ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000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3381756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Учение о человеке, обществе, государстве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7934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861054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Мораль как основа управления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3586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4340352"/>
            <a:ext cx="4270248" cy="332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Кун Цю, Мэн-цзы, Сюнь-цзы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965954"/>
            <a:ext cx="731520" cy="12801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167122"/>
            <a:ext cx="4617720" cy="334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Смотрит вокруг — на отношения между людьми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СУТЬ РАЗЛИЧИЯ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5455" y="105156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800" b="0" i="0">
                <a:solidFill>
                  <a:srgbClr val="3B493D"/>
                </a:solidFill>
                <a:latin typeface="Arial"/>
              </a:rPr>
              <a:t>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84831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340">
                <a:solidFill>
                  <a:srgbClr val="9AA697"/>
                </a:solidFill>
                <a:latin typeface="Arial"/>
              </a:rPr>
              <a:t>ЧАСТЬ ПЕРВАЯ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87168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 spc="200">
                <a:solidFill>
                  <a:srgbClr val="EDE9E1"/>
                </a:solidFill>
                <a:latin typeface="Arial"/>
              </a:rPr>
              <a:t>ДАОСИЗМ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39312"/>
            <a:ext cx="155448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 spc="60">
                <a:solidFill>
                  <a:srgbClr val="C2CBBF"/>
                </a:solidFill>
                <a:latin typeface="Arial"/>
              </a:rPr>
              <a:t>Учение о Пути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82896"/>
            <a:ext cx="3164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31647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Лао-цзы: биография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882896"/>
            <a:ext cx="3164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5138928"/>
            <a:ext cx="31647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Дао и Дэ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8236" y="4882896"/>
            <a:ext cx="3164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8236" y="5138928"/>
            <a:ext cx="31647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Концепция недеяния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B9C2B6"/>
                </a:solidFill>
                <a:latin typeface="Arial"/>
              </a:rPr>
              <a:t>ДАОСИЗМ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B9C2B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ЛАО-ЦЗЫ: БИОГРАФИЯ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9884"/>
            <a:ext cx="6035040" cy="345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Достоверных сведений почти нет — есть легенда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47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666492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Деревня «Искривлённая доброта» уезда «Горький»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907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172459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81 год в чреве матери — вышел уже стариком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967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3678428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Имя: «Старый учитель» и «Вечный ребёнок»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26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4184396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Архивариус при дворе правителя Чжоу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86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4690364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Ушёл на запад на чёрном быке</a:t>
            </a:r>
          </a:p>
        </p:txBody>
      </p:sp>
      <p:pic>
        <p:nvPicPr>
          <p:cNvPr id="17" name="Picture 16" descr="laozi-ox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456" y="1170432"/>
            <a:ext cx="2461302" cy="3840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Лао-цзы верхом на быке. Традиционная живопись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«Дао дэ цзин» — трактат в пять тысяч иероглифов, написанный в один присест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ДАО И ДЭ — УЧЕНИЕ О ПУТИ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ij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445" y="658368"/>
            <a:ext cx="1217258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65604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0">
                <a:solidFill>
                  <a:srgbClr val="BFB8A8"/>
                </a:solidFill>
                <a:latin typeface="Arial"/>
              </a:rPr>
              <a:t>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257044"/>
            <a:ext cx="36850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 spc="200">
                <a:solidFill>
                  <a:srgbClr val="2C382F"/>
                </a:solidFill>
                <a:latin typeface="Arial"/>
              </a:rPr>
              <a:t>ДАО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787396"/>
            <a:ext cx="3685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20">
                <a:solidFill>
                  <a:srgbClr val="8A8578"/>
                </a:solidFill>
                <a:latin typeface="Arial"/>
              </a:rPr>
              <a:t>Сущность бытия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71444"/>
            <a:ext cx="4617720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7261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3354323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Буквально — путь, дорога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252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806952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Великий путь, по которому следует вселенная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778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4259580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Всеобщий закон и абсолют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304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712208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Безгранично, питает собой Дэ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65604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0">
                <a:solidFill>
                  <a:srgbClr val="BFB8A8"/>
                </a:solidFill>
                <a:latin typeface="Arial"/>
              </a:rPr>
              <a:t>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2257044"/>
            <a:ext cx="36850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 spc="200">
                <a:solidFill>
                  <a:srgbClr val="2C382F"/>
                </a:solidFill>
                <a:latin typeface="Arial"/>
              </a:rPr>
              <a:t>ДЭ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2787396"/>
            <a:ext cx="3685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20">
                <a:solidFill>
                  <a:srgbClr val="8A8578"/>
                </a:solidFill>
                <a:latin typeface="Arial"/>
              </a:rPr>
              <a:t>Проявление Дао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71444"/>
            <a:ext cx="4617720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37261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3354323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Благо, через которое Дао себя проявляет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8252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3806952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Конкретный способ бытия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778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4259580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Ближе к человеку и его поступкам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304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4712208"/>
            <a:ext cx="4288536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Определено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533517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52973"/>
            <a:ext cx="10454335" cy="355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0" i="1">
                <a:solidFill>
                  <a:srgbClr val="2C382F"/>
                </a:solidFill>
                <a:latin typeface="Arial"/>
              </a:rPr>
              <a:t>«Тот, кто в делах следует Дао и очищает свой дух, вступает в союз с силой Дэ»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ДАОСИЗМ · ЦИТАТЫ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168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«Дерево толщиной в обхват вырастает из крошечного зёрнышка.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Башня в девять этажей вырастает из груды земли.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длиной в тысячу ли начинается у тебя под ногами.»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166616"/>
            <a:ext cx="7315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86072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 spc="340">
                <a:solidFill>
                  <a:srgbClr val="2C382F"/>
                </a:solidFill>
                <a:latin typeface="Arial"/>
              </a:rPr>
              <a:t>ЛАО-ЦЗЫ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5007864"/>
            <a:ext cx="9326880" cy="346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</a:pPr>
            <a:r>
              <a:rPr sz="1500" b="0" i="1">
                <a:solidFill>
                  <a:srgbClr val="4A4942"/>
                </a:solidFill>
                <a:latin typeface="Arial"/>
              </a:rPr>
              <a:t>«Осуществляй то, чего ещё нет, управляй тем, что ещё не противится»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500878"/>
            <a:ext cx="932688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i="0">
                <a:solidFill>
                  <a:srgbClr val="8A8578"/>
                </a:solidFill>
                <a:latin typeface="Arial"/>
              </a:rPr>
              <a:t>Великое рождается из малого: действие согласуется с ходом вещей, а не навязано ему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ДАОСИЗМ · ЦИТАТЫ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КОНЦЕПЦИЯ НЕДЕЯНИЯ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9884"/>
            <a:ext cx="6035040" cy="617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У-ВЭЙ — отрицание деятельности, идущей вразрез с миропорядком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570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938779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Не бездействие, а отказ от насилия над естественным ходом вещей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312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712971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Лучший государь — тот, который ничего не делает для подданных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0545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4487164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Задача власти — гармонизировать отношения и предотвращать смуту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7964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5261356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Подданные сами разберутся, что им делать</a:t>
            </a:r>
          </a:p>
        </p:txBody>
      </p:sp>
      <p:pic>
        <p:nvPicPr>
          <p:cNvPr id="15" name="Picture 14" descr="laozi-statue.jpg"/>
          <p:cNvPicPr>
            <a:picLocks noChangeAspect="1"/>
          </p:cNvPicPr>
          <p:nvPr/>
        </p:nvPicPr>
        <p:blipFill>
          <a:blip r:embed="rId3"/>
          <a:srcRect l="10866" r="10866"/>
          <a:stretch>
            <a:fillRect/>
          </a:stretch>
        </p:blipFill>
        <p:spPr>
          <a:xfrm>
            <a:off x="7315200" y="1170432"/>
            <a:ext cx="4007815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Каменная скульптура Лао-цзы к северу от г. Цюаньчжоу, Китай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Идеальная власть — почти незаметна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ДАОСИЗМ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ПЕРЕЛОМ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76656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НОВОЕ ВРЕМЯ</a:t>
            </a:r>
          </a:p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КИТАЙСКОЙ ФИЛОСОФИИ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49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38983"/>
            <a:ext cx="6035040" cy="345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с 1000 года н. э.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38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3085591"/>
            <a:ext cx="5632703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Ослабевает интерес к философии Дао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822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599941"/>
            <a:ext cx="5632703" cy="62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Догматизация конфуцианства — до религиозного почитания учения и его основателя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0918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4390897"/>
            <a:ext cx="5632703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Проникновение в Китай буддизма и христианства</a:t>
            </a:r>
          </a:p>
        </p:txBody>
      </p:sp>
      <p:pic>
        <p:nvPicPr>
          <p:cNvPr id="13" name="Picture 12" descr="pagoda.jpg"/>
          <p:cNvPicPr>
            <a:picLocks noChangeAspect="1"/>
          </p:cNvPicPr>
          <p:nvPr/>
        </p:nvPicPr>
        <p:blipFill>
          <a:blip r:embed="rId3"/>
          <a:srcRect t="347" b="347"/>
          <a:stretch>
            <a:fillRect/>
          </a:stretch>
        </p:blipFill>
        <p:spPr>
          <a:xfrm>
            <a:off x="7315200" y="1170432"/>
            <a:ext cx="4007815" cy="395020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Конфуцианство надолго становится главной государственной идеологией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ПЕРЕЛОМ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5455" y="105156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800" b="0" i="0">
                <a:solidFill>
                  <a:srgbClr val="3B493D"/>
                </a:solidFill>
                <a:latin typeface="Arial"/>
              </a:rPr>
              <a:t>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84831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340">
                <a:solidFill>
                  <a:srgbClr val="9AA697"/>
                </a:solidFill>
                <a:latin typeface="Arial"/>
              </a:rPr>
              <a:t>ЧАСТЬ ВТОРАЯ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87168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 spc="200">
                <a:solidFill>
                  <a:srgbClr val="EDE9E1"/>
                </a:solidFill>
                <a:latin typeface="Arial"/>
              </a:rPr>
              <a:t>КОНФУЦИАНСТВО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39312"/>
            <a:ext cx="155448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 spc="60">
                <a:solidFill>
                  <a:srgbClr val="C2CBBF"/>
                </a:solidFill>
                <a:latin typeface="Arial"/>
              </a:rPr>
              <a:t>Кун Цю · 551—479 гг. до н. э.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Конфуций: биография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263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Знание и природа человека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Благородный муж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9431" y="4882896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9431" y="5138928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3D8CF"/>
                </a:solidFill>
                <a:latin typeface="Arial"/>
              </a:rPr>
              <a:t>Государство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B9C2B6"/>
                </a:solidFill>
                <a:latin typeface="Arial"/>
              </a:rPr>
              <a:t>КОНФУЦИАНСТВО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B9C2B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КОНФУЦИЙ: БИОГРАФИЯ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9884"/>
            <a:ext cx="6035040" cy="617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Кун Цю — в литературе Кун-цзы, Кун Фу-цзы или просто Цзы, «Учитель»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570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938779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Потомок обедневшего аристократического 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6303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444747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Сын пожилого чиновника и его молодой наложницы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900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3950715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В 22 года — первый частный учитель Китая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7497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4456684"/>
            <a:ext cx="5632703" cy="341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Самый знаменитый педагог Поднебесной</a:t>
            </a:r>
          </a:p>
        </p:txBody>
      </p:sp>
      <p:pic>
        <p:nvPicPr>
          <p:cNvPr id="15" name="Picture 14" descr="confucius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627" y="1170432"/>
            <a:ext cx="209296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Кун Цю (Конфуций), 551—479 гг. до н. э.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68823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769991"/>
            <a:ext cx="25603" cy="283337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769991"/>
            <a:ext cx="10143439" cy="338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Он не любил говорить о себе и описал весь свой путь в шести строчках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АВТОБИОГРАФИЯ В ШЕСТЬ СТРОК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обратил свои помыслы к учению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3458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обрёл прочную основу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8236" y="2247900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28879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8236" y="3235452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8236" y="3381756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сумел освободиться от сомнений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познал волю Неба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3458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3458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3458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3458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научился отличать правду от лжи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8236" y="4058412"/>
            <a:ext cx="30275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 spc="60">
                <a:solidFill>
                  <a:srgbClr val="2C382F"/>
                </a:solidFill>
                <a:latin typeface="Arial"/>
              </a:rPr>
              <a:t>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8236" y="46984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spc="200">
                <a:solidFill>
                  <a:srgbClr val="8C7B5F"/>
                </a:solidFill>
                <a:latin typeface="Arial"/>
              </a:rPr>
              <a:t>лет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8236" y="5045964"/>
            <a:ext cx="2936138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8236" y="5192268"/>
            <a:ext cx="29818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стал следовать зову сердца, не нарушая Ритуала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88736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A8578"/>
                </a:solidFill>
                <a:latin typeface="Arial"/>
              </a:rPr>
              <a:t>«В 15 лет я обратил свои помыслы к учению…» — Конфуций о себе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76656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ОСНОВНЫЕ ПОНЯТИЯ</a:t>
            </a:r>
          </a:p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И ПРИНЦИПЫ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549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38983"/>
            <a:ext cx="6035040" cy="345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Мораль, судьба и природа человека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38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3085591"/>
            <a:ext cx="5632703" cy="62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Главная тема — моральные принципы, на которых строятся отношения людей и управление государством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9483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876547"/>
            <a:ext cx="5632703" cy="62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Судьба: «Всё изначально предопределено, тут ничего не убавишь и не прибавишь»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8579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4667503"/>
            <a:ext cx="5632703" cy="62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По природе люди похожи; незыблемы лишь высшая мудрость и крайняя глупость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7674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5458460"/>
            <a:ext cx="5632703" cy="62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 i="0">
                <a:solidFill>
                  <a:srgbClr val="2A2A24"/>
                </a:solidFill>
                <a:latin typeface="Arial"/>
              </a:rPr>
              <a:t>Различаются люди благодаря воспитанию и обретённым привычкам</a:t>
            </a:r>
          </a:p>
        </p:txBody>
      </p:sp>
      <p:pic>
        <p:nvPicPr>
          <p:cNvPr id="15" name="Picture 14" descr="confucius-disciples.png"/>
          <p:cNvPicPr>
            <a:picLocks noChangeAspect="1"/>
          </p:cNvPicPr>
          <p:nvPr/>
        </p:nvPicPr>
        <p:blipFill>
          <a:blip r:embed="rId3"/>
          <a:srcRect l="8633" r="8633"/>
          <a:stretch>
            <a:fillRect/>
          </a:stretch>
        </p:blipFill>
        <p:spPr>
          <a:xfrm>
            <a:off x="7315200" y="1170432"/>
            <a:ext cx="4007815" cy="39502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ГРАДАЦИЯ ЗНАНИЙ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447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661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ВЫСШЕЕ ЗНАНИЕ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93620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то, которое человек имеет при рождении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41676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623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440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НИЖЕ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71444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знания, приобретаемые в процессе изучения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619500"/>
            <a:ext cx="1008857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04012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21836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ЕЩЁ НИЖЕ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49268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знания, полученные в результате преодоления трудностей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97324"/>
            <a:ext cx="972281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91794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spc="160">
                <a:solidFill>
                  <a:srgbClr val="8C7B5F"/>
                </a:solidFill>
                <a:latin typeface="Arial"/>
              </a:rPr>
              <a:t>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996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spc="120">
                <a:solidFill>
                  <a:srgbClr val="2C382F"/>
                </a:solidFill>
                <a:latin typeface="Arial"/>
              </a:rPr>
              <a:t>НИЧТОЖНЕЙШИЙ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927092"/>
            <a:ext cx="5562295" cy="339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тот, кто не хочет извлечь урок из трудностей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375148"/>
            <a:ext cx="935705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 · ЦИТАТА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2190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«Три пути ведут к знанию: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размышления — самый благородный,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подражания — самый лёгкий,</a:t>
            </a:r>
          </a:p>
          <a:p>
            <a:pPr algn="ctr">
              <a:lnSpc>
                <a:spcPct val="152000"/>
              </a:lnSpc>
            </a:pPr>
            <a:r>
              <a:rPr sz="2600" b="0" i="0">
                <a:solidFill>
                  <a:srgbClr val="2A2A24"/>
                </a:solidFill>
                <a:latin typeface="Arial"/>
              </a:rPr>
              <a:t>путь опыта — самый горький.»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668520"/>
            <a:ext cx="7315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87976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 spc="340">
                <a:solidFill>
                  <a:srgbClr val="2C382F"/>
                </a:solidFill>
                <a:latin typeface="Arial"/>
              </a:rPr>
              <a:t>КУН ЦЮ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 · ЦИТАТА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0350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ФУНДАМЕНТ 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БЛАГОРОДНЫЙ МУЖ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26108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55291"/>
            <a:ext cx="8686800" cy="336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1">
                <a:solidFill>
                  <a:srgbClr val="2C382F"/>
                </a:solidFill>
                <a:latin typeface="Arial"/>
              </a:rPr>
              <a:t>ЦЗЮНЬ-ЦЗЫ — эталон человека, идущего по правильному пути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83662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45681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ЖЭНЬ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280428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Гуманность, человеколюбие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29966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Не делай другим того, чего не желал бы себе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15182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42614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21576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56323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Почтительность, ритуал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88918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Правила, регламентирующие жизнь от семьи до государства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874134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01566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97471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432219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Долг-справедливость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47870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Моральные принципы по собственной воле, а не из страха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633086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60519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733671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ЧЖИ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508114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Здравый смысл, мудрость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06822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Умение просчитать следствия своих действий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392038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19471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i="0">
                <a:solidFill>
                  <a:srgbClr val="C2BBAC"/>
                </a:solidFill>
                <a:latin typeface="Arial"/>
              </a:rPr>
              <a:t>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9928" y="5492623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spc="140">
                <a:solidFill>
                  <a:srgbClr val="2C382F"/>
                </a:solidFill>
                <a:latin typeface="Arial"/>
              </a:rPr>
              <a:t>СИНЬ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584009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8578"/>
                </a:solidFill>
                <a:latin typeface="Arial"/>
              </a:rPr>
              <a:t>Искренность, добросовестность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565774"/>
            <a:ext cx="67510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2A2A24"/>
                </a:solidFill>
                <a:latin typeface="Arial"/>
              </a:rPr>
              <a:t>Уравновешивает Ли, предупреждая лицемерие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6150990"/>
            <a:ext cx="10454335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ФУНДАМЕНТ УЧЕНИЯ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400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КОНЦЕПЦИЯ О ГОСУДАРСТВЕ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9884"/>
            <a:ext cx="6035040" cy="617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1">
                <a:solidFill>
                  <a:srgbClr val="2C382F"/>
                </a:solidFill>
                <a:latin typeface="Arial"/>
              </a:rPr>
              <a:t>Правильный человек → правильное общество → правильное государство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5706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938779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Человек должен жить в обществе гуманности и милосердия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312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3712971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Правитель и чиновники управляют по принципам справедливости, честности и любви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0545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C7B5F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4487164"/>
            <a:ext cx="5632703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2A2A24"/>
                </a:solidFill>
                <a:latin typeface="Arial"/>
              </a:rPr>
              <a:t>«Не делай другим того, чего не желаешь себе» — принцип политический, а не только личный</a:t>
            </a:r>
          </a:p>
        </p:txBody>
      </p:sp>
      <p:pic>
        <p:nvPicPr>
          <p:cNvPr id="13" name="Picture 12" descr="confucius-scene.png"/>
          <p:cNvPicPr>
            <a:picLocks noChangeAspect="1"/>
          </p:cNvPicPr>
          <p:nvPr/>
        </p:nvPicPr>
        <p:blipFill>
          <a:blip r:embed="rId3"/>
          <a:srcRect l="16534" r="16534"/>
          <a:stretch>
            <a:fillRect/>
          </a:stretch>
        </p:blipFill>
        <p:spPr>
          <a:xfrm>
            <a:off x="7315200" y="1170432"/>
            <a:ext cx="400781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5157216"/>
            <a:ext cx="4007815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8A8578"/>
                </a:solidFill>
                <a:latin typeface="Arial"/>
              </a:rPr>
              <a:t>Конфуций с учениками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322062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523230"/>
            <a:ext cx="25603" cy="530098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523230"/>
            <a:ext cx="10143439" cy="584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50" b="0" i="0">
                <a:solidFill>
                  <a:srgbClr val="2C382F"/>
                </a:solidFill>
                <a:latin typeface="Arial"/>
              </a:rPr>
              <a:t>«Суть господина подобна ветру, а суть простых людей подобна траве. И когда ветер веет над травой, она не может выбирать, а наклоняется»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КОНФУЦИАНСТВО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0350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КАК СТАТЬ УСПЕШНЫМ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26108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55291"/>
            <a:ext cx="8686800" cy="328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1">
                <a:solidFill>
                  <a:srgbClr val="2C382F"/>
                </a:solidFill>
                <a:latin typeface="Arial"/>
              </a:rPr>
              <a:t>Советы, которые актуальны и сегодня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5803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2145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Идите к цели, пусть даже медленно, не останавливаясь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15818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2612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89553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Держите инструмент остро отточенным: удача зависит от подготовки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883913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9422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5765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Не меняйте поставленную цель — важны лишь методы её достижения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52009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6232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25746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Делайте только по-настоящему важное дело, прикладывая максимум усилий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420105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3041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93842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Общайтесь с теми, кто развивается: он поведёт вас за собой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6188201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5803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52145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Работайте над собой: мир вокруг — зеркало вашего внутреннего «я»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115818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2612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289553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Не позволяйте обидам сбить вас с пути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883913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9422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405765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Контролируйте гнев: за всё придётся платить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652009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86232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00">
                <a:solidFill>
                  <a:srgbClr val="8C7B5F"/>
                </a:solidFill>
                <a:latin typeface="Arial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4825746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A2A24"/>
                </a:solidFill>
                <a:latin typeface="Arial"/>
              </a:rPr>
              <a:t>Наблюдайте за людьми: каждый может научить или предостеречь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420105"/>
            <a:ext cx="5074920" cy="7315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КОНФУЦИЙ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1323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spc="300">
                <a:solidFill>
                  <a:srgbClr val="8A8578"/>
                </a:solidFill>
                <a:latin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686800" cy="556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 spc="80">
                <a:solidFill>
                  <a:srgbClr val="2A2A24"/>
                </a:solidFill>
                <a:latin typeface="Arial"/>
              </a:rPr>
              <a:t>КАКОЙ ИТОГ?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35836"/>
            <a:ext cx="141732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296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0276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Даосизм и конфуцианство — два разных ответа на вопрос, как «достичь берега»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296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02764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Лао-цзы предлагает довериться естественному течению вещей — путь недеяния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109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784092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Конфуций предлагает выстраивать себя и общество через воспитание, ритуал и долг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109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C2BBAC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84092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50" b="0" i="0">
                <a:solidFill>
                  <a:srgbClr val="2A2A24"/>
                </a:solidFill>
                <a:latin typeface="Arial"/>
              </a:rPr>
              <a:t>Оба ищут не крайность, а верную меру — тот самый путь «поперёк течения»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560314"/>
            <a:ext cx="10454335" cy="8229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761482"/>
            <a:ext cx="25603" cy="291846"/>
          </a:xfrm>
          <a:prstGeom prst="rect">
            <a:avLst/>
          </a:prstGeom>
          <a:solidFill>
            <a:srgbClr val="2C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61482"/>
            <a:ext cx="10143439" cy="346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2C382F"/>
                </a:solidFill>
                <a:latin typeface="Arial"/>
              </a:rPr>
              <a:t>Почти три тысячи лет они сосуществуют в китайской культуре не как враги, а как две стороны одной мудрости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spc="220">
                <a:solidFill>
                  <a:srgbClr val="8A8578"/>
                </a:solidFill>
                <a:latin typeface="Arial"/>
              </a:rPr>
              <a:t>ЗАКЛЮЧЕНИЕ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 i="0">
                <a:solidFill>
                  <a:srgbClr val="8A857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31720"/>
            <a:ext cx="12191695" cy="2377440"/>
          </a:xfrm>
          <a:prstGeom prst="rect">
            <a:avLst/>
          </a:prstGeom>
          <a:solidFill>
            <a:srgbClr val="E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9144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9160"/>
            <a:ext cx="12191695" cy="9144"/>
          </a:xfrm>
          <a:prstGeom prst="rect">
            <a:avLst/>
          </a:prstGeom>
          <a:solidFill>
            <a:srgbClr val="BEB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 i="0" spc="300">
                <a:solidFill>
                  <a:srgbClr val="2A2A24"/>
                </a:solidFill>
                <a:latin typeface="Arial"/>
              </a:rPr>
              <a:t>СПАСИБО</a:t>
            </a:r>
          </a:p>
          <a:p>
            <a:pPr algn="ctr">
              <a:lnSpc>
                <a:spcPct val="110000"/>
              </a:lnSpc>
            </a:pPr>
            <a:r>
              <a:rPr sz="3600" b="1" i="0" spc="300">
                <a:solidFill>
                  <a:srgbClr val="2A2A24"/>
                </a:solidFill>
                <a:latin typeface="Arial"/>
              </a:rPr>
              <a:t>ЗА ВНИМАНИЕ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4133087"/>
            <a:ext cx="822960" cy="12801"/>
          </a:xfrm>
          <a:prstGeom prst="rect">
            <a:avLst/>
          </a:prstGeom>
          <a:solidFill>
            <a:srgbClr val="8C7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138928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50" b="0" i="1">
                <a:solidFill>
                  <a:srgbClr val="4A4942"/>
                </a:solidFill>
                <a:latin typeface="Arial"/>
              </a:rPr>
              <a:t>«Не иди по течению, не иди против течения — иди поперёк него, если хочешь достичь берега.»</a:t>
            </a:r>
          </a:p>
          <a:p>
            <a:pPr algn="ctr">
              <a:lnSpc>
                <a:spcPct val="125000"/>
              </a:lnSpc>
              <a:spcBef>
                <a:spcPts val="900"/>
              </a:spcBef>
            </a:pPr>
            <a:r>
              <a:rPr sz="1000" b="0" i="0" spc="260">
                <a:solidFill>
                  <a:srgbClr val="8A8578"/>
                </a:solidFill>
                <a:latin typeface="Arial"/>
              </a:rPr>
              <a:t>СЛОВА ВАНТАЛЫ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Китайская философия. Даосизм и конфуцианство</dc:title>
  <dc:subject>Философия Древнего Китая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