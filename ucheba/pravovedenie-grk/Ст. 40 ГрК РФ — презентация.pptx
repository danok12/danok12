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Тема доклада — статья 40 Градостроительного кодекса РФ: отклонение от предельных параметров разрешённого строительства и реконструкции объектов капитального строительства. Я выбрал эту статью, чтобы разобрать не только её содержание, но и то, как сформулирована норма с точки зрения коррупциогенности. План — три части: что это за статья, почему она выбрана и в чём сложности её применения, и практика — два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Доклад построен вокруг трёх вопросов из задания: что это за статья, почему она выбрана и какие сложности возникают при её применении, и какие есть примеры из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Статья 40 находится в той же главе 4 — «Градостроительное зонирование». Статья 38 устанавливает предельные параметры: отступы от границ участка, этажность, высоту, процент застройки. Они действуют для всей зоны. Статья 40 — это исключение: она позволяет для отдельного участка от этих параметров отступить. Обратите внимание на цифру десять процентов: такое небольшое отклонение с 2019 года можно получить без обсуждения с жителями.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Статья состоит из двух блоков. Первый — основания: участок меньше минимального, неудобной формы, со сложной геологией или с иными неблагоприятными характеристиками. Плюс с 2019 года отдельное основание — однократное отклонение до десяти процентов. Второй блок — процедура: заявление в комиссию, обсуждения с жителями, рекомендации комиссии и решение главы администрации. Обратите внимание на слова «иные характеристики» в первой части — к ним я вернусь.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Просить отклонение может только правообладатель участка, и только при наличии основания — либо неблагоприятных характеристик участка, либо небольшого отклонения до десяти процентов. Дальше путь тот же, что и в статье 39: комиссия, обсуждения, рекомендации. Решение принимает глава администрации и обязан указать причины.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выбрал эту статью по трём причинам. Во-первых, это законный способ выйти за рамки градостроительного регламента для конкретного участка — а значит, она привлекательна для застройщиков. Во-вторых, любое отклонение затрагивает соседей: этажность, тень, парковки. И в-третьих — что важно для нашей дисциплины — в ней сразу два коррупциогенных фактора: оценочная формулировка и усмотрение должностного лица.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сложность — в первой части статьи. Конфигурация и геология — понятия более-менее проверяемые. Но после них стоит «или иные характеристики». Это открытый перечень: какие характеристики, насколько неблагоприятные — закон не говорит. Методика антикоррупционной экспертизы прямо называет употребление категорий оценочного характера коррупциогенным фактором. На практике это значит, что обосновать отклонение — или отказ — можно почти для любого участка.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Вторая сложность — публичный контроль ослабевает. В исходной редакции кодекса любое отклонение проходило через публичные слушания. В 2017 году к ним добавили общественные обсуждения, в том числе онлайн. А в 2019 году появилась часть 1.1: отклонение до десяти процентов, причём сразу по одному или нескольким параметрам, теперь даётся без обсуждения с жителями. Десять процентов от этажности или процента застройки — это заметно, а контролирует такое решение только суд или прокуратура.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Третья группа сложностей — в судебной практике. Суды по-разному оценивают роль слушаний: одни считают, что выдать разрешение при отрицательном заключении нельзя, другие — что заключение лишь рекомендательное. Неясно, чем доказывать неблагоприятность участка. И наконец, даже выиграв суд, заявитель не получает разрешение автоматически: суд не может сам его выдать, он только признаёт отказ незаконным.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кейс — позиция Высшего Арбитражного Суда 2014 года. Ситуация: слушания и рекомендации были в пользу заявителя, а глава администрации отказал. ВАС указал, что заключение по итогам слушаний — рекомендательное, и глава вправе с ним не согласиться, но обязан указать причины. Это совпадает с позицией Конституционного Суда в определении № 931-О-О, где оспаривались в том числе части 3, 5 и 6 статьи 40. Вывод: решение фактически принимает одно лицо, а защитой служит только мотивировка.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кейс — свежий и громкий. В центре Липецка строился жилой комплекс «Турист-2» — с башней до двадцати уровней вместе с подземным. Прокуратура пошла в арбитражный суд и потребовала признать недействительными сразу всё: разрешение на строительство, разрешения на отклонение от предельных параметров и заключение экспертизы. Доводы — нехватка парковок, удалённость социальных объектов, пожарная безопасность. 29 января 2026 года суд иск удовлетворил полностью. По данным местных СМИ, застройщик решение обжаловать не стал, а осенью вернулся с изменённым проектом и новыми слушаниями. Кейс показывает, что отклонения, выданные администрацией, — не окончательное решение: при нарушении интересов жителей их отменяют по иску прокурора.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Статья 40 задумана как исключение для неудобных участков, но без чётких критериев рискует стать способом обойти регламент. В ней два коррупциогенных фактора: оценочная формулировка «иные характеристики» и усмотрение главы администрации, а небольшие отклонения и вовсе проходят без жителей. Моё предложение — заменить «иные характеристики» закрытым перечнем, требовать подтверждения инженерными изысканиями и публиковать мотивированное решение по каждому отклонению, включая упрощённые. Спасибо за внимание.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6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40 ГрК РФ  ·  Правоведение и противодействие коррупции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40 ГрК РФ  ·  Правоведение и противодействие коррупции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B9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50292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1F4D44"/>
          </a:solidFill>
          <a:ln w="12700">
            <a:solidFill>
              <a:srgbClr val="1F4D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55480" y="502920"/>
            <a:ext cx="960120" cy="1234440"/>
          </a:xfrm>
          <a:prstGeom prst="roundRect">
            <a:avLst>
              <a:gd name="adj" fmla="val 9524"/>
            </a:avLst>
          </a:prstGeom>
          <a:solidFill>
            <a:srgbClr val="245A4F"/>
          </a:solidFill>
          <a:ln w="12700">
            <a:solidFill>
              <a:srgbClr val="245A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502920"/>
            <a:ext cx="1051560" cy="1234440"/>
          </a:xfrm>
          <a:prstGeom prst="roundRect">
            <a:avLst>
              <a:gd name="adj" fmla="val 8696"/>
            </a:avLst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0" y="1874520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C4740"/>
          </a:solidFill>
          <a:ln w="12700">
            <a:solidFill>
              <a:srgbClr val="1C47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0" y="1874520"/>
            <a:ext cx="1325880" cy="914400"/>
          </a:xfrm>
          <a:prstGeom prst="roundRect">
            <a:avLst>
              <a:gd name="adj" fmla="val 10000"/>
            </a:avLst>
          </a:prstGeom>
          <a:ln w="15875">
            <a:solidFill>
              <a:srgbClr val="3F7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187452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1F4D44"/>
          </a:solidFill>
          <a:ln w="12700">
            <a:solidFill>
              <a:srgbClr val="1F4D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0" y="2926080"/>
            <a:ext cx="1188720" cy="1463040"/>
          </a:xfrm>
          <a:prstGeom prst="roundRect">
            <a:avLst>
              <a:gd name="adj" fmla="val 7692"/>
            </a:avLst>
          </a:prstGeom>
          <a:solidFill>
            <a:srgbClr val="245A4F"/>
          </a:solidFill>
          <a:ln w="12700">
            <a:solidFill>
              <a:srgbClr val="245A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53144" y="2651760"/>
            <a:ext cx="1399032" cy="1865376"/>
          </a:xfrm>
          <a:prstGeom prst="roundRect">
            <a:avLst>
              <a:gd name="adj" fmla="val 7843"/>
            </a:avLst>
          </a:prstGeom>
          <a:ln w="19050">
            <a:solidFill>
              <a:srgbClr val="D9692E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9281160" y="2926080"/>
            <a:ext cx="1143000" cy="1463040"/>
          </a:xfrm>
          <a:prstGeom prst="roundRect">
            <a:avLst>
              <a:gd name="adj" fmla="val 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9196" y="3374136"/>
            <a:ext cx="566928" cy="5669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515600" y="2926080"/>
            <a:ext cx="1143000" cy="1463040"/>
          </a:xfrm>
          <a:prstGeom prst="roundRect">
            <a:avLst>
              <a:gd name="adj" fmla="val 8000"/>
            </a:avLst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01000" y="45262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1C4740"/>
          </a:solidFill>
          <a:ln w="12700">
            <a:solidFill>
              <a:srgbClr val="1C47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921240" y="4526280"/>
            <a:ext cx="1737360" cy="822960"/>
          </a:xfrm>
          <a:prstGeom prst="roundRect">
            <a:avLst>
              <a:gd name="adj" fmla="val 11111"/>
            </a:avLst>
          </a:prstGeom>
          <a:ln w="15875">
            <a:solidFill>
              <a:srgbClr val="3F7A6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01000" y="548640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1F4D44"/>
          </a:solidFill>
          <a:ln w="12700">
            <a:solidFill>
              <a:srgbClr val="1F4D4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0" y="5486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245A4F"/>
          </a:solidFill>
          <a:ln w="12700">
            <a:solidFill>
              <a:srgbClr val="245A4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424160" y="5486400"/>
            <a:ext cx="1234440" cy="822960"/>
          </a:xfrm>
          <a:prstGeom prst="roundRect">
            <a:avLst>
              <a:gd name="adj" fmla="val 11111"/>
            </a:avLst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9144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ПРАВОВЕДЕНИЕ И ПРОТИВОДЕЙСТВИЕ КОРРУПЦИИ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13258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Статья 40 ГрК РФ</a:t>
            </a:r>
            <a:endParaRPr lang="en-US" sz="5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2514600"/>
            <a:ext cx="6766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D3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Отклонение от предельных параметров разрешённого строительства: правоприменительная практика и коррупциогенные риски нормы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85800" y="39776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63" y="4113703"/>
            <a:ext cx="294803" cy="29480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17320" y="39319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3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одной статьи Градостроительного кодекса РФ · что за норма, почему выбрана, сложности применения и практика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" y="5623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ПОДГОТОВИЛ СТУДЕНТ ИГЭС 3-8 БУЕВ ДАНИИЛ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ДОКЛАДА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вопроса, на которые отвечает доклад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20240"/>
            <a:ext cx="822960" cy="82296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8928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за статья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3500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 в ГрК РФ, основания для отклонения, процедура и сроки</a:t>
            </a:r>
            <a:endParaRPr lang="en-US" sz="15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2935" y="2057400"/>
            <a:ext cx="548640" cy="548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3227832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3456432"/>
            <a:ext cx="822960" cy="82296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4564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342900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выбрана статья и в чём сложности применения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1920240" y="388620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Оценочные «иные характеристики», упрощённое отклонение на 10 %, споры о роли слушаний</a:t>
            </a:r>
            <a:endParaRPr lang="en-US" sz="15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3593592"/>
            <a:ext cx="548640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4764024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" y="4992624"/>
            <a:ext cx="822960" cy="822960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99262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1920240" y="496519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Кейсы из практики</a:t>
            </a:r>
            <a:endParaRPr lang="en-US" sz="2100" dirty="0"/>
          </a:p>
        </p:txBody>
      </p:sp>
      <p:sp>
        <p:nvSpPr>
          <p:cNvPr id="21" name="Text 17"/>
          <p:cNvSpPr txBox="1"/>
          <p:nvPr/>
        </p:nvSpPr>
        <p:spPr>
          <a:xfrm>
            <a:off x="1920240" y="542239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Позиция Высшего Арбитражного Суда РФ и дело ЖК «Турист-2» в Липецке</a:t>
            </a:r>
            <a:endParaRPr lang="en-US" sz="15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2935" y="5129784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1 · ЧТО ЭТО ЗА СТАТЬЯ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Место статьи в системе ГрК РФ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309360" cy="621792"/>
          </a:xfrm>
          <a:prstGeom prst="roundRect">
            <a:avLst>
              <a:gd name="adj" fmla="val 17647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Градостроительный кодекс РФ от 29.12.2004 № 190-ФЗ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67712"/>
            <a:ext cx="0" cy="493776"/>
          </a:xfrm>
          <a:prstGeom prst="line">
            <a:avLst/>
          </a:prstGeom>
          <a:noFill/>
          <a:ln w="19050">
            <a:solidFill>
              <a:srgbClr val="C9D8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761488"/>
            <a:ext cx="164592" cy="0"/>
          </a:xfrm>
          <a:prstGeom prst="line">
            <a:avLst/>
          </a:prstGeom>
          <a:noFill/>
          <a:ln w="19050">
            <a:solidFill>
              <a:srgbClr val="C9D8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450592"/>
            <a:ext cx="5961888" cy="621792"/>
          </a:xfrm>
          <a:prstGeom prst="roundRect">
            <a:avLst>
              <a:gd name="adj" fmla="val 17647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24712" y="2450592"/>
            <a:ext cx="5596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4 — градостроительное зонирование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78992" y="3072384"/>
            <a:ext cx="0" cy="493776"/>
          </a:xfrm>
          <a:prstGeom prst="line">
            <a:avLst/>
          </a:prstGeom>
          <a:noFill/>
          <a:ln w="19050">
            <a:solidFill>
              <a:srgbClr val="C9D8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8992" y="3566160"/>
            <a:ext cx="164592" cy="0"/>
          </a:xfrm>
          <a:prstGeom prst="line">
            <a:avLst/>
          </a:prstGeom>
          <a:noFill/>
          <a:ln w="19050">
            <a:solidFill>
              <a:srgbClr val="C9D8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43584" y="3255264"/>
            <a:ext cx="5614416" cy="621792"/>
          </a:xfrm>
          <a:prstGeom prst="roundRect">
            <a:avLst>
              <a:gd name="adj" fmla="val 17647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72184" y="3255264"/>
            <a:ext cx="52486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38 — предельные размеры участков и предельные параметры строительства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426464" y="3877056"/>
            <a:ext cx="0" cy="493776"/>
          </a:xfrm>
          <a:prstGeom prst="line">
            <a:avLst/>
          </a:prstGeom>
          <a:noFill/>
          <a:ln w="19050">
            <a:solidFill>
              <a:srgbClr val="C9D8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26464" y="4370832"/>
            <a:ext cx="164592" cy="0"/>
          </a:xfrm>
          <a:prstGeom prst="line">
            <a:avLst/>
          </a:prstGeom>
          <a:noFill/>
          <a:ln w="19050">
            <a:solidFill>
              <a:srgbClr val="C9D8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91056" y="4059936"/>
            <a:ext cx="5266944" cy="621792"/>
          </a:xfrm>
          <a:prstGeom prst="roundRect">
            <a:avLst>
              <a:gd name="adj" fmla="val 17647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19656" y="4059936"/>
            <a:ext cx="49011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40 — когда и как от этих параметров можно отступить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956048"/>
            <a:ext cx="6537960" cy="1216152"/>
          </a:xfrm>
          <a:prstGeom prst="roundRect">
            <a:avLst>
              <a:gd name="adj" fmla="val 9023"/>
            </a:avLst>
          </a:prstGeom>
          <a:solidFill>
            <a:srgbClr val="FBEADF"/>
          </a:solidFill>
          <a:ln w="12700">
            <a:solidFill>
              <a:srgbClr val="FBEA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065776"/>
            <a:ext cx="60807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Предельные параметры — это, например, минимальные отступы от границ участка, предельная этажность или высота, максимальный процент застройки. Они задаются для всей территориальной зоны.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1645920"/>
            <a:ext cx="4190695" cy="137160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35240" y="1810512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10 %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24871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однократно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1783080"/>
            <a:ext cx="2179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предел упрощённого отклонения по ч. 1.1 — без обсуждений с жителями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452360" y="3218688"/>
            <a:ext cx="4190695" cy="137160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35240" y="33832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405993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дней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3355848"/>
            <a:ext cx="2179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рекомендации комиссии после обсуждений или слушаний (ч. 5)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452360" y="4791456"/>
            <a:ext cx="4190695" cy="137160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35240" y="4956048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7635240" y="563270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дней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928616"/>
            <a:ext cx="2179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решение главы администрации с указанием причин (ч. 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1 · ЧТО ЭТО ЗА СТАТЬЯ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Части статьи: основания и процедура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9514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установлено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A3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96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Право обратиться есть, если участок меньше минимального размера либо его конфигурация, инженерно-геологические или иные характеристики неблагоприятны для застройки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96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Отдельное основание: однократное изменение одного или нескольких предельных параметров не более чем на 10 %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96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для отдельного участка, при соблюдении техрегламентов и без изменения вида использования; в исторических поселениях нельзя отступать от этажности, высоты и архитектурных требований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96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Заявление подаётся в комиссию; проект решения выносится на обсуждения или слушания (кроме случая ч. 1.1); расходы несёт заявитель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96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Комиссия за 15 рабочих дней готовит рекомендации; глава администрации за 7 дней принимает решение с указанием причин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96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пока на участке не снесена или не приведена в порядок выявленная самовольная постройка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96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 разрешении или об отказе можно оспорить в суде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1 · ЧТО ЭТО ЗА СТАТЬЯ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может просить отклонение и кто решает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940905" cy="2788920"/>
          </a:xfrm>
          <a:prstGeom prst="roundRect">
            <a:avLst>
              <a:gd name="adj" fmla="val 5653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20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2073859"/>
            <a:ext cx="332842" cy="33284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920240"/>
            <a:ext cx="8893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697480"/>
            <a:ext cx="15751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Заявитель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3291840"/>
            <a:ext cx="157514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Правообладатель участка подаёт заявление и обосновывает основание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53553" y="2958084"/>
            <a:ext cx="219456" cy="256032"/>
          </a:xfrm>
          <a:prstGeom prst="rightArrow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37017" y="1691640"/>
            <a:ext cx="1940905" cy="2788920"/>
          </a:xfrm>
          <a:prstGeom prst="roundRect">
            <a:avLst>
              <a:gd name="adj" fmla="val 5653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38185" y="1920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805" y="207385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797137" y="1920240"/>
            <a:ext cx="8893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2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038185" y="2697480"/>
            <a:ext cx="15751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038185" y="3291840"/>
            <a:ext cx="157514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Выносит проект на обсуждения или слушания (кроме ч. 1.1)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841931" y="2958084"/>
            <a:ext cx="219456" cy="256032"/>
          </a:xfrm>
          <a:prstGeom prst="rightArrow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125395" y="1691640"/>
            <a:ext cx="1940905" cy="2788920"/>
          </a:xfrm>
          <a:prstGeom prst="roundRect">
            <a:avLst>
              <a:gd name="adj" fmla="val 5653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326563" y="1920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0182" y="207385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85515" y="1920240"/>
            <a:ext cx="8893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6563" y="2697480"/>
            <a:ext cx="15751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Жители и соседи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5326563" y="3291840"/>
            <a:ext cx="157514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Высказываются о том, как отклонение скажется на них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7130308" y="2958084"/>
            <a:ext cx="219456" cy="256032"/>
          </a:xfrm>
          <a:prstGeom prst="rightArrow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413772" y="1691640"/>
            <a:ext cx="1940905" cy="2788920"/>
          </a:xfrm>
          <a:prstGeom prst="roundRect">
            <a:avLst>
              <a:gd name="adj" fmla="val 5653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614940" y="1920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8560" y="2073859"/>
            <a:ext cx="332842" cy="33284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373892" y="1920240"/>
            <a:ext cx="8893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4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614940" y="2697480"/>
            <a:ext cx="15751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</a:t>
            </a:r>
            <a:endParaRPr lang="en-US" sz="1700" dirty="0"/>
          </a:p>
        </p:txBody>
      </p:sp>
      <p:sp>
        <p:nvSpPr>
          <p:cNvPr id="31" name="Text 25"/>
          <p:cNvSpPr txBox="1"/>
          <p:nvPr/>
        </p:nvSpPr>
        <p:spPr>
          <a:xfrm>
            <a:off x="7614940" y="3291840"/>
            <a:ext cx="157514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15 рабочих дней готовит рекомендации с указанием причин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9418686" y="2958084"/>
            <a:ext cx="219456" cy="256032"/>
          </a:xfrm>
          <a:prstGeom prst="rightArrow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702150" y="1691640"/>
            <a:ext cx="1940905" cy="2788920"/>
          </a:xfrm>
          <a:prstGeom prst="roundRect">
            <a:avLst>
              <a:gd name="adj" fmla="val 5653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903318" y="1920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937" y="2073859"/>
            <a:ext cx="332842" cy="332842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0662270" y="1920240"/>
            <a:ext cx="8893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5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903318" y="2697480"/>
            <a:ext cx="15751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администрации</a:t>
            </a:r>
            <a:endParaRPr lang="en-US" sz="1700" dirty="0"/>
          </a:p>
        </p:txBody>
      </p:sp>
      <p:sp>
        <p:nvSpPr>
          <p:cNvPr id="38" name="Text 31"/>
          <p:cNvSpPr txBox="1"/>
          <p:nvPr/>
        </p:nvSpPr>
        <p:spPr>
          <a:xfrm>
            <a:off x="9903318" y="3291840"/>
            <a:ext cx="157514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3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7 дней разрешает или отказывает с указанием причин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548640" y="475488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BEADF"/>
          </a:solidFill>
          <a:ln w="12700">
            <a:solidFill>
              <a:srgbClr val="FBEADF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822960" y="502920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25" y="5204765"/>
            <a:ext cx="380390" cy="38039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783080" y="4846320"/>
            <a:ext cx="96313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«Хочу построить больше» — не основание. Нужна неблагоприятная характеристика участка (ч. 1) или отклонение до 10 % (ч. 1.1).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2 · ПОЧЕМУ ВЫБРАНА СТАТЬЯ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выбрана именно эта статья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84778" cy="3931920"/>
          </a:xfrm>
          <a:prstGeom prst="roundRect">
            <a:avLst>
              <a:gd name="adj" fmla="val 3149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84832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" y="2293315"/>
            <a:ext cx="451714" cy="45171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20040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Законный выход из регламента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14800"/>
            <a:ext cx="284469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способ отступить от этажности, отступов и плотности застройки, установленных для всей зоны, — ради одного участка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53458" y="1737360"/>
            <a:ext cx="3484778" cy="3931920"/>
          </a:xfrm>
          <a:prstGeom prst="roundRect">
            <a:avLst>
              <a:gd name="adj" fmla="val 3149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73498" y="2084832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982" y="2293315"/>
            <a:ext cx="451714" cy="45171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73498" y="320040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Конфликт с соседями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673498" y="4114800"/>
            <a:ext cx="284469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Лишний этаж или сокращённый отступ — это тень, нагрузка на дворы и парковки для соседних домов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158277" y="1737360"/>
            <a:ext cx="3484778" cy="3931920"/>
          </a:xfrm>
          <a:prstGeom prst="roundRect">
            <a:avLst>
              <a:gd name="adj" fmla="val 3149"/>
            </a:avLst>
          </a:prstGeom>
          <a:solidFill>
            <a:srgbClr val="FBEADF"/>
          </a:solidFill>
          <a:ln w="12700">
            <a:solidFill>
              <a:srgbClr val="FBEAD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478317" y="2084832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293315"/>
            <a:ext cx="451714" cy="45171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78317" y="320040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Антикоррупционный ракурс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8478317" y="4114800"/>
            <a:ext cx="284469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Оценочное «иные характеристики» и усмотрение главы администрации — два коррупциогенных фактора в одной статье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2 · СЛОЖНОСТЬ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Оценочное понятие «иные характеристики»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4415" cy="1481328"/>
          </a:xfrm>
          <a:prstGeom prst="roundRect">
            <a:avLst>
              <a:gd name="adj" fmla="val 7407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27632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9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8308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«…конфигурация, инженерно-геологические или иные характеристики которых неблагоприятны для застройки…»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70048"/>
            <a:ext cx="9722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ч. 1 ст. 40 ГрК РФ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93008"/>
            <a:ext cx="530352" cy="530352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93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38328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открытый: что считать «иными характеристиками» и где порог «неблагоприятности», закон не говорит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530352" cy="530352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89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793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Методика антикоррупционной экспертизы (Постановление Правительства РФ от 26.02.2010 № 96): юридико-лингвистическая неопределённость — употребление категорий оценочного характера — коррупциогенный фактор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285232"/>
            <a:ext cx="530352" cy="530352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2852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5175504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Следствие: при желании отклонение можно «обосновать» почти для любого участка — или отказать в нём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2 · СЛОЖНОСТЬ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Отклонение всё чаще проходит без жителей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988820" y="2331720"/>
            <a:ext cx="8214055" cy="0"/>
          </a:xfrm>
          <a:prstGeom prst="line">
            <a:avLst/>
          </a:prstGeom>
          <a:noFill/>
          <a:ln w="38100">
            <a:solidFill>
              <a:srgbClr val="C9D8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5940" y="214884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163A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2004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74320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92608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ГрК РФ: любое отклонение — только после публичных слушаний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43958" y="214884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163A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9538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469538" y="274320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98138" y="292608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455-ФЗ от 29.12.2017: появились общественные обсуждения, в том числе онлайн (ст. 5.1)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81977" y="214884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163A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07557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07557" y="274320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6157" y="292608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283-ФЗ от 02.08.2019: ч. 1.1 — отклонение до 10 % без обсуждений с жителями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19995" y="214884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D969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45575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945575" y="274320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FBEADF"/>
          </a:solidFill>
          <a:ln w="12700">
            <a:solidFill>
              <a:srgbClr val="FBEAD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4175" y="292608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Небольшие отклонения проходят без публичного контроля, причём сразу по нескольким параметрам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525780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меньше отклонение, тем меньше публичного контроля. Но 10 % этажности или процента застройки соседи заметят.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2 · СЛОЖНОСТЬ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Противоречивая практика и роль суда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47672"/>
            <a:ext cx="768096" cy="768096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303" y="2132015"/>
            <a:ext cx="399410" cy="3994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74520" y="1773936"/>
            <a:ext cx="9494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разрешить вопреки слушаниям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2194560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суды считают разрешение при отрицательном заключении слушаний нарушением ст. 40, другие подчёркивают, что заключение лишь рекомендательное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3502152"/>
            <a:ext cx="768096" cy="768096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03" y="3686495"/>
            <a:ext cx="399410" cy="3994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74520" y="3328416"/>
            <a:ext cx="9494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 чем доказывает «неблагоприятность»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874520" y="3749040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Заявитель должен подтвердить характеристики участка, но требований к доказательствам — изысканиям, экспертизе — статья не содержит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5056632"/>
            <a:ext cx="768096" cy="768096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03" y="5240975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74520" y="4882896"/>
            <a:ext cx="9494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 не выдаёт разрешение сам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874520" y="5303520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 проверяет законность решения, но не подменяет орган: обязать выдать разрешение напрямую — выход за пределы полномочий (Краснодарский краевой суд, дело № 33-18473/12)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3 · КЕЙС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ВАС РФ от 11.03.2014 № ВАС-2000/14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594360" cy="59436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1880006"/>
            <a:ext cx="309067" cy="30906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60020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Высший Арбитражный Суд РФ ответил на вопрос: обязан ли глава администрации следовать итогам публичных слушаний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3515258" cy="3429000"/>
          </a:xfrm>
          <a:prstGeom prst="roundRect">
            <a:avLst>
              <a:gd name="adj" fmla="val 32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971800"/>
            <a:ext cx="2966618" cy="438912"/>
          </a:xfrm>
          <a:prstGeom prst="roundRect">
            <a:avLst>
              <a:gd name="adj" fmla="val 16667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971800"/>
            <a:ext cx="2966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СИТУАЦИЯ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593592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публичных слушаний и рекомендации были в пользу заявителя, но глава администрации в разрешении на отклонение отказал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338218" y="2697480"/>
            <a:ext cx="3515258" cy="3429000"/>
          </a:xfrm>
          <a:prstGeom prst="roundRect">
            <a:avLst>
              <a:gd name="adj" fmla="val 3200"/>
            </a:avLst>
          </a:prstGeom>
          <a:solidFill>
            <a:srgbClr val="FBEADF"/>
          </a:solidFill>
          <a:ln w="12700">
            <a:solidFill>
              <a:srgbClr val="FBEA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12538" y="2971800"/>
            <a:ext cx="2966618" cy="438912"/>
          </a:xfrm>
          <a:prstGeom prst="roundRect">
            <a:avLst>
              <a:gd name="adj" fmla="val 16667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12538" y="2971800"/>
            <a:ext cx="2966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ПОЗИЦИЯ СУДА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612538" y="3593592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 по итогам слушаний носит рекомендательный характер. Глава вправе не согласиться с рекомендациями и отказать — но обязан указать причины (ч. 6 ст. 40)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27797" y="2697480"/>
            <a:ext cx="3515258" cy="3429000"/>
          </a:xfrm>
          <a:prstGeom prst="roundRect">
            <a:avLst>
              <a:gd name="adj" fmla="val 3200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402117" y="2971800"/>
            <a:ext cx="2966618" cy="438912"/>
          </a:xfrm>
          <a:prstGeom prst="roundRect">
            <a:avLst>
              <a:gd name="adj" fmla="val 16667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02117" y="2971800"/>
            <a:ext cx="2966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ЗНАЧЕНИЕ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402117" y="3593592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Последнее слово — за одним должностным лицом. Единственный «предохранитель» — обязанность мотивировать отказ, которую затем проверяет суд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3 · КЕЙС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Дело ЖК «Турист-2», Липецк, 2026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594360" cy="59436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1880006"/>
            <a:ext cx="309067" cy="30906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60020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Арбитражный суд Липецкой области, решение от 29.01.2026: прокуратура оспорила документы на жилой комплекс в центре Липецка (застройщик — ООО «СЗ «Турист Эко-Парк», группа «Брусника»)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3423818" cy="3429000"/>
          </a:xfrm>
          <a:prstGeom prst="roundRect">
            <a:avLst>
              <a:gd name="adj" fmla="val 3205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97180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971800"/>
            <a:ext cx="2326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 прокуратуры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657600"/>
            <a:ext cx="28751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Признать недействительными разрешение на строительство, разрешения на отклонение от предельных параметров и заключение экспертизы. Доводы: нехватка парковок, удалённость социальных объектов, пожарная безопасность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045610" y="4265676"/>
            <a:ext cx="265176" cy="292608"/>
          </a:xfrm>
          <a:prstGeom prst="rightArrow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83938" y="2697480"/>
            <a:ext cx="3423818" cy="3429000"/>
          </a:xfrm>
          <a:prstGeom prst="roundRect">
            <a:avLst>
              <a:gd name="adj" fmla="val 3205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58258" y="297180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58258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98338" y="2971800"/>
            <a:ext cx="2326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суда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57600"/>
            <a:ext cx="28751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3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января 2026 года суд удовлетворил иск полностью: все три вида документов признаны недействительными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7880909" y="4265676"/>
            <a:ext cx="265176" cy="292608"/>
          </a:xfrm>
          <a:prstGeom prst="rightArrow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19237" y="2697480"/>
            <a:ext cx="3423818" cy="3429000"/>
          </a:xfrm>
          <a:prstGeom prst="roundRect">
            <a:avLst>
              <a:gd name="adj" fmla="val 3205"/>
            </a:avLst>
          </a:prstGeom>
          <a:solidFill>
            <a:srgbClr val="EEF3F0"/>
          </a:solidFill>
          <a:ln w="12700">
            <a:solidFill>
              <a:srgbClr val="EEF3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93557" y="297180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3A33"/>
          </a:solidFill>
          <a:ln w="12700">
            <a:solidFill>
              <a:srgbClr val="163A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93557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133637" y="2971800"/>
            <a:ext cx="2326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Последствия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493557" y="3657600"/>
            <a:ext cx="28751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данным СМИ, застройщик отказался от обжалования, стройку законсервировали. В октябре 2026 года обновлённый проект снова вынесен на публичные слушания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9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7160" cy="137160"/>
          </a:xfrm>
          <a:prstGeom prst="rect">
            <a:avLst/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 анализа статьи 40 ГрК РФ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325880"/>
          </a:xfrm>
          <a:prstGeom prst="roundRect">
            <a:avLst>
              <a:gd name="adj" fmla="val 8276"/>
            </a:avLst>
          </a:prstGeom>
          <a:solidFill>
            <a:srgbClr val="1F4D44"/>
          </a:solidFill>
          <a:ln w="12700">
            <a:solidFill>
              <a:srgbClr val="1F4D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6596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65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1837944"/>
            <a:ext cx="94942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Исключение рискует стать правилом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2276856"/>
            <a:ext cx="9494215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3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чётких критериев «неблагоприятности» отклонение из инструмента для неудобных участков превращается в способ обойти регламент зоны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218688"/>
            <a:ext cx="11094415" cy="1325880"/>
          </a:xfrm>
          <a:prstGeom prst="roundRect">
            <a:avLst>
              <a:gd name="adj" fmla="val 8276"/>
            </a:avLst>
          </a:prstGeom>
          <a:solidFill>
            <a:srgbClr val="1F4D44"/>
          </a:solidFill>
          <a:ln w="12700">
            <a:solidFill>
              <a:srgbClr val="1F4D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93008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930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3364992"/>
            <a:ext cx="94942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коррупциогенных фактора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3803904"/>
            <a:ext cx="9494215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3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Оценочное «иные характеристики» и усмотрение главы администрации; отклонения до 10 % вообще проходят без обсуждений с жителями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745736"/>
            <a:ext cx="11094415" cy="1325880"/>
          </a:xfrm>
          <a:prstGeom prst="roundRect">
            <a:avLst>
              <a:gd name="adj" fmla="val 8276"/>
            </a:avLst>
          </a:prstGeom>
          <a:solidFill>
            <a:srgbClr val="D9692E"/>
          </a:solidFill>
          <a:ln w="12700">
            <a:solidFill>
              <a:srgbClr val="D969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020056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020056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4892040"/>
            <a:ext cx="94942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330952"/>
            <a:ext cx="9494215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Заменить «иные характеристики» закрытым перечнем, требовать подтверждения изысканиями и публиковать мотивированное решение по каждому отклонению, включая ч. 1.1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B9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Статья 40 ГрК РФ</dc:title>
  <dc:subject>PptxGenJS Presentation</dc:subject>
  <dc:creator>Буев Даниил</dc:creator>
  <cp:lastModifiedBy>Буев Даниил</cp:lastModifiedBy>
  <cp:revision>1</cp:revision>
  <dcterms:created xsi:type="dcterms:W3CDTF">2026-10-14T20:34:57Z</dcterms:created>
  <dcterms:modified xsi:type="dcterms:W3CDTF">2026-10-14T20:34:57Z</dcterms:modified>
</cp:coreProperties>
</file>