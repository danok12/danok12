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0.jpeg" ContentType="image/jpeg"/>
  <Override PartName="/ppt/media/image9.png" ContentType="image/png"/>
  <Override PartName="/ppt/media/image13.png" ContentType="image/png"/>
  <Override PartName="/ppt/media/image1.png" ContentType="image/png"/>
  <Override PartName="/ppt/media/image2.png" ContentType="image/png"/>
  <Override PartName="/ppt/media/image4.jpeg" ContentType="image/jpe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6.png" ContentType="image/png"/>
  <Override PartName="/ppt/media/image7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11.jpeg" ContentType="image/jpe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C7980D0-5879-47C2-88E1-E348E77CDBA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Добрый день! Тема моего выступления — китайская философия, а конкретнее — два её главных течения: даосизм и конфуцианство.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Начать я хочу с цитаты, которую приписывают некоему Ванталы: «Не иди по течению, не иди против течения — иди поперёк него, если хочешь достичь берега». Эта фраза очень точно передаёт дух китайской философии в целом: она не про слепое подчинение обстоятельствам и не про борьбу с ними любой ценой, а про поиск своего собственного, срединного пути. И сегодня мы разберём, как эту идею по-разному понимали два величайших китайских мыслителя.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* Слова Ванталы — текст из 240 местами повторяющихся изречений философского содержания, причём последнее, 240-е изречение, не содержит текста.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596E35-55E9-4700-8BC7-9974A0FFF18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Краткий план выступления. Задержаться на 5—7 секунд.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0AE3F6-6E38-45EE-853B-072B2252CD9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Речь пойдёт о двух современниках, живших в Китае в VI—V веках до нашей эры: Лао-цзы, основателе даосизма, и Конфуции, годы жизни которого — 551—479 годы до нашей эры. Оба они застали один из самых бурных периодов китайской истории, но предложили совершенно разные ответы на вопрос, как человеку и государству следует жить.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F10A98-C854-4DBB-AD28-5223F6C345B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Если коротко сформулировать разницу между их учениями, то она выглядит так.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Даосизм — это прежде всего онтологическое учение, то есть учение о бытии, о мироустройстве как таковом, и оно носит наивно-диалектический характер. Его главные представители — Лао-цзы, Чжуан-цзы и Ян Чжу.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Конфуцианство же — учение ярко выраженного социально-этического характера. Оно меньше говорит о вселенной и больше — о человеке, обществе и государстве. Представители — сам Конфуций, известный в Китае как Кун Цю, а также Мэн-цзы и Сюнь-цзы.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Проще говоря: даосизм смотрит наверх, в сторону мирового порядка, а конфуцианство — вокруг, на отношения между людьми. Но, как мы увидим, обе традиции причудливо переплетаются в истории Китая.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C75212-C4E8-4708-97FD-4AB25051729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Переход к первой части.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7CE9480-A1ED-468C-8E80-FD2334AA040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Начнём с Лао-цзы, и начнём с его биографии — точнее, с легенды о ней, потому что достоверных исторических сведений о нём почти нет.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 преданию, он родился в деревне с говорящим названием «Искривлённая доброта», в уезде «Горький», в местечке «Жестокое». А дальше легенда становится совсем фантастической: якобы, пробыв в чреве матери 81 год, он появился на свет из её бедра уже глубоким стариком. Отсюда и его имя — Лао-цзы, что можно перевести и как «Старый учитель», и как «Вечный ребёнок», а можно и наоборот — «Старый ребёнок» и «Вечный учитель». И любой из этих вариантов, как ни странно, не лишён смысла.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 легенде, он вёл скромную жизнь архивариуса при дворе правителя династии Чжоу. А когда пришёл срок, сел на чёрного быка и отправился на запад. На границе таможенник попросил его оставить людям наставления — и Лао-цзы в один присест написал трактат в пять тысяч иероглифов. Так родилась знаменитая «Книга о Дао и Дэ» — «Дао дэ цзин». После этого он продолжил путь на запад, и, по легенде, там стал… Буддой.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A20A9F9-1EA7-46DB-93C4-236D03B1657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Теперь — к сути учения. Центральное место в даосизме занимают два понятия: Дао и Дэ.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Дао буквально переводится как «путь», «дорога». Это великий путь, которому следует вся вселенная, и ему присуща собственная, ни от кого не зависящая благородная сила. Дао — это одновременно и сущность бытия, и всеобщий закон, и абсолют. Он безграничен и питает собой всё остальное.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Дэ — это благо, через которое Дао проявляет себя в мире, конкретный способ бытия. Если Дао безгранично, то Дэ уже определённо, оно ближе к конкретному человеку и его поступкам. У Лао-цзы есть формула: тот, кто в своих делах следует Дао и очищает свой дух, вступает в союз с силой Дэ.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CF9E84-3E7C-4E05-8948-A90EA1D3E0E6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Приведу несколько цитат, которые хорошо иллюстрируют эту философию постепенности и естественности: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«Осуществляй то, чего ещё нет, управляй тем, что ещё не противится».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«Дерево толщиной в обхват вырастает из крошечного зёрнышка. Башня в девять этажей вырастает из груды земли. Путь длиной в тысячу ли начинается у тебя под ногами».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Во всех этих образах — одна и та же мысль: великое рождается из малого, а любое действие должно быть согласовано с естественным ходом вещей, а не навязано ему силой.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B08D17-39A2-4D20-A2CC-DF4E9D640A9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Из этой идеи естественности вырастает, пожалуй, самое известное понятие даосизма — концепция у-вэй, или недеяния. Это не бездействие в буквальном смысле, а отказ от целенаправленной, насильственной деятельности, которая идёт вразрез с естественным миропорядком.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Применительно к государственному устройству Лао-цзы формулирует это довольно радикально: лучший государь — тот, который ничего не делает для своих подданных. Его задача — не управлять в привычном смысле, а гармонизировать отношения и предотвращать смуту, а дальше подданные сами разберутся, что им делать. То есть идеальная власть — почти незаметна.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36AC5D-6AF8-4861-8E88-F4DAEB15C08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Примерно с 1000 года нашей эры ситуация в китайской философии меняется. Интерес к философии Дао начинает ослабевать. Зато происходит настоящая догматизация конфуцианства: само учение вместе с его основателем возвышается почти до религиозного почитания. Параллельно в Китай начинают проникать буддизм и христианство. Именно на этом фоне конфуцианство надолго становится главной государственной идеологией страны.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DC7917-923F-4068-9455-797E4510D90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Переход ко второй части.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65D01B-3470-42E0-ADAC-0E626C30B7D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Перейдём ко второй части — к Конфуцию. Его настоящее имя — Кун Цю, но в литературе его чаще называют Кун-цзы, Кун Фу-цзы или просто Цзы — «Учитель».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Конфуций был потомком обедневшего аристократического рода, сыном пожилого чиновника и его молодой наложницы. Уже в 22 года он стал первым в Китае частным учителем, а позже снискал славу самого знаменитого педагога Поднебесной.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1DA196-79A1-40D6-A2C6-E28AD7F604F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Он не любил говорить о себе, но весь свой жизненный путь однажды описал буквально в нескольких строчках, и мне кажется, это одна из самых красивых автобиографий в истории: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«В 15 лет я обратил свои помыслы к учению. В 30 лет — я обрёл прочную основу. В 40 лет — я сумел освободиться от сомнений. В 50 лет — я познал волю Неба. В 60 лет — я научился отличать правду от лжи. В 70 лет — я стал следовать зову моего сердца и не нарушал Ритуала».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12BE8F1-153E-484D-AA4C-2BEE01D939C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Главная тема философии Конфуция — это моральные принципы, на которых строятся и отношения между людьми, и управление государством.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Важное место в его учении занимает судьба: по Конфуцию, всё изначально предопределено, и здесь ничего нельзя ни убавить, ни прибавить. При этом, рассуждая о природе человеческого познания, он говорит, что по своей природе люди похожи друг на друга, и только высшая мудрость и крайняя глупость неизменны, — а различаются люди уже благодаря воспитанию и разным привычкам.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17B7A0-0965-48E3-A6E4-E5503900847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Конфуций предлагает своеобразную иерархию знаний. Высшее знание — то, что человек имеет от рождения. Ниже — знания, приобретённые в процессе учёбы. Ещё ниже — знания, добытые через преодоление трудностей. А самый ничтожный человек — тот, кто даже из трудностей не способен извлечь урок.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03D799-6229-4520-AAEF-1BD26BF8648B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Об этом же он говорит и в другой известной цитате: «Три пути ведут к знанию: путь размышления — это путь самый благородный, путь подражания — это путь самый лёгкий, путь опыта — это путь самый горький».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7ADFC4-F7D0-4F92-8351-644A6F6B2E27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Теперь о фундаменте всего учения. Эталоном человека, идущего по правильному пути, Конфуций считает «благородного мужа» — цзюнь-цзы. К его основным качествам относятся пять понятий.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Жэнь — гуманность, человеколюбие: не делай другим того, чего не желал бы себе. Это спокойно-самодостаточная любовь к людям, которая приносит в мир гармонию.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Ли — почтительность, ритуал, церемонии. Это широкий круг правил, которые регламентируют буквально все сферы жизни общества — от семьи до отношений с государством.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 — чувство долга, долг-справедливость. В широком смысле это моральные принципы, которых совершенный человек придерживается по собственной воле, в силу своей добродетели, а не из страха наказания.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Чжи — здравый смысл, мудрость, рассудительность: умение просчитать последствия своих действий и посмотреть на них со стороны. Чжи противостоит глупости.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И наконец, синь — искренность, доброе намерение, добросовестность. Синь как бы уравновешивает Ли, не давая ритуалу превратиться в пустое лицемерие.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1A9EA6-658E-4ECA-8E0F-6B1E6EBCF63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Эти же принципы Конфуций переносит и на устройство государства. Он считал, что человек должен жить в обществе гуманности и милосердия, а правитель и его чиновники обязаны управлять страной по принципам справедливости, честности и любви.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Знаменитое золотое правило — «не делай другим того, чего не желаешь себе» — у него звучит именно как политический, а не только личный принцип: правильный человек создаёт правильное общество, а правильное общество — правильное государство.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Очень образно он говорит о власти в другой цитате: «Суть господина подобна ветру, а суть простых людей подобна траве. И когда ветер веет над травой, она не может выбирать, а наклоняется». То есть пример правителя, по Конфуцию, — самый действенный инструмент управления, куда сильнее любых указов.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2EB783-87C9-4879-830D-187209A373F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В завершение содержательной части — несколько практических советов Конфуция, которые актуальны, пожалуй, и сегодня. Идите к своей цели, пусть даже медленно, но не останавливаясь. Держите свой инструмент остро отточенным — ваша удача зависит от того, насколько хорошо вы подготовились. Не меняйте поставленную цель — важны не столько методы, сколько сама цель. Делайте только по-настоящему важное для вас дело, прикладывая максимальные усилия. Общайтесь только с теми, кто развивается, — он поведёт вас за собой. Работайте над собой и делайте добро: мир вокруг вас — это зеркало вашего внутреннего «я». Не позволяйте обидам сбить вас с пути. Контролируйте свой гнев — за всё придётся платить. И наблюдайте за людьми: каждый может чему-то научить или от чего-то предостеречь.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B1AB85-AA28-4066-A793-F4BF9740582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Подводя итог, хочу вернуться к цитате, с которой мы начинали. Даосизм и конфуцианство — это, по сути, два разных ответа на вопрос, как «достичь берега». Лао-цзы предлагает довериться естественному течению вещей и не мешать ему — идти путём недеяния. Конфуций же предлагает активно выстраивать себя и общество через воспитание, ритуал и моральный долг. Но в главном они удивительным образом сходятся: оба ищут не крайность, а верную меру — тот самый путь «поперёк течения», который ведёт к гармонии. Именно поэтому даосизм и конфуцианство почти три тысячи лет сосуществуют в китайской культуре не как враги, а как две стороны одной и той же мудрости.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0F1FF34-28D2-490A-9403-A04DCD206854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Спасибо за внимание!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02CE12-FEEF-43E0-B6A3-1D7272F1537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4892E7-4D6C-47EF-94B4-05ED50ABE7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ABC7DD-7D84-46A5-8DBA-B5607F5277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B7C40DD-826E-443D-B88B-2B729D06AB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BB4EB39-2BB3-4AB7-A0EC-D1C8DD2398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FF1A606-28AD-4AAB-8513-5BE5B0A38B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527E337-2434-4828-9A73-212C8FF1DA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0CB6D15-1F41-4605-8011-6F2A0B2045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64BA765-7722-49AB-9880-464C08D860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EFA2607-8541-4F66-AEE7-5C6D891461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DC29197-84F4-4386-9E44-A45DF68ECB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69D6979-CD8D-4CF8-B6F8-10B592055D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287E0C-C06E-4217-ABCF-D5D442C17F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344D6F-FFD9-4195-905D-29A63064DA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6AFBBD-4EFF-4376-9EC4-41092B4FBF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6FAF17-947B-4873-836B-A9E5E824F9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F63832-C932-46D6-B026-E0ACC6C158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7DA3C3-FCF2-4247-8779-639FB6E8D9D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6A0FE5-B501-4D79-8FFB-147DEA80CC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CEA0D5-6421-4E39-96B0-641A3FE6FE8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7B7D8E-43ED-4DBF-9C39-89FC19B3D9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C8340C-9198-434C-B9C1-F986EF3DC4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FA33C8-1F9B-4C14-9EB5-61174E8F32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1" descr="cover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74" name="Rectangle 2"/>
          <p:cNvSpPr/>
          <p:nvPr/>
        </p:nvSpPr>
        <p:spPr>
          <a:xfrm>
            <a:off x="0" y="3273480"/>
            <a:ext cx="12191400" cy="3584160"/>
          </a:xfrm>
          <a:prstGeom prst="rect">
            <a:avLst/>
          </a:prstGeom>
          <a:solidFill>
            <a:srgbClr val="ede9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ectangle 3"/>
          <p:cNvSpPr/>
          <p:nvPr/>
        </p:nvSpPr>
        <p:spPr>
          <a:xfrm>
            <a:off x="0" y="3273480"/>
            <a:ext cx="12191400" cy="104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4200" bIns="-342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868680" y="3749040"/>
            <a:ext cx="56689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50" spc="338" strike="noStrike">
                <a:solidFill>
                  <a:srgbClr val="8a8578"/>
                </a:solidFill>
                <a:latin typeface="Arial"/>
              </a:rPr>
              <a:t>ФИЛОСОФИЯ ДРЕВНЕГО КИТАЯ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868680" y="4151520"/>
            <a:ext cx="6034680" cy="129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6000"/>
              </a:lnSpc>
            </a:pPr>
            <a:r>
              <a:rPr b="1" lang="en-US" sz="4000" spc="117" strike="noStrike">
                <a:solidFill>
                  <a:srgbClr val="2a2a24"/>
                </a:solidFill>
                <a:latin typeface="Arial"/>
              </a:rPr>
              <a:t>КИТАЙСКАЯ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</a:pPr>
            <a:r>
              <a:rPr b="1" lang="en-US" sz="4000" spc="117" strike="noStrike">
                <a:solidFill>
                  <a:srgbClr val="2a2a24"/>
                </a:solidFill>
                <a:latin typeface="Arial"/>
              </a:rPr>
              <a:t>ФИЛОСОФИЯ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868680" y="5504760"/>
            <a:ext cx="182844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868680" y="5706000"/>
            <a:ext cx="54860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900" spc="58" strike="noStrike">
                <a:solidFill>
                  <a:srgbClr val="4a4942"/>
                </a:solidFill>
                <a:latin typeface="Arial"/>
              </a:rPr>
              <a:t>Даосизм и конфуцианство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8"/>
          <p:cNvSpPr/>
          <p:nvPr/>
        </p:nvSpPr>
        <p:spPr>
          <a:xfrm>
            <a:off x="6967800" y="3822120"/>
            <a:ext cx="12600" cy="14227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9"/>
          <p:cNvSpPr/>
          <p:nvPr/>
        </p:nvSpPr>
        <p:spPr>
          <a:xfrm>
            <a:off x="7269480" y="3822120"/>
            <a:ext cx="3931560" cy="10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55000"/>
              </a:lnSpc>
            </a:pPr>
            <a:r>
              <a:rPr b="0" i="1" lang="en-US" sz="1450" spc="-1" strike="noStrike">
                <a:solidFill>
                  <a:srgbClr val="4a4942"/>
                </a:solidFill>
                <a:latin typeface="Arial"/>
              </a:rPr>
              <a:t>«Не иди по течению, не иди против течения — иди поперёк него, если хочешь достичь берега.»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7269480" y="5135760"/>
            <a:ext cx="393156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39" strike="noStrike">
                <a:solidFill>
                  <a:srgbClr val="8a8578"/>
                </a:solidFill>
                <a:latin typeface="Arial"/>
              </a:rPr>
              <a:t>СЛОВА ВАНТАЛЫ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1"/>
          <p:cNvSpPr/>
          <p:nvPr/>
        </p:nvSpPr>
        <p:spPr>
          <a:xfrm>
            <a:off x="7269480" y="5706000"/>
            <a:ext cx="3931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00" spc="199" strike="noStrike">
                <a:solidFill>
                  <a:srgbClr val="8a8578"/>
                </a:solidFill>
                <a:latin typeface="Arial"/>
              </a:rPr>
              <a:t>VI—V вв. до н. э.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10820160" y="530280"/>
            <a:ext cx="822600" cy="11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5000"/>
              </a:lnSpc>
            </a:pPr>
            <a:r>
              <a:rPr b="0" lang="zh-CN" sz="2800" spc="-1" strike="noStrike">
                <a:solidFill>
                  <a:srgbClr val="555750"/>
                </a:solidFill>
                <a:latin typeface="Arial"/>
              </a:rPr>
              <a:t>道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5000"/>
              </a:lnSpc>
              <a:spcBef>
                <a:spcPts val="601"/>
              </a:spcBef>
            </a:pPr>
            <a:r>
              <a:rPr b="0" lang="zh-CN" sz="2800" spc="-1" strike="noStrike">
                <a:solidFill>
                  <a:srgbClr val="555750"/>
                </a:solidFill>
                <a:latin typeface="Arial"/>
              </a:rPr>
              <a:t>德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pic>
        <p:nvPicPr>
          <p:cNvPr id="86" name="Picture 2" descr="green-panel.png"/>
          <p:cNvPicPr/>
          <p:nvPr/>
        </p:nvPicPr>
        <p:blipFill>
          <a:blip r:embed="rId2"/>
          <a:stretch/>
        </p:blipFill>
        <p:spPr>
          <a:xfrm>
            <a:off x="8613720" y="0"/>
            <a:ext cx="3577680" cy="6857640"/>
          </a:xfrm>
          <a:prstGeom prst="rect">
            <a:avLst/>
          </a:prstGeom>
          <a:ln w="0">
            <a:noFill/>
          </a:ln>
        </p:spPr>
      </p:pic>
      <p:sp>
        <p:nvSpPr>
          <p:cNvPr id="87" name="TextBox 3"/>
          <p:cNvSpPr/>
          <p:nvPr/>
        </p:nvSpPr>
        <p:spPr>
          <a:xfrm>
            <a:off x="9116640" y="960120"/>
            <a:ext cx="237708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4000" spc="-1" strike="noStrike">
                <a:solidFill>
                  <a:srgbClr val="ede9e1"/>
                </a:solidFill>
                <a:latin typeface="Arial"/>
              </a:rPr>
              <a:t>目錄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9144000" y="2139840"/>
            <a:ext cx="255996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300" spc="318" strike="noStrike">
                <a:solidFill>
                  <a:srgbClr val="c2cbbf"/>
                </a:solidFill>
                <a:latin typeface="Arial"/>
              </a:rPr>
              <a:t>СОДЕРЖАНИЕ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9144000" y="2670120"/>
            <a:ext cx="822600" cy="12600"/>
          </a:xfrm>
          <a:prstGeom prst="rect">
            <a:avLst/>
          </a:prstGeom>
          <a:solidFill>
            <a:srgbClr val="8f9c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868680" y="91440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1645920" y="87768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Два учителя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1645920" y="122544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Лао-цзы и Конфуций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868680" y="1536120"/>
            <a:ext cx="69490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868680" y="170064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1645920" y="166428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Сравнительный анализ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2"/>
          <p:cNvSpPr/>
          <p:nvPr/>
        </p:nvSpPr>
        <p:spPr>
          <a:xfrm>
            <a:off x="1645920" y="201168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Два ответа на один вопрос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13"/>
          <p:cNvSpPr/>
          <p:nvPr/>
        </p:nvSpPr>
        <p:spPr>
          <a:xfrm>
            <a:off x="868680" y="2322720"/>
            <a:ext cx="69490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4"/>
          <p:cNvSpPr/>
          <p:nvPr/>
        </p:nvSpPr>
        <p:spPr>
          <a:xfrm>
            <a:off x="868680" y="248724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15"/>
          <p:cNvSpPr/>
          <p:nvPr/>
        </p:nvSpPr>
        <p:spPr>
          <a:xfrm>
            <a:off x="1645920" y="245052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Даосизм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6"/>
          <p:cNvSpPr/>
          <p:nvPr/>
        </p:nvSpPr>
        <p:spPr>
          <a:xfrm>
            <a:off x="1645920" y="279792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Биография, Дао и Дэ, недеяние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 17"/>
          <p:cNvSpPr/>
          <p:nvPr/>
        </p:nvSpPr>
        <p:spPr>
          <a:xfrm>
            <a:off x="868680" y="3108960"/>
            <a:ext cx="69490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18"/>
          <p:cNvSpPr/>
          <p:nvPr/>
        </p:nvSpPr>
        <p:spPr>
          <a:xfrm>
            <a:off x="868680" y="327348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9"/>
          <p:cNvSpPr/>
          <p:nvPr/>
        </p:nvSpPr>
        <p:spPr>
          <a:xfrm>
            <a:off x="1645920" y="323712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Новое время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20"/>
          <p:cNvSpPr/>
          <p:nvPr/>
        </p:nvSpPr>
        <p:spPr>
          <a:xfrm>
            <a:off x="1645920" y="358452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С 1000 года н. э.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21"/>
          <p:cNvSpPr/>
          <p:nvPr/>
        </p:nvSpPr>
        <p:spPr>
          <a:xfrm>
            <a:off x="868680" y="3895200"/>
            <a:ext cx="69490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2"/>
          <p:cNvSpPr/>
          <p:nvPr/>
        </p:nvSpPr>
        <p:spPr>
          <a:xfrm>
            <a:off x="868680" y="406008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23"/>
          <p:cNvSpPr/>
          <p:nvPr/>
        </p:nvSpPr>
        <p:spPr>
          <a:xfrm>
            <a:off x="1645920" y="402336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Конфуцианство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4"/>
          <p:cNvSpPr/>
          <p:nvPr/>
        </p:nvSpPr>
        <p:spPr>
          <a:xfrm>
            <a:off x="1645920" y="437076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Биография, знание, цзюнь-цзы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25"/>
          <p:cNvSpPr/>
          <p:nvPr/>
        </p:nvSpPr>
        <p:spPr>
          <a:xfrm>
            <a:off x="868680" y="4681800"/>
            <a:ext cx="69490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6"/>
          <p:cNvSpPr/>
          <p:nvPr/>
        </p:nvSpPr>
        <p:spPr>
          <a:xfrm>
            <a:off x="868680" y="484632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27"/>
          <p:cNvSpPr/>
          <p:nvPr/>
        </p:nvSpPr>
        <p:spPr>
          <a:xfrm>
            <a:off x="1645920" y="480960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Государство и успех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28"/>
          <p:cNvSpPr/>
          <p:nvPr/>
        </p:nvSpPr>
        <p:spPr>
          <a:xfrm>
            <a:off x="1645920" y="515736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Мораль как политика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29"/>
          <p:cNvSpPr/>
          <p:nvPr/>
        </p:nvSpPr>
        <p:spPr>
          <a:xfrm>
            <a:off x="868680" y="5468040"/>
            <a:ext cx="69490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30"/>
          <p:cNvSpPr/>
          <p:nvPr/>
        </p:nvSpPr>
        <p:spPr>
          <a:xfrm>
            <a:off x="868680" y="5632560"/>
            <a:ext cx="73116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97" strike="noStrike">
                <a:solidFill>
                  <a:srgbClr val="8c7b5f"/>
                </a:solidFill>
                <a:latin typeface="Arial"/>
              </a:rPr>
              <a:t>07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31"/>
          <p:cNvSpPr/>
          <p:nvPr/>
        </p:nvSpPr>
        <p:spPr>
          <a:xfrm>
            <a:off x="1645920" y="5596200"/>
            <a:ext cx="603468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38" strike="noStrike">
                <a:solidFill>
                  <a:srgbClr val="2a2a24"/>
                </a:solidFill>
                <a:latin typeface="Arial"/>
              </a:rPr>
              <a:t>Итог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32"/>
          <p:cNvSpPr/>
          <p:nvPr/>
        </p:nvSpPr>
        <p:spPr>
          <a:xfrm>
            <a:off x="1645920" y="5943600"/>
            <a:ext cx="603468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Две стороны одной мудрости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33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СОДЕРЖАНИЕ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34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20" name="TextBox 2"/>
          <p:cNvSpPr/>
          <p:nvPr/>
        </p:nvSpPr>
        <p:spPr>
          <a:xfrm>
            <a:off x="868680" y="713160"/>
            <a:ext cx="73148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ДЕЙСТВУЮЩИЕ ЛИЦА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868680" y="1097280"/>
            <a:ext cx="73148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ДВА УЧИТЕЛЯ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ectangle 5"/>
          <p:cNvSpPr/>
          <p:nvPr/>
        </p:nvSpPr>
        <p:spPr>
          <a:xfrm>
            <a:off x="6086880" y="1874520"/>
            <a:ext cx="12600" cy="288000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4" name="Picture 6" descr="laozi-ox.jpg"/>
          <p:cNvPicPr/>
          <p:nvPr/>
        </p:nvPicPr>
        <p:blipFill>
          <a:blip r:embed="rId2"/>
          <a:stretch/>
        </p:blipFill>
        <p:spPr>
          <a:xfrm>
            <a:off x="1005840" y="2111760"/>
            <a:ext cx="1782720" cy="2313720"/>
          </a:xfrm>
          <a:prstGeom prst="rect">
            <a:avLst/>
          </a:prstGeom>
          <a:ln w="0">
            <a:noFill/>
          </a:ln>
        </p:spPr>
      </p:pic>
      <p:sp>
        <p:nvSpPr>
          <p:cNvPr id="125" name="TextBox 7"/>
          <p:cNvSpPr/>
          <p:nvPr/>
        </p:nvSpPr>
        <p:spPr>
          <a:xfrm>
            <a:off x="3108960" y="2020680"/>
            <a:ext cx="26971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200" spc="137" strike="noStrike">
                <a:solidFill>
                  <a:srgbClr val="2a2a24"/>
                </a:solidFill>
                <a:latin typeface="Arial"/>
              </a:rPr>
              <a:t>ЛАО-ЦЗЫ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3108960" y="2532960"/>
            <a:ext cx="2697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137" strike="noStrike">
                <a:solidFill>
                  <a:srgbClr val="8c7b5f"/>
                </a:solidFill>
                <a:latin typeface="Arial"/>
              </a:rPr>
              <a:t>VI—V вв. до н. э.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 9"/>
          <p:cNvSpPr/>
          <p:nvPr/>
        </p:nvSpPr>
        <p:spPr>
          <a:xfrm>
            <a:off x="3108960" y="2971800"/>
            <a:ext cx="731160" cy="1260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3108960" y="3173040"/>
            <a:ext cx="2697120" cy="6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00" spc="-1" strike="noStrike">
                <a:solidFill>
                  <a:srgbClr val="4a4942"/>
                </a:solidFill>
                <a:latin typeface="Arial"/>
              </a:rPr>
              <a:t>Основатель даосизма.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4000"/>
              </a:lnSpc>
            </a:pPr>
            <a:r>
              <a:rPr b="0" lang="en-US" sz="1500" spc="-1" strike="noStrike">
                <a:solidFill>
                  <a:srgbClr val="4a4942"/>
                </a:solidFill>
                <a:latin typeface="Arial"/>
              </a:rPr>
              <a:t>«Старый учитель»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Picture 11" descr="confucius-ink.png"/>
          <p:cNvPicPr/>
          <p:nvPr/>
        </p:nvPicPr>
        <p:blipFill>
          <a:blip r:embed="rId3"/>
          <a:stretch/>
        </p:blipFill>
        <p:spPr>
          <a:xfrm>
            <a:off x="6675120" y="1965960"/>
            <a:ext cx="1425240" cy="2605680"/>
          </a:xfrm>
          <a:prstGeom prst="rect">
            <a:avLst/>
          </a:prstGeom>
          <a:ln w="0">
            <a:noFill/>
          </a:ln>
        </p:spPr>
      </p:pic>
      <p:sp>
        <p:nvSpPr>
          <p:cNvPr id="130" name="TextBox 12"/>
          <p:cNvSpPr/>
          <p:nvPr/>
        </p:nvSpPr>
        <p:spPr>
          <a:xfrm>
            <a:off x="8778240" y="2020680"/>
            <a:ext cx="2697120" cy="41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200" spc="137" strike="noStrike">
                <a:solidFill>
                  <a:srgbClr val="2a2a24"/>
                </a:solidFill>
                <a:latin typeface="Arial"/>
              </a:rPr>
              <a:t>КОНФУЦИЙ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3"/>
          <p:cNvSpPr/>
          <p:nvPr/>
        </p:nvSpPr>
        <p:spPr>
          <a:xfrm>
            <a:off x="8778240" y="2532960"/>
            <a:ext cx="2697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50" spc="137" strike="noStrike">
                <a:solidFill>
                  <a:srgbClr val="8c7b5f"/>
                </a:solidFill>
                <a:latin typeface="Arial"/>
              </a:rPr>
              <a:t>551—479 гг. до н. э.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14"/>
          <p:cNvSpPr/>
          <p:nvPr/>
        </p:nvSpPr>
        <p:spPr>
          <a:xfrm>
            <a:off x="8778240" y="2971800"/>
            <a:ext cx="731160" cy="1260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5"/>
          <p:cNvSpPr/>
          <p:nvPr/>
        </p:nvSpPr>
        <p:spPr>
          <a:xfrm>
            <a:off x="8778240" y="3173040"/>
            <a:ext cx="2697120" cy="61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00" spc="-1" strike="noStrike">
                <a:solidFill>
                  <a:srgbClr val="4a4942"/>
                </a:solidFill>
                <a:latin typeface="Arial"/>
              </a:rPr>
              <a:t>Кун Цю, основатель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4000"/>
              </a:lnSpc>
            </a:pPr>
            <a:r>
              <a:rPr b="0" lang="en-US" sz="1500" spc="-1" strike="noStrike">
                <a:solidFill>
                  <a:srgbClr val="4a4942"/>
                </a:solidFill>
                <a:latin typeface="Arial"/>
              </a:rPr>
              <a:t>конфуцианства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ectangle 16"/>
          <p:cNvSpPr/>
          <p:nvPr/>
        </p:nvSpPr>
        <p:spPr>
          <a:xfrm>
            <a:off x="868680" y="556632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17"/>
          <p:cNvSpPr/>
          <p:nvPr/>
        </p:nvSpPr>
        <p:spPr>
          <a:xfrm>
            <a:off x="868680" y="5785560"/>
            <a:ext cx="1045404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i="1" lang="en-US" sz="1400" spc="-1" strike="noStrike">
                <a:solidFill>
                  <a:srgbClr val="8a8578"/>
                </a:solidFill>
                <a:latin typeface="Arial"/>
              </a:rPr>
              <a:t>Современники, заставшие один из самых бурных периодов китайской истории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ДЕЙСТВУЮЩИЕ ЛИЦА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9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39" name="TextBox 2"/>
          <p:cNvSpPr/>
          <p:nvPr/>
        </p:nvSpPr>
        <p:spPr>
          <a:xfrm>
            <a:off x="868680" y="713160"/>
            <a:ext cx="82292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СУТЬ РАЗЛИЧИЯ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868680" y="1097280"/>
            <a:ext cx="82292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СРАВНИТЕЛЬНЫЙ АНАЛИЗ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Rectangle 5"/>
          <p:cNvSpPr/>
          <p:nvPr/>
        </p:nvSpPr>
        <p:spPr>
          <a:xfrm>
            <a:off x="6086880" y="2211480"/>
            <a:ext cx="12600" cy="352008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868680" y="2211480"/>
            <a:ext cx="109692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3800" spc="-1" strike="noStrike">
                <a:solidFill>
                  <a:srgbClr val="c6c0b2"/>
                </a:solidFill>
                <a:latin typeface="Arial"/>
              </a:rPr>
              <a:t>道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1828800" y="2302920"/>
            <a:ext cx="36572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300" spc="117" strike="noStrike">
                <a:solidFill>
                  <a:srgbClr val="2c382f"/>
                </a:solidFill>
                <a:latin typeface="Arial"/>
              </a:rPr>
              <a:t>ДАОСИЗМ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1828800" y="281484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00" spc="239" strike="noStrike">
                <a:solidFill>
                  <a:srgbClr val="8a8578"/>
                </a:solidFill>
                <a:latin typeface="Arial"/>
              </a:rPr>
              <a:t>ОНТОЛОГИЧЕСКОЕ УЧЕНИЕ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868680" y="3400200"/>
            <a:ext cx="2923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10"/>
          <p:cNvSpPr/>
          <p:nvPr/>
        </p:nvSpPr>
        <p:spPr>
          <a:xfrm>
            <a:off x="1216080" y="3381840"/>
            <a:ext cx="4269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Учение о бытии и мироустройстве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1"/>
          <p:cNvSpPr/>
          <p:nvPr/>
        </p:nvSpPr>
        <p:spPr>
          <a:xfrm>
            <a:off x="868680" y="3879360"/>
            <a:ext cx="2923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2"/>
          <p:cNvSpPr/>
          <p:nvPr/>
        </p:nvSpPr>
        <p:spPr>
          <a:xfrm>
            <a:off x="1216080" y="3861000"/>
            <a:ext cx="4269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Носит наивно-диалектический характер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13"/>
          <p:cNvSpPr/>
          <p:nvPr/>
        </p:nvSpPr>
        <p:spPr>
          <a:xfrm>
            <a:off x="868680" y="4358520"/>
            <a:ext cx="2923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4"/>
          <p:cNvSpPr/>
          <p:nvPr/>
        </p:nvSpPr>
        <p:spPr>
          <a:xfrm>
            <a:off x="1216080" y="4340520"/>
            <a:ext cx="4269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Лао-цзы, Чжуан-цзы, Ян Чжу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 15"/>
          <p:cNvSpPr/>
          <p:nvPr/>
        </p:nvSpPr>
        <p:spPr>
          <a:xfrm>
            <a:off x="868680" y="4965840"/>
            <a:ext cx="731160" cy="1260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16"/>
          <p:cNvSpPr/>
          <p:nvPr/>
        </p:nvSpPr>
        <p:spPr>
          <a:xfrm>
            <a:off x="868680" y="5167080"/>
            <a:ext cx="4617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i="1" lang="en-US" sz="1450" spc="-1" strike="noStrike">
                <a:solidFill>
                  <a:srgbClr val="4a4942"/>
                </a:solidFill>
                <a:latin typeface="Arial"/>
              </a:rPr>
              <a:t>Смотрит наверх — на мировой порядок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17"/>
          <p:cNvSpPr/>
          <p:nvPr/>
        </p:nvSpPr>
        <p:spPr>
          <a:xfrm>
            <a:off x="6537960" y="2211480"/>
            <a:ext cx="1096920" cy="72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3800" spc="-1" strike="noStrike">
                <a:solidFill>
                  <a:srgbClr val="c6c0b2"/>
                </a:solidFill>
                <a:latin typeface="Arial"/>
              </a:rPr>
              <a:t>儒</a:t>
            </a:r>
            <a:endParaRPr b="0" lang="en-US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18"/>
          <p:cNvSpPr/>
          <p:nvPr/>
        </p:nvSpPr>
        <p:spPr>
          <a:xfrm>
            <a:off x="7498080" y="2302920"/>
            <a:ext cx="36572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300" spc="117" strike="noStrike">
                <a:solidFill>
                  <a:srgbClr val="2c382f"/>
                </a:solidFill>
                <a:latin typeface="Arial"/>
              </a:rPr>
              <a:t>КОНФУЦИАНСТВО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9"/>
          <p:cNvSpPr/>
          <p:nvPr/>
        </p:nvSpPr>
        <p:spPr>
          <a:xfrm>
            <a:off x="7498080" y="2814840"/>
            <a:ext cx="36572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00" spc="239" strike="noStrike">
                <a:solidFill>
                  <a:srgbClr val="8a8578"/>
                </a:solidFill>
                <a:latin typeface="Arial"/>
              </a:rPr>
              <a:t>СОЦИАЛЬНО-ЭТИЧЕСКОЕ УЧЕНИЕ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20"/>
          <p:cNvSpPr/>
          <p:nvPr/>
        </p:nvSpPr>
        <p:spPr>
          <a:xfrm>
            <a:off x="6537960" y="3400200"/>
            <a:ext cx="2923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21"/>
          <p:cNvSpPr/>
          <p:nvPr/>
        </p:nvSpPr>
        <p:spPr>
          <a:xfrm>
            <a:off x="6885360" y="3381840"/>
            <a:ext cx="4269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Учение о человеке, обществе, государстве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22"/>
          <p:cNvSpPr/>
          <p:nvPr/>
        </p:nvSpPr>
        <p:spPr>
          <a:xfrm>
            <a:off x="6537960" y="3879360"/>
            <a:ext cx="2923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23"/>
          <p:cNvSpPr/>
          <p:nvPr/>
        </p:nvSpPr>
        <p:spPr>
          <a:xfrm>
            <a:off x="6885360" y="3861000"/>
            <a:ext cx="4269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Мораль как основа управления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24"/>
          <p:cNvSpPr/>
          <p:nvPr/>
        </p:nvSpPr>
        <p:spPr>
          <a:xfrm>
            <a:off x="6537960" y="4358520"/>
            <a:ext cx="2923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25"/>
          <p:cNvSpPr/>
          <p:nvPr/>
        </p:nvSpPr>
        <p:spPr>
          <a:xfrm>
            <a:off x="6885360" y="4340520"/>
            <a:ext cx="426996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Кун Цю, Мэн-цзы, Сюнь-цзы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 26"/>
          <p:cNvSpPr/>
          <p:nvPr/>
        </p:nvSpPr>
        <p:spPr>
          <a:xfrm>
            <a:off x="6537960" y="4965840"/>
            <a:ext cx="731160" cy="1260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27"/>
          <p:cNvSpPr/>
          <p:nvPr/>
        </p:nvSpPr>
        <p:spPr>
          <a:xfrm>
            <a:off x="6537960" y="5167080"/>
            <a:ext cx="4617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i="1" lang="en-US" sz="1450" spc="-1" strike="noStrike">
                <a:solidFill>
                  <a:srgbClr val="4a4942"/>
                </a:solidFill>
                <a:latin typeface="Arial"/>
              </a:rPr>
              <a:t>Смотрит вокруг — на отношения между людьми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Box 28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СУТЬ РАЗЛИЧИЯ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29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" descr="green-full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68" name="TextBox 2"/>
          <p:cNvSpPr/>
          <p:nvPr/>
        </p:nvSpPr>
        <p:spPr>
          <a:xfrm>
            <a:off x="7985520" y="1051560"/>
            <a:ext cx="3291480" cy="24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zh-CN" sz="12800" spc="-1" strike="noStrike">
                <a:solidFill>
                  <a:srgbClr val="3b493d"/>
                </a:solidFill>
                <a:latin typeface="Arial"/>
              </a:rPr>
              <a:t>道</a:t>
            </a:r>
            <a:endParaRPr b="0" lang="en-US" sz="1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868680" y="2084760"/>
            <a:ext cx="64004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00" spc="338" strike="noStrike">
                <a:solidFill>
                  <a:srgbClr val="9aa697"/>
                </a:solidFill>
                <a:latin typeface="Arial"/>
              </a:rPr>
              <a:t>ЧАСТЬ ПЕРВАЯ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4"/>
          <p:cNvSpPr/>
          <p:nvPr/>
        </p:nvSpPr>
        <p:spPr>
          <a:xfrm>
            <a:off x="868680" y="2487240"/>
            <a:ext cx="768060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600" spc="199" strike="noStrike">
                <a:solidFill>
                  <a:srgbClr val="ede9e1"/>
                </a:solidFill>
                <a:latin typeface="Arial"/>
              </a:rPr>
              <a:t>ДАОСИЗМ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 5"/>
          <p:cNvSpPr/>
          <p:nvPr/>
        </p:nvSpPr>
        <p:spPr>
          <a:xfrm>
            <a:off x="868680" y="3639240"/>
            <a:ext cx="155412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6"/>
          <p:cNvSpPr/>
          <p:nvPr/>
        </p:nvSpPr>
        <p:spPr>
          <a:xfrm>
            <a:off x="868680" y="3858840"/>
            <a:ext cx="640044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700" spc="58" strike="noStrike">
                <a:solidFill>
                  <a:srgbClr val="c2cbbf"/>
                </a:solidFill>
                <a:latin typeface="Arial"/>
              </a:rPr>
              <a:t>Учение о Пути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7"/>
          <p:cNvSpPr/>
          <p:nvPr/>
        </p:nvSpPr>
        <p:spPr>
          <a:xfrm>
            <a:off x="868680" y="4883040"/>
            <a:ext cx="3164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8"/>
          <p:cNvSpPr/>
          <p:nvPr/>
        </p:nvSpPr>
        <p:spPr>
          <a:xfrm>
            <a:off x="868680" y="5139000"/>
            <a:ext cx="31644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Лао-цзы: биография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Box 9"/>
          <p:cNvSpPr/>
          <p:nvPr/>
        </p:nvSpPr>
        <p:spPr>
          <a:xfrm>
            <a:off x="4353480" y="4883040"/>
            <a:ext cx="3164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10"/>
          <p:cNvSpPr/>
          <p:nvPr/>
        </p:nvSpPr>
        <p:spPr>
          <a:xfrm>
            <a:off x="4353480" y="5139000"/>
            <a:ext cx="31644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Дао и Дэ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11"/>
          <p:cNvSpPr/>
          <p:nvPr/>
        </p:nvSpPr>
        <p:spPr>
          <a:xfrm>
            <a:off x="7838280" y="4883040"/>
            <a:ext cx="3164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2"/>
          <p:cNvSpPr/>
          <p:nvPr/>
        </p:nvSpPr>
        <p:spPr>
          <a:xfrm>
            <a:off x="7838280" y="5139000"/>
            <a:ext cx="31644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Концепция недеяния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3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b9c2b6"/>
                </a:solidFill>
                <a:latin typeface="Arial"/>
              </a:rPr>
              <a:t>ДАОСИЗМ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14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b9c2b6"/>
                </a:solidFill>
                <a:latin typeface="Arial"/>
              </a:rPr>
              <a:t>05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182" name="TextBox 2"/>
          <p:cNvSpPr/>
          <p:nvPr/>
        </p:nvSpPr>
        <p:spPr>
          <a:xfrm>
            <a:off x="868680" y="713160"/>
            <a:ext cx="6400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ДАОСИЗМ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868680" y="1097280"/>
            <a:ext cx="6400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ЛАО-ЦЗЫ: БИОГРАФИЯ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5"/>
          <p:cNvSpPr/>
          <p:nvPr/>
        </p:nvSpPr>
        <p:spPr>
          <a:xfrm>
            <a:off x="868680" y="2120040"/>
            <a:ext cx="60346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i="1" lang="en-US" sz="1600" spc="-1" strike="noStrike">
                <a:solidFill>
                  <a:srgbClr val="2c382f"/>
                </a:solidFill>
                <a:latin typeface="Arial"/>
              </a:rPr>
              <a:t>Достоверных сведений почти нет — есть легенда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6"/>
          <p:cNvSpPr/>
          <p:nvPr/>
        </p:nvSpPr>
        <p:spPr>
          <a:xfrm>
            <a:off x="868680" y="268488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7"/>
          <p:cNvSpPr/>
          <p:nvPr/>
        </p:nvSpPr>
        <p:spPr>
          <a:xfrm>
            <a:off x="1271160" y="266652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Деревня «Искривлённая доброта» уезда «Горький»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8"/>
          <p:cNvSpPr/>
          <p:nvPr/>
        </p:nvSpPr>
        <p:spPr>
          <a:xfrm>
            <a:off x="868680" y="319068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9"/>
          <p:cNvSpPr/>
          <p:nvPr/>
        </p:nvSpPr>
        <p:spPr>
          <a:xfrm>
            <a:off x="1271160" y="317232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81 год в чреве матери — вышел уже стариком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10"/>
          <p:cNvSpPr/>
          <p:nvPr/>
        </p:nvSpPr>
        <p:spPr>
          <a:xfrm>
            <a:off x="868680" y="36968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11"/>
          <p:cNvSpPr/>
          <p:nvPr/>
        </p:nvSpPr>
        <p:spPr>
          <a:xfrm>
            <a:off x="1271160" y="367848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Имя: «Старый учитель» и «Вечный ребёнок»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12"/>
          <p:cNvSpPr/>
          <p:nvPr/>
        </p:nvSpPr>
        <p:spPr>
          <a:xfrm>
            <a:off x="868680" y="42026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13"/>
          <p:cNvSpPr/>
          <p:nvPr/>
        </p:nvSpPr>
        <p:spPr>
          <a:xfrm>
            <a:off x="1271160" y="418428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Архивариус при дворе правителя Чжоу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14"/>
          <p:cNvSpPr/>
          <p:nvPr/>
        </p:nvSpPr>
        <p:spPr>
          <a:xfrm>
            <a:off x="868680" y="470880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15"/>
          <p:cNvSpPr/>
          <p:nvPr/>
        </p:nvSpPr>
        <p:spPr>
          <a:xfrm>
            <a:off x="1271160" y="469044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Ушёл на запад на чёрном быке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6" name="Picture 16" descr="laozi-ox-color.png"/>
          <p:cNvPicPr/>
          <p:nvPr/>
        </p:nvPicPr>
        <p:blipFill>
          <a:blip r:embed="rId2"/>
          <a:stretch/>
        </p:blipFill>
        <p:spPr>
          <a:xfrm>
            <a:off x="8088480" y="1170360"/>
            <a:ext cx="2460960" cy="3840120"/>
          </a:xfrm>
          <a:prstGeom prst="rect">
            <a:avLst/>
          </a:prstGeom>
          <a:ln w="0">
            <a:noFill/>
          </a:ln>
        </p:spPr>
      </p:pic>
      <p:sp>
        <p:nvSpPr>
          <p:cNvPr id="197" name="TextBox 17"/>
          <p:cNvSpPr/>
          <p:nvPr/>
        </p:nvSpPr>
        <p:spPr>
          <a:xfrm>
            <a:off x="7315200" y="5157360"/>
            <a:ext cx="40075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30000"/>
              </a:lnSpc>
            </a:pPr>
            <a:r>
              <a:rPr b="0" lang="en-US" sz="1050" spc="-1" strike="noStrike">
                <a:solidFill>
                  <a:srgbClr val="8a8578"/>
                </a:solidFill>
                <a:latin typeface="Arial"/>
              </a:rPr>
              <a:t>Лао-цзы верхом на быке. Традиционная живопись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ectangle 18"/>
          <p:cNvSpPr/>
          <p:nvPr/>
        </p:nvSpPr>
        <p:spPr>
          <a:xfrm>
            <a:off x="868680" y="556884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Rectangle 19"/>
          <p:cNvSpPr/>
          <p:nvPr/>
        </p:nvSpPr>
        <p:spPr>
          <a:xfrm>
            <a:off x="868680" y="5770080"/>
            <a:ext cx="25200" cy="282960"/>
          </a:xfrm>
          <a:prstGeom prst="rect">
            <a:avLst/>
          </a:prstGeom>
          <a:solidFill>
            <a:srgbClr val="2c38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TextBox 20"/>
          <p:cNvSpPr/>
          <p:nvPr/>
        </p:nvSpPr>
        <p:spPr>
          <a:xfrm>
            <a:off x="1143000" y="5770080"/>
            <a:ext cx="101430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450" spc="-1" strike="noStrike">
                <a:solidFill>
                  <a:srgbClr val="2c382f"/>
                </a:solidFill>
                <a:latin typeface="Arial"/>
              </a:rPr>
              <a:t>«Дао дэ цзин» — трактат в пять тысяч иероглифов, написанный в один присест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21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ДАОСИЗМ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22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04" name="TextBox 2"/>
          <p:cNvSpPr/>
          <p:nvPr/>
        </p:nvSpPr>
        <p:spPr>
          <a:xfrm>
            <a:off x="868680" y="7131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ДАОСИЗМ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3"/>
          <p:cNvSpPr/>
          <p:nvPr/>
        </p:nvSpPr>
        <p:spPr>
          <a:xfrm>
            <a:off x="868680" y="10972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ДАО И ДЭ — УЧЕНИЕ О ПУТИ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7" name="Picture 5" descr="taiji.png"/>
          <p:cNvPicPr/>
          <p:nvPr/>
        </p:nvPicPr>
        <p:blipFill>
          <a:blip r:embed="rId2"/>
          <a:stretch/>
        </p:blipFill>
        <p:spPr>
          <a:xfrm>
            <a:off x="10051560" y="658440"/>
            <a:ext cx="1216800" cy="1828440"/>
          </a:xfrm>
          <a:prstGeom prst="rect">
            <a:avLst/>
          </a:prstGeom>
          <a:ln w="0">
            <a:noFill/>
          </a:ln>
        </p:spPr>
      </p:pic>
      <p:sp>
        <p:nvSpPr>
          <p:cNvPr id="208" name="TextBox 6"/>
          <p:cNvSpPr/>
          <p:nvPr/>
        </p:nvSpPr>
        <p:spPr>
          <a:xfrm>
            <a:off x="868680" y="2165760"/>
            <a:ext cx="9140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4200" spc="-1" strike="noStrike">
                <a:solidFill>
                  <a:srgbClr val="bfb8a8"/>
                </a:solidFill>
                <a:latin typeface="Arial"/>
              </a:rPr>
              <a:t>道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7"/>
          <p:cNvSpPr/>
          <p:nvPr/>
        </p:nvSpPr>
        <p:spPr>
          <a:xfrm>
            <a:off x="1801440" y="2257200"/>
            <a:ext cx="36846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600" spc="199" strike="noStrike">
                <a:solidFill>
                  <a:srgbClr val="2c382f"/>
                </a:solidFill>
                <a:latin typeface="Arial"/>
              </a:rPr>
              <a:t>ДАО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8"/>
          <p:cNvSpPr/>
          <p:nvPr/>
        </p:nvSpPr>
        <p:spPr>
          <a:xfrm>
            <a:off x="1801440" y="2787480"/>
            <a:ext cx="368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219" strike="noStrike">
                <a:solidFill>
                  <a:srgbClr val="8a8578"/>
                </a:solidFill>
                <a:latin typeface="Arial"/>
              </a:rPr>
              <a:t>Сущность бытия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9"/>
          <p:cNvSpPr/>
          <p:nvPr/>
        </p:nvSpPr>
        <p:spPr>
          <a:xfrm>
            <a:off x="868680" y="3171600"/>
            <a:ext cx="461736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10"/>
          <p:cNvSpPr/>
          <p:nvPr/>
        </p:nvSpPr>
        <p:spPr>
          <a:xfrm>
            <a:off x="868680" y="3372480"/>
            <a:ext cx="29232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11"/>
          <p:cNvSpPr/>
          <p:nvPr/>
        </p:nvSpPr>
        <p:spPr>
          <a:xfrm>
            <a:off x="1197720" y="3354480"/>
            <a:ext cx="4288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Буквально — путь, дорога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12"/>
          <p:cNvSpPr/>
          <p:nvPr/>
        </p:nvSpPr>
        <p:spPr>
          <a:xfrm>
            <a:off x="868680" y="3825360"/>
            <a:ext cx="29232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3"/>
          <p:cNvSpPr/>
          <p:nvPr/>
        </p:nvSpPr>
        <p:spPr>
          <a:xfrm>
            <a:off x="1197720" y="3807000"/>
            <a:ext cx="4288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Великий путь, по которому следует вселенная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4"/>
          <p:cNvSpPr/>
          <p:nvPr/>
        </p:nvSpPr>
        <p:spPr>
          <a:xfrm>
            <a:off x="868680" y="4277880"/>
            <a:ext cx="29232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15"/>
          <p:cNvSpPr/>
          <p:nvPr/>
        </p:nvSpPr>
        <p:spPr>
          <a:xfrm>
            <a:off x="1197720" y="4259520"/>
            <a:ext cx="4288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Всеобщий закон и абсолют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Box 16"/>
          <p:cNvSpPr/>
          <p:nvPr/>
        </p:nvSpPr>
        <p:spPr>
          <a:xfrm>
            <a:off x="868680" y="4730400"/>
            <a:ext cx="29232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17"/>
          <p:cNvSpPr/>
          <p:nvPr/>
        </p:nvSpPr>
        <p:spPr>
          <a:xfrm>
            <a:off x="1197720" y="4712040"/>
            <a:ext cx="4288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Безгранично, питает собой Дэ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8"/>
          <p:cNvSpPr/>
          <p:nvPr/>
        </p:nvSpPr>
        <p:spPr>
          <a:xfrm>
            <a:off x="6537960" y="2165760"/>
            <a:ext cx="91404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4200" spc="-1" strike="noStrike">
                <a:solidFill>
                  <a:srgbClr val="bfb8a8"/>
                </a:solidFill>
                <a:latin typeface="Arial"/>
              </a:rPr>
              <a:t>德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19"/>
          <p:cNvSpPr/>
          <p:nvPr/>
        </p:nvSpPr>
        <p:spPr>
          <a:xfrm>
            <a:off x="7470720" y="2257200"/>
            <a:ext cx="3684600" cy="49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600" spc="199" strike="noStrike">
                <a:solidFill>
                  <a:srgbClr val="2c382f"/>
                </a:solidFill>
                <a:latin typeface="Arial"/>
              </a:rPr>
              <a:t>ДЭ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Box 20"/>
          <p:cNvSpPr/>
          <p:nvPr/>
        </p:nvSpPr>
        <p:spPr>
          <a:xfrm>
            <a:off x="7470720" y="2787480"/>
            <a:ext cx="3684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219" strike="noStrike">
                <a:solidFill>
                  <a:srgbClr val="8a8578"/>
                </a:solidFill>
                <a:latin typeface="Arial"/>
              </a:rPr>
              <a:t>Проявление Дао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 21"/>
          <p:cNvSpPr/>
          <p:nvPr/>
        </p:nvSpPr>
        <p:spPr>
          <a:xfrm>
            <a:off x="6537960" y="3171600"/>
            <a:ext cx="461736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4" name="TextBox 22"/>
          <p:cNvSpPr/>
          <p:nvPr/>
        </p:nvSpPr>
        <p:spPr>
          <a:xfrm>
            <a:off x="6537960" y="3372480"/>
            <a:ext cx="29232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23"/>
          <p:cNvSpPr/>
          <p:nvPr/>
        </p:nvSpPr>
        <p:spPr>
          <a:xfrm>
            <a:off x="6867000" y="3354480"/>
            <a:ext cx="4288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Благо, через которое Дао себя проявляет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Box 24"/>
          <p:cNvSpPr/>
          <p:nvPr/>
        </p:nvSpPr>
        <p:spPr>
          <a:xfrm>
            <a:off x="6537960" y="3825360"/>
            <a:ext cx="29232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25"/>
          <p:cNvSpPr/>
          <p:nvPr/>
        </p:nvSpPr>
        <p:spPr>
          <a:xfrm>
            <a:off x="6867000" y="3807000"/>
            <a:ext cx="4288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Конкретный способ бытия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26"/>
          <p:cNvSpPr/>
          <p:nvPr/>
        </p:nvSpPr>
        <p:spPr>
          <a:xfrm>
            <a:off x="6537960" y="4277880"/>
            <a:ext cx="29232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27"/>
          <p:cNvSpPr/>
          <p:nvPr/>
        </p:nvSpPr>
        <p:spPr>
          <a:xfrm>
            <a:off x="6867000" y="4259520"/>
            <a:ext cx="4288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Ближе к человеку и его поступкам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28"/>
          <p:cNvSpPr/>
          <p:nvPr/>
        </p:nvSpPr>
        <p:spPr>
          <a:xfrm>
            <a:off x="6537960" y="4730400"/>
            <a:ext cx="292320" cy="26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4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29"/>
          <p:cNvSpPr/>
          <p:nvPr/>
        </p:nvSpPr>
        <p:spPr>
          <a:xfrm>
            <a:off x="6867000" y="4712040"/>
            <a:ext cx="428832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Определено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Rectangle 30"/>
          <p:cNvSpPr/>
          <p:nvPr/>
        </p:nvSpPr>
        <p:spPr>
          <a:xfrm>
            <a:off x="868680" y="553356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3" name="TextBox 31"/>
          <p:cNvSpPr/>
          <p:nvPr/>
        </p:nvSpPr>
        <p:spPr>
          <a:xfrm>
            <a:off x="868680" y="5752800"/>
            <a:ext cx="1045404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5000"/>
              </a:lnSpc>
            </a:pPr>
            <a:r>
              <a:rPr b="0" i="1" lang="en-US" sz="1550" spc="-1" strike="noStrike">
                <a:solidFill>
                  <a:srgbClr val="2c382f"/>
                </a:solidFill>
                <a:latin typeface="Arial"/>
              </a:rPr>
              <a:t>«Тот, кто в делах следует Дао и очищает свой дух, вступает в союз с силой Дэ»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32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ДАОСИЗМ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33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07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1" descr="paper-quot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37" name="TextBox 2"/>
          <p:cNvSpPr/>
          <p:nvPr/>
        </p:nvSpPr>
        <p:spPr>
          <a:xfrm>
            <a:off x="868680" y="960120"/>
            <a:ext cx="82292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ДАОСИЗМ · ЦИТАТЫ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3"/>
          <p:cNvSpPr/>
          <p:nvPr/>
        </p:nvSpPr>
        <p:spPr>
          <a:xfrm>
            <a:off x="1417320" y="2331720"/>
            <a:ext cx="9326520" cy="24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«Дерево толщиной в обхват вырастает из крошечного зёрнышка.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Башня в девять этажей вырастает из груды земли.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Путь длиной в тысячу ли начинается у тебя под ногами.»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Rectangle 4"/>
          <p:cNvSpPr/>
          <p:nvPr/>
        </p:nvSpPr>
        <p:spPr>
          <a:xfrm>
            <a:off x="5730120" y="4166640"/>
            <a:ext cx="7311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868680" y="4386240"/>
            <a:ext cx="1045404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5000"/>
              </a:lnSpc>
            </a:pPr>
            <a:r>
              <a:rPr b="0" lang="en-US" sz="1300" spc="338" strike="noStrike">
                <a:solidFill>
                  <a:srgbClr val="2c382f"/>
                </a:solidFill>
                <a:latin typeface="Arial"/>
              </a:rPr>
              <a:t>ЛАО-ЦЗЫ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Box 6"/>
          <p:cNvSpPr/>
          <p:nvPr/>
        </p:nvSpPr>
        <p:spPr>
          <a:xfrm>
            <a:off x="1417320" y="5007960"/>
            <a:ext cx="93265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34000"/>
              </a:lnSpc>
            </a:pPr>
            <a:r>
              <a:rPr b="0" i="1" lang="en-US" sz="1500" spc="-1" strike="noStrike">
                <a:solidFill>
                  <a:srgbClr val="4a4942"/>
                </a:solidFill>
                <a:latin typeface="Arial"/>
              </a:rPr>
              <a:t>«Осуществляй то, чего ещё нет, управляй тем, что ещё не противится»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7"/>
          <p:cNvSpPr/>
          <p:nvPr/>
        </p:nvSpPr>
        <p:spPr>
          <a:xfrm>
            <a:off x="1417320" y="5500800"/>
            <a:ext cx="932652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30000"/>
              </a:lnSpc>
            </a:pPr>
            <a:r>
              <a:rPr b="0" lang="en-US" sz="1250" spc="-1" strike="noStrike">
                <a:solidFill>
                  <a:srgbClr val="8a8578"/>
                </a:solidFill>
                <a:latin typeface="Arial"/>
              </a:rPr>
              <a:t>Великое рождается из малого: действие согласуется с ходом вещей, а не навязано ему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8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ДАОСИЗМ · ЦИТАТЫ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9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08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46" name="TextBox 2"/>
          <p:cNvSpPr/>
          <p:nvPr/>
        </p:nvSpPr>
        <p:spPr>
          <a:xfrm>
            <a:off x="868680" y="713160"/>
            <a:ext cx="6400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ДАОСИЗМ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3"/>
          <p:cNvSpPr/>
          <p:nvPr/>
        </p:nvSpPr>
        <p:spPr>
          <a:xfrm>
            <a:off x="868680" y="1097280"/>
            <a:ext cx="6400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КОНЦЕПЦИЯ НЕДЕЯНИЯ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9" name="TextBox 5"/>
          <p:cNvSpPr/>
          <p:nvPr/>
        </p:nvSpPr>
        <p:spPr>
          <a:xfrm>
            <a:off x="868680" y="2120040"/>
            <a:ext cx="6034680" cy="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i="1" lang="en-US" sz="1600" spc="-1" strike="noStrike">
                <a:solidFill>
                  <a:srgbClr val="2c382f"/>
                </a:solidFill>
                <a:latin typeface="Arial"/>
              </a:rPr>
              <a:t>У-ВЭЙ — отрицание деятельности, идущей вразрез с миропорядком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6"/>
          <p:cNvSpPr/>
          <p:nvPr/>
        </p:nvSpPr>
        <p:spPr>
          <a:xfrm>
            <a:off x="868680" y="29570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7"/>
          <p:cNvSpPr/>
          <p:nvPr/>
        </p:nvSpPr>
        <p:spPr>
          <a:xfrm>
            <a:off x="1271160" y="2938680"/>
            <a:ext cx="56322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Не бездействие, а отказ от насилия над естественным ходом вещей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8"/>
          <p:cNvSpPr/>
          <p:nvPr/>
        </p:nvSpPr>
        <p:spPr>
          <a:xfrm>
            <a:off x="868680" y="373140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9"/>
          <p:cNvSpPr/>
          <p:nvPr/>
        </p:nvSpPr>
        <p:spPr>
          <a:xfrm>
            <a:off x="1271160" y="3713040"/>
            <a:ext cx="56322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Лучший государь — тот, который ничего не делает для подданных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10"/>
          <p:cNvSpPr/>
          <p:nvPr/>
        </p:nvSpPr>
        <p:spPr>
          <a:xfrm>
            <a:off x="868680" y="450540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1"/>
          <p:cNvSpPr/>
          <p:nvPr/>
        </p:nvSpPr>
        <p:spPr>
          <a:xfrm>
            <a:off x="1271160" y="4487040"/>
            <a:ext cx="56322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Задача власти — гармонизировать отношения и предотвращать смуту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12"/>
          <p:cNvSpPr/>
          <p:nvPr/>
        </p:nvSpPr>
        <p:spPr>
          <a:xfrm>
            <a:off x="868680" y="527976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13"/>
          <p:cNvSpPr/>
          <p:nvPr/>
        </p:nvSpPr>
        <p:spPr>
          <a:xfrm>
            <a:off x="1271160" y="526140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Подданные сами разберутся, что им делать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Picture 14" descr="laozi-statue.jpg"/>
          <p:cNvPicPr/>
          <p:nvPr/>
        </p:nvPicPr>
        <p:blipFill>
          <a:blip r:embed="rId2"/>
          <a:srcRect l="10866" t="0" r="10866" b="0"/>
          <a:stretch/>
        </p:blipFill>
        <p:spPr>
          <a:xfrm>
            <a:off x="7315200" y="1170360"/>
            <a:ext cx="4007520" cy="3840120"/>
          </a:xfrm>
          <a:prstGeom prst="rect">
            <a:avLst/>
          </a:prstGeom>
          <a:ln w="0">
            <a:noFill/>
          </a:ln>
        </p:spPr>
      </p:pic>
      <p:sp>
        <p:nvSpPr>
          <p:cNvPr id="259" name="TextBox 15"/>
          <p:cNvSpPr/>
          <p:nvPr/>
        </p:nvSpPr>
        <p:spPr>
          <a:xfrm>
            <a:off x="7315200" y="5157360"/>
            <a:ext cx="40075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050" spc="-1" strike="noStrike">
                <a:solidFill>
                  <a:srgbClr val="8a8578"/>
                </a:solidFill>
                <a:latin typeface="Arial"/>
              </a:rPr>
              <a:t>Каменная скульптура Лао-цзы к северу от г. Цюаньчжоу, Китай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ectangle 16"/>
          <p:cNvSpPr/>
          <p:nvPr/>
        </p:nvSpPr>
        <p:spPr>
          <a:xfrm>
            <a:off x="868680" y="556884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Rectangle 17"/>
          <p:cNvSpPr/>
          <p:nvPr/>
        </p:nvSpPr>
        <p:spPr>
          <a:xfrm>
            <a:off x="868680" y="5770080"/>
            <a:ext cx="25200" cy="282960"/>
          </a:xfrm>
          <a:prstGeom prst="rect">
            <a:avLst/>
          </a:prstGeom>
          <a:solidFill>
            <a:srgbClr val="2c38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18"/>
          <p:cNvSpPr/>
          <p:nvPr/>
        </p:nvSpPr>
        <p:spPr>
          <a:xfrm>
            <a:off x="1143000" y="5770080"/>
            <a:ext cx="101430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450" spc="-1" strike="noStrike">
                <a:solidFill>
                  <a:srgbClr val="2c382f"/>
                </a:solidFill>
                <a:latin typeface="Arial"/>
              </a:rPr>
              <a:t>Идеальная власть — почти незаметна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19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ДАОСИЗМ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Box 20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09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66" name="TextBox 2"/>
          <p:cNvSpPr/>
          <p:nvPr/>
        </p:nvSpPr>
        <p:spPr>
          <a:xfrm>
            <a:off x="868680" y="713160"/>
            <a:ext cx="676620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ПЕРЕЛОМ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868680" y="1097280"/>
            <a:ext cx="676620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НОВОЕ ВРЕМЯ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КИТАЙСКОЙ ФИЛОСОФИИ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ectangle 4"/>
          <p:cNvSpPr/>
          <p:nvPr/>
        </p:nvSpPr>
        <p:spPr>
          <a:xfrm>
            <a:off x="868680" y="215496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5"/>
          <p:cNvSpPr/>
          <p:nvPr/>
        </p:nvSpPr>
        <p:spPr>
          <a:xfrm>
            <a:off x="868680" y="2539080"/>
            <a:ext cx="60346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i="1" lang="en-US" sz="1600" spc="-1" strike="noStrike">
                <a:solidFill>
                  <a:srgbClr val="2c382f"/>
                </a:solidFill>
                <a:latin typeface="Arial"/>
              </a:rPr>
              <a:t>с 1000 года н. э.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6"/>
          <p:cNvSpPr/>
          <p:nvPr/>
        </p:nvSpPr>
        <p:spPr>
          <a:xfrm>
            <a:off x="868680" y="3103920"/>
            <a:ext cx="29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7"/>
          <p:cNvSpPr/>
          <p:nvPr/>
        </p:nvSpPr>
        <p:spPr>
          <a:xfrm>
            <a:off x="1271160" y="3085560"/>
            <a:ext cx="56322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50" spc="-1" strike="noStrike">
                <a:solidFill>
                  <a:srgbClr val="2a2a24"/>
                </a:solidFill>
                <a:latin typeface="Arial"/>
              </a:rPr>
              <a:t>Ослабевает интерес к философии Дао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8"/>
          <p:cNvSpPr/>
          <p:nvPr/>
        </p:nvSpPr>
        <p:spPr>
          <a:xfrm>
            <a:off x="868680" y="3618360"/>
            <a:ext cx="29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9"/>
          <p:cNvSpPr/>
          <p:nvPr/>
        </p:nvSpPr>
        <p:spPr>
          <a:xfrm>
            <a:off x="1271160" y="3600000"/>
            <a:ext cx="563220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50" spc="-1" strike="noStrike">
                <a:solidFill>
                  <a:srgbClr val="2a2a24"/>
                </a:solidFill>
                <a:latin typeface="Arial"/>
              </a:rPr>
              <a:t>Догматизация конфуцианства — до религиозного почитания учения и его основателя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10"/>
          <p:cNvSpPr/>
          <p:nvPr/>
        </p:nvSpPr>
        <p:spPr>
          <a:xfrm>
            <a:off x="868680" y="4409280"/>
            <a:ext cx="29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Box 11"/>
          <p:cNvSpPr/>
          <p:nvPr/>
        </p:nvSpPr>
        <p:spPr>
          <a:xfrm>
            <a:off x="1271160" y="4390920"/>
            <a:ext cx="5632200" cy="33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50" spc="-1" strike="noStrike">
                <a:solidFill>
                  <a:srgbClr val="2a2a24"/>
                </a:solidFill>
                <a:latin typeface="Arial"/>
              </a:rPr>
              <a:t>Проникновение в Китай буддизма и христианства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Picture 12" descr="pagoda.jpg"/>
          <p:cNvPicPr/>
          <p:nvPr/>
        </p:nvPicPr>
        <p:blipFill>
          <a:blip r:embed="rId2"/>
          <a:srcRect l="0" t="346" r="0" b="346"/>
          <a:stretch/>
        </p:blipFill>
        <p:spPr>
          <a:xfrm>
            <a:off x="7315200" y="1170360"/>
            <a:ext cx="4007520" cy="3949920"/>
          </a:xfrm>
          <a:prstGeom prst="rect">
            <a:avLst/>
          </a:prstGeom>
          <a:ln w="0">
            <a:noFill/>
          </a:ln>
        </p:spPr>
      </p:pic>
      <p:sp>
        <p:nvSpPr>
          <p:cNvPr id="277" name="Rectangle 13"/>
          <p:cNvSpPr/>
          <p:nvPr/>
        </p:nvSpPr>
        <p:spPr>
          <a:xfrm>
            <a:off x="868680" y="556884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Rectangle 14"/>
          <p:cNvSpPr/>
          <p:nvPr/>
        </p:nvSpPr>
        <p:spPr>
          <a:xfrm>
            <a:off x="868680" y="5770080"/>
            <a:ext cx="25200" cy="282960"/>
          </a:xfrm>
          <a:prstGeom prst="rect">
            <a:avLst/>
          </a:prstGeom>
          <a:solidFill>
            <a:srgbClr val="2c38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15"/>
          <p:cNvSpPr/>
          <p:nvPr/>
        </p:nvSpPr>
        <p:spPr>
          <a:xfrm>
            <a:off x="1143000" y="5770080"/>
            <a:ext cx="101430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450" spc="-1" strike="noStrike">
                <a:solidFill>
                  <a:srgbClr val="2c382f"/>
                </a:solidFill>
                <a:latin typeface="Arial"/>
              </a:rPr>
              <a:t>Конфуцианство надолго становится главной государственной идеологией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16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ПЕРЕЛОМ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17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10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1" descr="green-full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83" name="TextBox 2"/>
          <p:cNvSpPr/>
          <p:nvPr/>
        </p:nvSpPr>
        <p:spPr>
          <a:xfrm>
            <a:off x="7985520" y="1051560"/>
            <a:ext cx="3291480" cy="24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zh-CN" sz="12800" spc="-1" strike="noStrike">
                <a:solidFill>
                  <a:srgbClr val="3b493d"/>
                </a:solidFill>
                <a:latin typeface="Arial"/>
              </a:rPr>
              <a:t>儒</a:t>
            </a:r>
            <a:endParaRPr b="0" lang="en-US" sz="1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3"/>
          <p:cNvSpPr/>
          <p:nvPr/>
        </p:nvSpPr>
        <p:spPr>
          <a:xfrm>
            <a:off x="868680" y="2084760"/>
            <a:ext cx="64004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00" spc="338" strike="noStrike">
                <a:solidFill>
                  <a:srgbClr val="9aa697"/>
                </a:solidFill>
                <a:latin typeface="Arial"/>
              </a:rPr>
              <a:t>ЧАСТЬ ВТОРАЯ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4"/>
          <p:cNvSpPr/>
          <p:nvPr/>
        </p:nvSpPr>
        <p:spPr>
          <a:xfrm>
            <a:off x="868680" y="2487240"/>
            <a:ext cx="7680600" cy="87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600" spc="199" strike="noStrike">
                <a:solidFill>
                  <a:srgbClr val="ede9e1"/>
                </a:solidFill>
                <a:latin typeface="Arial"/>
              </a:rPr>
              <a:t>КОНФУЦИАНСТВО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Rectangle 5"/>
          <p:cNvSpPr/>
          <p:nvPr/>
        </p:nvSpPr>
        <p:spPr>
          <a:xfrm>
            <a:off x="868680" y="3639240"/>
            <a:ext cx="155412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6"/>
          <p:cNvSpPr/>
          <p:nvPr/>
        </p:nvSpPr>
        <p:spPr>
          <a:xfrm>
            <a:off x="868680" y="3858840"/>
            <a:ext cx="6400440" cy="32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700" spc="58" strike="noStrike">
                <a:solidFill>
                  <a:srgbClr val="c2cbbf"/>
                </a:solidFill>
                <a:latin typeface="Arial"/>
              </a:rPr>
              <a:t>Кун Цю · 551—479 гг. до н. э.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7"/>
          <p:cNvSpPr/>
          <p:nvPr/>
        </p:nvSpPr>
        <p:spPr>
          <a:xfrm>
            <a:off x="868680" y="4883040"/>
            <a:ext cx="2293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Box 8"/>
          <p:cNvSpPr/>
          <p:nvPr/>
        </p:nvSpPr>
        <p:spPr>
          <a:xfrm>
            <a:off x="868680" y="5139000"/>
            <a:ext cx="22932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Конфуций: биография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9"/>
          <p:cNvSpPr/>
          <p:nvPr/>
        </p:nvSpPr>
        <p:spPr>
          <a:xfrm>
            <a:off x="3482280" y="4883040"/>
            <a:ext cx="2293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10"/>
          <p:cNvSpPr/>
          <p:nvPr/>
        </p:nvSpPr>
        <p:spPr>
          <a:xfrm>
            <a:off x="3482280" y="5139000"/>
            <a:ext cx="22932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Знание и природа человека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Box 11"/>
          <p:cNvSpPr/>
          <p:nvPr/>
        </p:nvSpPr>
        <p:spPr>
          <a:xfrm>
            <a:off x="6095880" y="4883040"/>
            <a:ext cx="2293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12"/>
          <p:cNvSpPr/>
          <p:nvPr/>
        </p:nvSpPr>
        <p:spPr>
          <a:xfrm>
            <a:off x="6095880" y="5139000"/>
            <a:ext cx="22932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Благородный муж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Box 13"/>
          <p:cNvSpPr/>
          <p:nvPr/>
        </p:nvSpPr>
        <p:spPr>
          <a:xfrm>
            <a:off x="8709480" y="4883040"/>
            <a:ext cx="22932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14"/>
          <p:cNvSpPr/>
          <p:nvPr/>
        </p:nvSpPr>
        <p:spPr>
          <a:xfrm>
            <a:off x="8709480" y="5139000"/>
            <a:ext cx="229320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50" spc="-1" strike="noStrike">
                <a:solidFill>
                  <a:srgbClr val="d3d8cf"/>
                </a:solidFill>
                <a:latin typeface="Arial"/>
              </a:rPr>
              <a:t>Государство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15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b9c2b6"/>
                </a:solidFill>
                <a:latin typeface="Arial"/>
              </a:rPr>
              <a:t>КОНФУЦИАНСТВО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16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b9c2b6"/>
                </a:solidFill>
                <a:latin typeface="Arial"/>
              </a:rPr>
              <a:t>11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299" name="TextBox 2"/>
          <p:cNvSpPr/>
          <p:nvPr/>
        </p:nvSpPr>
        <p:spPr>
          <a:xfrm>
            <a:off x="868680" y="713160"/>
            <a:ext cx="6400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КОНФУЦИАНСТВО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Box 3"/>
          <p:cNvSpPr/>
          <p:nvPr/>
        </p:nvSpPr>
        <p:spPr>
          <a:xfrm>
            <a:off x="868680" y="1097280"/>
            <a:ext cx="6400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КОНФУЦИЙ: БИОГРАФИЯ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5"/>
          <p:cNvSpPr/>
          <p:nvPr/>
        </p:nvSpPr>
        <p:spPr>
          <a:xfrm>
            <a:off x="868680" y="2120040"/>
            <a:ext cx="6034680" cy="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i="1" lang="en-US" sz="1600" spc="-1" strike="noStrike">
                <a:solidFill>
                  <a:srgbClr val="2c382f"/>
                </a:solidFill>
                <a:latin typeface="Arial"/>
              </a:rPr>
              <a:t>Кун Цю — в литературе Кун-цзы, Кун Фу-цзы или просто Цзы, «Учитель»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6"/>
          <p:cNvSpPr/>
          <p:nvPr/>
        </p:nvSpPr>
        <p:spPr>
          <a:xfrm>
            <a:off x="868680" y="29570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Box 7"/>
          <p:cNvSpPr/>
          <p:nvPr/>
        </p:nvSpPr>
        <p:spPr>
          <a:xfrm>
            <a:off x="1271160" y="293868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Потомок обедневшего аристократического рода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Box 8"/>
          <p:cNvSpPr/>
          <p:nvPr/>
        </p:nvSpPr>
        <p:spPr>
          <a:xfrm>
            <a:off x="868680" y="346320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9"/>
          <p:cNvSpPr/>
          <p:nvPr/>
        </p:nvSpPr>
        <p:spPr>
          <a:xfrm>
            <a:off x="1271160" y="344484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Сын пожилого чиновника и его молодой наложницы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10"/>
          <p:cNvSpPr/>
          <p:nvPr/>
        </p:nvSpPr>
        <p:spPr>
          <a:xfrm>
            <a:off x="868680" y="396900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11"/>
          <p:cNvSpPr/>
          <p:nvPr/>
        </p:nvSpPr>
        <p:spPr>
          <a:xfrm>
            <a:off x="1271160" y="395064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В 22 года — первый частный учитель Китая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12"/>
          <p:cNvSpPr/>
          <p:nvPr/>
        </p:nvSpPr>
        <p:spPr>
          <a:xfrm>
            <a:off x="868680" y="447480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13"/>
          <p:cNvSpPr/>
          <p:nvPr/>
        </p:nvSpPr>
        <p:spPr>
          <a:xfrm>
            <a:off x="1271160" y="4456800"/>
            <a:ext cx="563220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Самый знаменитый педагог Поднебесной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1" name="Picture 14" descr="confucius-portrait.png"/>
          <p:cNvPicPr/>
          <p:nvPr/>
        </p:nvPicPr>
        <p:blipFill>
          <a:blip r:embed="rId2"/>
          <a:stretch/>
        </p:blipFill>
        <p:spPr>
          <a:xfrm>
            <a:off x="8272800" y="1170360"/>
            <a:ext cx="2092680" cy="3840120"/>
          </a:xfrm>
          <a:prstGeom prst="rect">
            <a:avLst/>
          </a:prstGeom>
          <a:ln w="0">
            <a:noFill/>
          </a:ln>
        </p:spPr>
      </p:pic>
      <p:sp>
        <p:nvSpPr>
          <p:cNvPr id="312" name="TextBox 15"/>
          <p:cNvSpPr/>
          <p:nvPr/>
        </p:nvSpPr>
        <p:spPr>
          <a:xfrm>
            <a:off x="7315200" y="5157360"/>
            <a:ext cx="40075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30000"/>
              </a:lnSpc>
            </a:pPr>
            <a:r>
              <a:rPr b="0" lang="en-US" sz="1050" spc="-1" strike="noStrike">
                <a:solidFill>
                  <a:srgbClr val="8a8578"/>
                </a:solidFill>
                <a:latin typeface="Arial"/>
              </a:rPr>
              <a:t>Кун Цю (Конфуций), 551—479 гг. до н. э.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ectangle 16"/>
          <p:cNvSpPr/>
          <p:nvPr/>
        </p:nvSpPr>
        <p:spPr>
          <a:xfrm>
            <a:off x="868680" y="556884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Rectangle 17"/>
          <p:cNvSpPr/>
          <p:nvPr/>
        </p:nvSpPr>
        <p:spPr>
          <a:xfrm>
            <a:off x="868680" y="5770080"/>
            <a:ext cx="25200" cy="282960"/>
          </a:xfrm>
          <a:prstGeom prst="rect">
            <a:avLst/>
          </a:prstGeom>
          <a:solidFill>
            <a:srgbClr val="2c38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18"/>
          <p:cNvSpPr/>
          <p:nvPr/>
        </p:nvSpPr>
        <p:spPr>
          <a:xfrm>
            <a:off x="1143000" y="5770080"/>
            <a:ext cx="10143000" cy="2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450" spc="-1" strike="noStrike">
                <a:solidFill>
                  <a:srgbClr val="2c382f"/>
                </a:solidFill>
                <a:latin typeface="Arial"/>
              </a:rPr>
              <a:t>Он не любил говорить о себе и описал весь свой путь в шести строчках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Box 19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КОНФУЦИАНСТВО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20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19" name="TextBox 2"/>
          <p:cNvSpPr/>
          <p:nvPr/>
        </p:nvSpPr>
        <p:spPr>
          <a:xfrm>
            <a:off x="868680" y="7131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КОНФУЦИАНСТВО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3"/>
          <p:cNvSpPr/>
          <p:nvPr/>
        </p:nvSpPr>
        <p:spPr>
          <a:xfrm>
            <a:off x="868680" y="10972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АВТОБИОГРАФИЯ В ШЕСТЬ СТРОК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TextBox 5"/>
          <p:cNvSpPr/>
          <p:nvPr/>
        </p:nvSpPr>
        <p:spPr>
          <a:xfrm>
            <a:off x="868680" y="224784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15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6"/>
          <p:cNvSpPr/>
          <p:nvPr/>
        </p:nvSpPr>
        <p:spPr>
          <a:xfrm>
            <a:off x="868680" y="288792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ectangle 7"/>
          <p:cNvSpPr/>
          <p:nvPr/>
        </p:nvSpPr>
        <p:spPr>
          <a:xfrm>
            <a:off x="868680" y="32353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8"/>
          <p:cNvSpPr/>
          <p:nvPr/>
        </p:nvSpPr>
        <p:spPr>
          <a:xfrm>
            <a:off x="868680" y="338184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обратил свои помыслы к учению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9"/>
          <p:cNvSpPr/>
          <p:nvPr/>
        </p:nvSpPr>
        <p:spPr>
          <a:xfrm>
            <a:off x="4353480" y="224784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30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10"/>
          <p:cNvSpPr/>
          <p:nvPr/>
        </p:nvSpPr>
        <p:spPr>
          <a:xfrm>
            <a:off x="4353480" y="288792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Rectangle 11"/>
          <p:cNvSpPr/>
          <p:nvPr/>
        </p:nvSpPr>
        <p:spPr>
          <a:xfrm>
            <a:off x="4353480" y="32353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TextBox 12"/>
          <p:cNvSpPr/>
          <p:nvPr/>
        </p:nvSpPr>
        <p:spPr>
          <a:xfrm>
            <a:off x="4353480" y="338184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обрёл прочную основу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TextBox 13"/>
          <p:cNvSpPr/>
          <p:nvPr/>
        </p:nvSpPr>
        <p:spPr>
          <a:xfrm>
            <a:off x="7838280" y="224784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40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14"/>
          <p:cNvSpPr/>
          <p:nvPr/>
        </p:nvSpPr>
        <p:spPr>
          <a:xfrm>
            <a:off x="7838280" y="288792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Rectangle 15"/>
          <p:cNvSpPr/>
          <p:nvPr/>
        </p:nvSpPr>
        <p:spPr>
          <a:xfrm>
            <a:off x="7838280" y="32353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3" name="TextBox 16"/>
          <p:cNvSpPr/>
          <p:nvPr/>
        </p:nvSpPr>
        <p:spPr>
          <a:xfrm>
            <a:off x="7838280" y="338184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сумел освободиться от сомнений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17"/>
          <p:cNvSpPr/>
          <p:nvPr/>
        </p:nvSpPr>
        <p:spPr>
          <a:xfrm>
            <a:off x="868680" y="405828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50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18"/>
          <p:cNvSpPr/>
          <p:nvPr/>
        </p:nvSpPr>
        <p:spPr>
          <a:xfrm>
            <a:off x="868680" y="46983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Rectangle 19"/>
          <p:cNvSpPr/>
          <p:nvPr/>
        </p:nvSpPr>
        <p:spPr>
          <a:xfrm>
            <a:off x="868680" y="50461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TextBox 20"/>
          <p:cNvSpPr/>
          <p:nvPr/>
        </p:nvSpPr>
        <p:spPr>
          <a:xfrm>
            <a:off x="868680" y="519228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познал волю Неба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21"/>
          <p:cNvSpPr/>
          <p:nvPr/>
        </p:nvSpPr>
        <p:spPr>
          <a:xfrm>
            <a:off x="4353480" y="405828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60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Box 22"/>
          <p:cNvSpPr/>
          <p:nvPr/>
        </p:nvSpPr>
        <p:spPr>
          <a:xfrm>
            <a:off x="4353480" y="46983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Rectangle 23"/>
          <p:cNvSpPr/>
          <p:nvPr/>
        </p:nvSpPr>
        <p:spPr>
          <a:xfrm>
            <a:off x="4353480" y="50461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TextBox 24"/>
          <p:cNvSpPr/>
          <p:nvPr/>
        </p:nvSpPr>
        <p:spPr>
          <a:xfrm>
            <a:off x="4353480" y="5192280"/>
            <a:ext cx="29815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научился отличать правду от лжи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25"/>
          <p:cNvSpPr/>
          <p:nvPr/>
        </p:nvSpPr>
        <p:spPr>
          <a:xfrm>
            <a:off x="7838280" y="4058280"/>
            <a:ext cx="3027240" cy="76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4000" spc="58" strike="noStrike">
                <a:solidFill>
                  <a:srgbClr val="2c382f"/>
                </a:solidFill>
                <a:latin typeface="Arial"/>
              </a:rPr>
              <a:t>70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26"/>
          <p:cNvSpPr/>
          <p:nvPr/>
        </p:nvSpPr>
        <p:spPr>
          <a:xfrm>
            <a:off x="7838280" y="4698360"/>
            <a:ext cx="8226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199" strike="noStrike">
                <a:solidFill>
                  <a:srgbClr val="8c7b5f"/>
                </a:solidFill>
                <a:latin typeface="Arial"/>
              </a:rPr>
              <a:t>лет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Rectangle 27"/>
          <p:cNvSpPr/>
          <p:nvPr/>
        </p:nvSpPr>
        <p:spPr>
          <a:xfrm>
            <a:off x="7838280" y="5046120"/>
            <a:ext cx="293580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5" name="TextBox 28"/>
          <p:cNvSpPr/>
          <p:nvPr/>
        </p:nvSpPr>
        <p:spPr>
          <a:xfrm>
            <a:off x="7838280" y="5192280"/>
            <a:ext cx="298152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стал следовать зову сердца, не нарушая Ритуала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Box 29"/>
          <p:cNvSpPr/>
          <p:nvPr/>
        </p:nvSpPr>
        <p:spPr>
          <a:xfrm>
            <a:off x="868680" y="5888880"/>
            <a:ext cx="1045404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i="1" lang="en-US" sz="1300" spc="-1" strike="noStrike">
                <a:solidFill>
                  <a:srgbClr val="8a8578"/>
                </a:solidFill>
                <a:latin typeface="Arial"/>
              </a:rPr>
              <a:t>«В 15 лет я обратил свои помыслы к учению…» — Конфуций о себе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30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КОНФУЦИАНСТВО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31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50" name="TextBox 2"/>
          <p:cNvSpPr/>
          <p:nvPr/>
        </p:nvSpPr>
        <p:spPr>
          <a:xfrm>
            <a:off x="868680" y="713160"/>
            <a:ext cx="676620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КОНФУЦИАНСТВО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3"/>
          <p:cNvSpPr/>
          <p:nvPr/>
        </p:nvSpPr>
        <p:spPr>
          <a:xfrm>
            <a:off x="868680" y="1097280"/>
            <a:ext cx="676620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ОСНОВНЫЕ ПОНЯТИЯ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И ПРИНЦИПЫ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Rectangle 4"/>
          <p:cNvSpPr/>
          <p:nvPr/>
        </p:nvSpPr>
        <p:spPr>
          <a:xfrm>
            <a:off x="868680" y="215496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TextBox 5"/>
          <p:cNvSpPr/>
          <p:nvPr/>
        </p:nvSpPr>
        <p:spPr>
          <a:xfrm>
            <a:off x="868680" y="2539080"/>
            <a:ext cx="60346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i="1" lang="en-US" sz="1600" spc="-1" strike="noStrike">
                <a:solidFill>
                  <a:srgbClr val="2c382f"/>
                </a:solidFill>
                <a:latin typeface="Arial"/>
              </a:rPr>
              <a:t>Мораль, судьба и природа человека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6"/>
          <p:cNvSpPr/>
          <p:nvPr/>
        </p:nvSpPr>
        <p:spPr>
          <a:xfrm>
            <a:off x="868680" y="3103920"/>
            <a:ext cx="29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7"/>
          <p:cNvSpPr/>
          <p:nvPr/>
        </p:nvSpPr>
        <p:spPr>
          <a:xfrm>
            <a:off x="1271160" y="3085560"/>
            <a:ext cx="563220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50" spc="-1" strike="noStrike">
                <a:solidFill>
                  <a:srgbClr val="2a2a24"/>
                </a:solidFill>
                <a:latin typeface="Arial"/>
              </a:rPr>
              <a:t>Главная тема — моральные принципы, на которых строятся отношения людей и управление государством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8"/>
          <p:cNvSpPr/>
          <p:nvPr/>
        </p:nvSpPr>
        <p:spPr>
          <a:xfrm>
            <a:off x="868680" y="3894840"/>
            <a:ext cx="29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Box 9"/>
          <p:cNvSpPr/>
          <p:nvPr/>
        </p:nvSpPr>
        <p:spPr>
          <a:xfrm>
            <a:off x="1271160" y="3876480"/>
            <a:ext cx="563220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50" spc="-1" strike="noStrike">
                <a:solidFill>
                  <a:srgbClr val="2a2a24"/>
                </a:solidFill>
                <a:latin typeface="Arial"/>
              </a:rPr>
              <a:t>Судьба: «Всё изначально предопределено, тут ничего не убавишь и не прибавишь»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Box 10"/>
          <p:cNvSpPr/>
          <p:nvPr/>
        </p:nvSpPr>
        <p:spPr>
          <a:xfrm>
            <a:off x="868680" y="4685760"/>
            <a:ext cx="29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11"/>
          <p:cNvSpPr/>
          <p:nvPr/>
        </p:nvSpPr>
        <p:spPr>
          <a:xfrm>
            <a:off x="1271160" y="4667400"/>
            <a:ext cx="563220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50" spc="-1" strike="noStrike">
                <a:solidFill>
                  <a:srgbClr val="2a2a24"/>
                </a:solidFill>
                <a:latin typeface="Arial"/>
              </a:rPr>
              <a:t>По природе люди похожи; незыблемы лишь высшая мудрость и крайняя глупость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Box 12"/>
          <p:cNvSpPr/>
          <p:nvPr/>
        </p:nvSpPr>
        <p:spPr>
          <a:xfrm>
            <a:off x="868680" y="5476680"/>
            <a:ext cx="29232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5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13"/>
          <p:cNvSpPr/>
          <p:nvPr/>
        </p:nvSpPr>
        <p:spPr>
          <a:xfrm>
            <a:off x="1271160" y="5458320"/>
            <a:ext cx="5632200" cy="6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50" spc="-1" strike="noStrike">
                <a:solidFill>
                  <a:srgbClr val="2a2a24"/>
                </a:solidFill>
                <a:latin typeface="Arial"/>
              </a:rPr>
              <a:t>Различаются люди благодаря воспитанию и обретённым привычкам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2" name="Picture 14" descr="confucius-disciples.png"/>
          <p:cNvPicPr/>
          <p:nvPr/>
        </p:nvPicPr>
        <p:blipFill>
          <a:blip r:embed="rId2"/>
          <a:srcRect l="8633" t="0" r="8633" b="0"/>
          <a:stretch/>
        </p:blipFill>
        <p:spPr>
          <a:xfrm>
            <a:off x="7315200" y="1170360"/>
            <a:ext cx="4007520" cy="3949920"/>
          </a:xfrm>
          <a:prstGeom prst="rect">
            <a:avLst/>
          </a:prstGeom>
          <a:ln w="0">
            <a:noFill/>
          </a:ln>
        </p:spPr>
      </p:pic>
      <p:sp>
        <p:nvSpPr>
          <p:cNvPr id="363" name="TextBox 15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КОНФУЦИАНСТВО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16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Picture 1" descr="paper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66" name="TextBox 2"/>
          <p:cNvSpPr/>
          <p:nvPr/>
        </p:nvSpPr>
        <p:spPr>
          <a:xfrm>
            <a:off x="868680" y="7131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КОНФУЦИАНСТВО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Box 3"/>
          <p:cNvSpPr/>
          <p:nvPr/>
        </p:nvSpPr>
        <p:spPr>
          <a:xfrm>
            <a:off x="868680" y="10972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ГРАДАЦИЯ ЗНАНИЙ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TextBox 5"/>
          <p:cNvSpPr/>
          <p:nvPr/>
        </p:nvSpPr>
        <p:spPr>
          <a:xfrm>
            <a:off x="868680" y="2284560"/>
            <a:ext cx="731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900" spc="157" strike="noStrike">
                <a:solidFill>
                  <a:srgbClr val="8c7b5f"/>
                </a:solidFill>
                <a:latin typeface="Arial"/>
              </a:rPr>
              <a:t>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6"/>
          <p:cNvSpPr/>
          <p:nvPr/>
        </p:nvSpPr>
        <p:spPr>
          <a:xfrm>
            <a:off x="1737360" y="2266200"/>
            <a:ext cx="3017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117" strike="noStrike">
                <a:solidFill>
                  <a:srgbClr val="2c382f"/>
                </a:solidFill>
                <a:latin typeface="Arial"/>
              </a:rPr>
              <a:t>ВЫСШЕЕ ЗНАНИЕ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7"/>
          <p:cNvSpPr/>
          <p:nvPr/>
        </p:nvSpPr>
        <p:spPr>
          <a:xfrm>
            <a:off x="5760720" y="2293560"/>
            <a:ext cx="556200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то, которое человек имеет при рождении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Rectangle 8"/>
          <p:cNvSpPr/>
          <p:nvPr/>
        </p:nvSpPr>
        <p:spPr>
          <a:xfrm>
            <a:off x="868680" y="274176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3" name="TextBox 9"/>
          <p:cNvSpPr/>
          <p:nvPr/>
        </p:nvSpPr>
        <p:spPr>
          <a:xfrm>
            <a:off x="1234440" y="3162240"/>
            <a:ext cx="731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900" spc="157" strike="noStrike">
                <a:solidFill>
                  <a:srgbClr val="8c7b5f"/>
                </a:solidFill>
                <a:latin typeface="Arial"/>
              </a:rPr>
              <a:t>II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10"/>
          <p:cNvSpPr/>
          <p:nvPr/>
        </p:nvSpPr>
        <p:spPr>
          <a:xfrm>
            <a:off x="2103120" y="3143880"/>
            <a:ext cx="3017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117" strike="noStrike">
                <a:solidFill>
                  <a:srgbClr val="2c382f"/>
                </a:solidFill>
                <a:latin typeface="Arial"/>
              </a:rPr>
              <a:t>НИЖЕ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Box 11"/>
          <p:cNvSpPr/>
          <p:nvPr/>
        </p:nvSpPr>
        <p:spPr>
          <a:xfrm>
            <a:off x="5760720" y="3171600"/>
            <a:ext cx="556200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знания, приобретаемые в процессе изучения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Rectangle 12"/>
          <p:cNvSpPr/>
          <p:nvPr/>
        </p:nvSpPr>
        <p:spPr>
          <a:xfrm>
            <a:off x="1234440" y="3619440"/>
            <a:ext cx="1008828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7" name="TextBox 13"/>
          <p:cNvSpPr/>
          <p:nvPr/>
        </p:nvSpPr>
        <p:spPr>
          <a:xfrm>
            <a:off x="1600200" y="4040280"/>
            <a:ext cx="731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900" spc="157" strike="noStrike">
                <a:solidFill>
                  <a:srgbClr val="8c7b5f"/>
                </a:solidFill>
                <a:latin typeface="Arial"/>
              </a:rPr>
              <a:t>III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Box 14"/>
          <p:cNvSpPr/>
          <p:nvPr/>
        </p:nvSpPr>
        <p:spPr>
          <a:xfrm>
            <a:off x="2468880" y="4021920"/>
            <a:ext cx="3017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117" strike="noStrike">
                <a:solidFill>
                  <a:srgbClr val="2c382f"/>
                </a:solidFill>
                <a:latin typeface="Arial"/>
              </a:rPr>
              <a:t>ЕЩЁ НИЖЕ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Box 15"/>
          <p:cNvSpPr/>
          <p:nvPr/>
        </p:nvSpPr>
        <p:spPr>
          <a:xfrm>
            <a:off x="5760720" y="4049280"/>
            <a:ext cx="556200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знания, полученные в результате преодоления трудностей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Rectangle 16"/>
          <p:cNvSpPr/>
          <p:nvPr/>
        </p:nvSpPr>
        <p:spPr>
          <a:xfrm>
            <a:off x="1600200" y="4497480"/>
            <a:ext cx="972252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1" name="TextBox 17"/>
          <p:cNvSpPr/>
          <p:nvPr/>
        </p:nvSpPr>
        <p:spPr>
          <a:xfrm>
            <a:off x="1965960" y="4917960"/>
            <a:ext cx="731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900" spc="157" strike="noStrike">
                <a:solidFill>
                  <a:srgbClr val="8c7b5f"/>
                </a:solidFill>
                <a:latin typeface="Arial"/>
              </a:rPr>
              <a:t>IV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Box 18"/>
          <p:cNvSpPr/>
          <p:nvPr/>
        </p:nvSpPr>
        <p:spPr>
          <a:xfrm>
            <a:off x="2834640" y="4899600"/>
            <a:ext cx="301716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900" spc="117" strike="noStrike">
                <a:solidFill>
                  <a:srgbClr val="2c382f"/>
                </a:solidFill>
                <a:latin typeface="Arial"/>
              </a:rPr>
              <a:t>НИЧТОЖНЕЙШИЙ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Box 19"/>
          <p:cNvSpPr/>
          <p:nvPr/>
        </p:nvSpPr>
        <p:spPr>
          <a:xfrm>
            <a:off x="5760720" y="4926960"/>
            <a:ext cx="556200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тот, кто не хочет извлечь урок из трудностей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Rectangle 20"/>
          <p:cNvSpPr/>
          <p:nvPr/>
        </p:nvSpPr>
        <p:spPr>
          <a:xfrm>
            <a:off x="1965960" y="5375160"/>
            <a:ext cx="93567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TextBox 21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КОНФУЦИАНСТВО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Box 22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Picture 1" descr="paper-quote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88" name="TextBox 2"/>
          <p:cNvSpPr/>
          <p:nvPr/>
        </p:nvSpPr>
        <p:spPr>
          <a:xfrm>
            <a:off x="868680" y="960120"/>
            <a:ext cx="82292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КОНФУЦИАНСТВО · ЦИТАТА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3"/>
          <p:cNvSpPr/>
          <p:nvPr/>
        </p:nvSpPr>
        <p:spPr>
          <a:xfrm>
            <a:off x="1417320" y="2331720"/>
            <a:ext cx="9326520" cy="24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«Три пути ведут к знанию: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путь размышления — самый благородный,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путь подражания — самый лёгкий,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52000"/>
              </a:lnSpc>
            </a:pPr>
            <a:r>
              <a:rPr b="0" lang="en-US" sz="2600" spc="-1" strike="noStrike">
                <a:solidFill>
                  <a:srgbClr val="2a2a24"/>
                </a:solidFill>
                <a:latin typeface="Arial"/>
              </a:rPr>
              <a:t>путь опыта — самый горький.»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Rectangle 4"/>
          <p:cNvSpPr/>
          <p:nvPr/>
        </p:nvSpPr>
        <p:spPr>
          <a:xfrm>
            <a:off x="5730120" y="4668480"/>
            <a:ext cx="7311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TextBox 5"/>
          <p:cNvSpPr/>
          <p:nvPr/>
        </p:nvSpPr>
        <p:spPr>
          <a:xfrm>
            <a:off x="868680" y="4888080"/>
            <a:ext cx="1045404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5000"/>
              </a:lnSpc>
            </a:pPr>
            <a:r>
              <a:rPr b="0" lang="en-US" sz="1300" spc="338" strike="noStrike">
                <a:solidFill>
                  <a:srgbClr val="2c382f"/>
                </a:solidFill>
                <a:latin typeface="Arial"/>
              </a:rPr>
              <a:t>КУН ЦЮ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Box 6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КОНФУЦИАНСТВО · ЦИТАТА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7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395" name="TextBox 2"/>
          <p:cNvSpPr/>
          <p:nvPr/>
        </p:nvSpPr>
        <p:spPr>
          <a:xfrm>
            <a:off x="868680" y="6033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ФУНДАМЕНТ УЧЕНИЯ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Box 3"/>
          <p:cNvSpPr/>
          <p:nvPr/>
        </p:nvSpPr>
        <p:spPr>
          <a:xfrm>
            <a:off x="868680" y="9874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БЛАГОРОДНЫЙ МУЖ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Rectangle 4"/>
          <p:cNvSpPr/>
          <p:nvPr/>
        </p:nvSpPr>
        <p:spPr>
          <a:xfrm>
            <a:off x="868680" y="16261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5"/>
          <p:cNvSpPr/>
          <p:nvPr/>
        </p:nvSpPr>
        <p:spPr>
          <a:xfrm>
            <a:off x="868680" y="1955160"/>
            <a:ext cx="868644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i="1" lang="en-US" sz="1550" spc="-1" strike="noStrike">
                <a:solidFill>
                  <a:srgbClr val="2c382f"/>
                </a:solidFill>
                <a:latin typeface="Arial"/>
              </a:rPr>
              <a:t>ЦЗЮНЬ-ЦЗЫ — эталон человека, идущего по правильному пути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6"/>
          <p:cNvSpPr/>
          <p:nvPr/>
        </p:nvSpPr>
        <p:spPr>
          <a:xfrm>
            <a:off x="868680" y="2383560"/>
            <a:ext cx="776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2900" spc="-1" strike="noStrike">
                <a:solidFill>
                  <a:srgbClr val="c2bbac"/>
                </a:solidFill>
                <a:latin typeface="Arial"/>
              </a:rPr>
              <a:t>仁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7"/>
          <p:cNvSpPr/>
          <p:nvPr/>
        </p:nvSpPr>
        <p:spPr>
          <a:xfrm>
            <a:off x="1710000" y="2456640"/>
            <a:ext cx="2377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000" spc="137" strike="noStrike">
                <a:solidFill>
                  <a:srgbClr val="2c382f"/>
                </a:solidFill>
                <a:latin typeface="Arial"/>
              </a:rPr>
              <a:t>ЖЭНЬ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Box 8"/>
          <p:cNvSpPr/>
          <p:nvPr/>
        </p:nvSpPr>
        <p:spPr>
          <a:xfrm>
            <a:off x="1710000" y="280440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8a8578"/>
                </a:solidFill>
                <a:latin typeface="Arial"/>
              </a:rPr>
              <a:t>Гуманность, человеколюбие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Box 9"/>
          <p:cNvSpPr/>
          <p:nvPr/>
        </p:nvSpPr>
        <p:spPr>
          <a:xfrm>
            <a:off x="4572000" y="2530080"/>
            <a:ext cx="67507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Не делай другим того, чего не желал бы себе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Rectangle 10"/>
          <p:cNvSpPr/>
          <p:nvPr/>
        </p:nvSpPr>
        <p:spPr>
          <a:xfrm>
            <a:off x="868680" y="311508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4" name="TextBox 11"/>
          <p:cNvSpPr/>
          <p:nvPr/>
        </p:nvSpPr>
        <p:spPr>
          <a:xfrm>
            <a:off x="868680" y="3142440"/>
            <a:ext cx="776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2900" spc="-1" strike="noStrike">
                <a:solidFill>
                  <a:srgbClr val="c2bbac"/>
                </a:solidFill>
                <a:latin typeface="Arial"/>
              </a:rPr>
              <a:t>礼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Box 12"/>
          <p:cNvSpPr/>
          <p:nvPr/>
        </p:nvSpPr>
        <p:spPr>
          <a:xfrm>
            <a:off x="1710000" y="3215880"/>
            <a:ext cx="2377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000" spc="137" strike="noStrike">
                <a:solidFill>
                  <a:srgbClr val="2c382f"/>
                </a:solidFill>
                <a:latin typeface="Arial"/>
              </a:rPr>
              <a:t>ЛИ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Box 13"/>
          <p:cNvSpPr/>
          <p:nvPr/>
        </p:nvSpPr>
        <p:spPr>
          <a:xfrm>
            <a:off x="1710000" y="356328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8a8578"/>
                </a:solidFill>
                <a:latin typeface="Arial"/>
              </a:rPr>
              <a:t>Почтительность, ритуал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Box 14"/>
          <p:cNvSpPr/>
          <p:nvPr/>
        </p:nvSpPr>
        <p:spPr>
          <a:xfrm>
            <a:off x="4572000" y="3288960"/>
            <a:ext cx="67507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Правила, регламентирующие жизнь от семьи до государства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Rectangle 15"/>
          <p:cNvSpPr/>
          <p:nvPr/>
        </p:nvSpPr>
        <p:spPr>
          <a:xfrm>
            <a:off x="868680" y="387396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9" name="TextBox 16"/>
          <p:cNvSpPr/>
          <p:nvPr/>
        </p:nvSpPr>
        <p:spPr>
          <a:xfrm>
            <a:off x="868680" y="3901680"/>
            <a:ext cx="776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2900" spc="-1" strike="noStrike">
                <a:solidFill>
                  <a:srgbClr val="c2bbac"/>
                </a:solidFill>
                <a:latin typeface="Arial"/>
              </a:rPr>
              <a:t>义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Box 17"/>
          <p:cNvSpPr/>
          <p:nvPr/>
        </p:nvSpPr>
        <p:spPr>
          <a:xfrm>
            <a:off x="1710000" y="3974760"/>
            <a:ext cx="2377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000" spc="137" strike="noStrike">
                <a:solidFill>
                  <a:srgbClr val="2c382f"/>
                </a:solidFill>
                <a:latin typeface="Arial"/>
              </a:rPr>
              <a:t>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Box 18"/>
          <p:cNvSpPr/>
          <p:nvPr/>
        </p:nvSpPr>
        <p:spPr>
          <a:xfrm>
            <a:off x="1710000" y="432216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8a8578"/>
                </a:solidFill>
                <a:latin typeface="Arial"/>
              </a:rPr>
              <a:t>Долг-справедливость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Box 19"/>
          <p:cNvSpPr/>
          <p:nvPr/>
        </p:nvSpPr>
        <p:spPr>
          <a:xfrm>
            <a:off x="4572000" y="4047840"/>
            <a:ext cx="67507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Моральные принципы по собственной воле, а не из страха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Rectangle 20"/>
          <p:cNvSpPr/>
          <p:nvPr/>
        </p:nvSpPr>
        <p:spPr>
          <a:xfrm>
            <a:off x="868680" y="463320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4" name="TextBox 21"/>
          <p:cNvSpPr/>
          <p:nvPr/>
        </p:nvSpPr>
        <p:spPr>
          <a:xfrm>
            <a:off x="868680" y="4660560"/>
            <a:ext cx="776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2900" spc="-1" strike="noStrike">
                <a:solidFill>
                  <a:srgbClr val="c2bbac"/>
                </a:solidFill>
                <a:latin typeface="Arial"/>
              </a:rPr>
              <a:t>智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Box 22"/>
          <p:cNvSpPr/>
          <p:nvPr/>
        </p:nvSpPr>
        <p:spPr>
          <a:xfrm>
            <a:off x="1710000" y="4733640"/>
            <a:ext cx="2377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000" spc="137" strike="noStrike">
                <a:solidFill>
                  <a:srgbClr val="2c382f"/>
                </a:solidFill>
                <a:latin typeface="Arial"/>
              </a:rPr>
              <a:t>ЧЖИ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23"/>
          <p:cNvSpPr/>
          <p:nvPr/>
        </p:nvSpPr>
        <p:spPr>
          <a:xfrm>
            <a:off x="1710000" y="508104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8a8578"/>
                </a:solidFill>
                <a:latin typeface="Arial"/>
              </a:rPr>
              <a:t>Здравый смысл, мудрость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Box 24"/>
          <p:cNvSpPr/>
          <p:nvPr/>
        </p:nvSpPr>
        <p:spPr>
          <a:xfrm>
            <a:off x="4572000" y="4806720"/>
            <a:ext cx="67507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Умение просчитать следствия своих действий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Rectangle 25"/>
          <p:cNvSpPr/>
          <p:nvPr/>
        </p:nvSpPr>
        <p:spPr>
          <a:xfrm>
            <a:off x="868680" y="539208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9" name="TextBox 26"/>
          <p:cNvSpPr/>
          <p:nvPr/>
        </p:nvSpPr>
        <p:spPr>
          <a:xfrm>
            <a:off x="868680" y="5419440"/>
            <a:ext cx="7768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zh-CN" sz="2900" spc="-1" strike="noStrike">
                <a:solidFill>
                  <a:srgbClr val="c2bbac"/>
                </a:solidFill>
                <a:latin typeface="Arial"/>
              </a:rPr>
              <a:t>信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27"/>
          <p:cNvSpPr/>
          <p:nvPr/>
        </p:nvSpPr>
        <p:spPr>
          <a:xfrm>
            <a:off x="1710000" y="5492520"/>
            <a:ext cx="2377080" cy="3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000" spc="137" strike="noStrike">
                <a:solidFill>
                  <a:srgbClr val="2c382f"/>
                </a:solidFill>
                <a:latin typeface="Arial"/>
              </a:rPr>
              <a:t>СИНЬ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Box 28"/>
          <p:cNvSpPr/>
          <p:nvPr/>
        </p:nvSpPr>
        <p:spPr>
          <a:xfrm>
            <a:off x="1710000" y="5839920"/>
            <a:ext cx="2651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8a8578"/>
                </a:solidFill>
                <a:latin typeface="Arial"/>
              </a:rPr>
              <a:t>Искренность, добросовестность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29"/>
          <p:cNvSpPr/>
          <p:nvPr/>
        </p:nvSpPr>
        <p:spPr>
          <a:xfrm>
            <a:off x="4572000" y="5565600"/>
            <a:ext cx="6750720" cy="29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8000"/>
              </a:lnSpc>
            </a:pPr>
            <a:r>
              <a:rPr b="0" lang="en-US" sz="1500" spc="-1" strike="noStrike">
                <a:solidFill>
                  <a:srgbClr val="2a2a24"/>
                </a:solidFill>
                <a:latin typeface="Arial"/>
              </a:rPr>
              <a:t>Уравновешивает Ли, предупреждая лицемерие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Rectangle 30"/>
          <p:cNvSpPr/>
          <p:nvPr/>
        </p:nvSpPr>
        <p:spPr>
          <a:xfrm>
            <a:off x="868680" y="6150960"/>
            <a:ext cx="1045404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4" name="TextBox 31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ФУНДАМЕНТ УЧЕНИЯ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Box 32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17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27" name="TextBox 2"/>
          <p:cNvSpPr/>
          <p:nvPr/>
        </p:nvSpPr>
        <p:spPr>
          <a:xfrm>
            <a:off x="868680" y="713160"/>
            <a:ext cx="6400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КОНФУЦИАНСТВО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Box 3"/>
          <p:cNvSpPr/>
          <p:nvPr/>
        </p:nvSpPr>
        <p:spPr>
          <a:xfrm>
            <a:off x="868680" y="1097280"/>
            <a:ext cx="6400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КОНЦЕПЦИЯ О ГОСУДАРСТВЕ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TextBox 5"/>
          <p:cNvSpPr/>
          <p:nvPr/>
        </p:nvSpPr>
        <p:spPr>
          <a:xfrm>
            <a:off x="868680" y="2120040"/>
            <a:ext cx="6034680" cy="6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i="1" lang="en-US" sz="1600" spc="-1" strike="noStrike">
                <a:solidFill>
                  <a:srgbClr val="2c382f"/>
                </a:solidFill>
                <a:latin typeface="Arial"/>
              </a:rPr>
              <a:t>Правильный человек → правильное общество → правильное государство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Box 6"/>
          <p:cNvSpPr/>
          <p:nvPr/>
        </p:nvSpPr>
        <p:spPr>
          <a:xfrm>
            <a:off x="868680" y="295704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Box 7"/>
          <p:cNvSpPr/>
          <p:nvPr/>
        </p:nvSpPr>
        <p:spPr>
          <a:xfrm>
            <a:off x="1271160" y="2938680"/>
            <a:ext cx="56322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Человек должен жить в обществе гуманности и милосердия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Box 8"/>
          <p:cNvSpPr/>
          <p:nvPr/>
        </p:nvSpPr>
        <p:spPr>
          <a:xfrm>
            <a:off x="868680" y="373140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Box 9"/>
          <p:cNvSpPr/>
          <p:nvPr/>
        </p:nvSpPr>
        <p:spPr>
          <a:xfrm>
            <a:off x="1271160" y="3713040"/>
            <a:ext cx="56322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Правитель и чиновники управляют по принципам справедливости, честности и любви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10"/>
          <p:cNvSpPr/>
          <p:nvPr/>
        </p:nvSpPr>
        <p:spPr>
          <a:xfrm>
            <a:off x="868680" y="4505400"/>
            <a:ext cx="292320" cy="2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500" spc="-1" strike="noStrike">
                <a:solidFill>
                  <a:srgbClr val="8c7b5f"/>
                </a:solidFill>
                <a:latin typeface="Arial"/>
              </a:rPr>
              <a:t>—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Box 11"/>
          <p:cNvSpPr/>
          <p:nvPr/>
        </p:nvSpPr>
        <p:spPr>
          <a:xfrm>
            <a:off x="1271160" y="4487040"/>
            <a:ext cx="56322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2000"/>
              </a:lnSpc>
            </a:pPr>
            <a:r>
              <a:rPr b="0" lang="en-US" sz="1600" spc="-1" strike="noStrike">
                <a:solidFill>
                  <a:srgbClr val="2a2a24"/>
                </a:solidFill>
                <a:latin typeface="Arial"/>
              </a:rPr>
              <a:t>«Не делай другим того, чего не желаешь себе» — принцип политический, а не только личный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7" name="Picture 12" descr="confucius-scene.png"/>
          <p:cNvPicPr/>
          <p:nvPr/>
        </p:nvPicPr>
        <p:blipFill>
          <a:blip r:embed="rId2"/>
          <a:srcRect l="16535" t="0" r="16535" b="0"/>
          <a:stretch/>
        </p:blipFill>
        <p:spPr>
          <a:xfrm>
            <a:off x="7315200" y="1170360"/>
            <a:ext cx="4007520" cy="3840120"/>
          </a:xfrm>
          <a:prstGeom prst="rect">
            <a:avLst/>
          </a:prstGeom>
          <a:ln w="0">
            <a:noFill/>
          </a:ln>
        </p:spPr>
      </p:pic>
      <p:sp>
        <p:nvSpPr>
          <p:cNvPr id="438" name="TextBox 13"/>
          <p:cNvSpPr/>
          <p:nvPr/>
        </p:nvSpPr>
        <p:spPr>
          <a:xfrm>
            <a:off x="7315200" y="5157360"/>
            <a:ext cx="400752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050" spc="-1" strike="noStrike">
                <a:solidFill>
                  <a:srgbClr val="8a8578"/>
                </a:solidFill>
                <a:latin typeface="Arial"/>
              </a:rPr>
              <a:t>Конфуций с учениками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Rectangle 14"/>
          <p:cNvSpPr/>
          <p:nvPr/>
        </p:nvSpPr>
        <p:spPr>
          <a:xfrm>
            <a:off x="868680" y="532224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Rectangle 15"/>
          <p:cNvSpPr/>
          <p:nvPr/>
        </p:nvSpPr>
        <p:spPr>
          <a:xfrm>
            <a:off x="868680" y="5523120"/>
            <a:ext cx="25200" cy="529560"/>
          </a:xfrm>
          <a:prstGeom prst="rect">
            <a:avLst/>
          </a:prstGeom>
          <a:solidFill>
            <a:srgbClr val="2c38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1" name="TextBox 16"/>
          <p:cNvSpPr/>
          <p:nvPr/>
        </p:nvSpPr>
        <p:spPr>
          <a:xfrm>
            <a:off x="1143000" y="5523120"/>
            <a:ext cx="10143000" cy="5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450" spc="-1" strike="noStrike">
                <a:solidFill>
                  <a:srgbClr val="2c382f"/>
                </a:solidFill>
                <a:latin typeface="Arial"/>
              </a:rPr>
              <a:t>«Суть господина подобна ветру, а суть простых людей подобна траве. И когда ветер веет над травой, она не может выбирать, а наклоняется»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Box 17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КОНФУЦИАНСТВО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Box 18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18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Picture 1" descr="paper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45" name="TextBox 2"/>
          <p:cNvSpPr/>
          <p:nvPr/>
        </p:nvSpPr>
        <p:spPr>
          <a:xfrm>
            <a:off x="868680" y="6033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КОНФУЦИЙ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Box 3"/>
          <p:cNvSpPr/>
          <p:nvPr/>
        </p:nvSpPr>
        <p:spPr>
          <a:xfrm>
            <a:off x="868680" y="9874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КАК СТАТЬ УСПЕШНЫМ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Rectangle 4"/>
          <p:cNvSpPr/>
          <p:nvPr/>
        </p:nvSpPr>
        <p:spPr>
          <a:xfrm>
            <a:off x="868680" y="16261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TextBox 5"/>
          <p:cNvSpPr/>
          <p:nvPr/>
        </p:nvSpPr>
        <p:spPr>
          <a:xfrm>
            <a:off x="868680" y="1955160"/>
            <a:ext cx="86864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i="1" lang="en-US" sz="1500" spc="-1" strike="noStrike">
                <a:solidFill>
                  <a:srgbClr val="2c382f"/>
                </a:solidFill>
                <a:latin typeface="Arial"/>
              </a:rPr>
              <a:t>Советы, которые актуальны и сегодня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6"/>
          <p:cNvSpPr/>
          <p:nvPr/>
        </p:nvSpPr>
        <p:spPr>
          <a:xfrm>
            <a:off x="868680" y="255816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7"/>
          <p:cNvSpPr/>
          <p:nvPr/>
        </p:nvSpPr>
        <p:spPr>
          <a:xfrm>
            <a:off x="1371600" y="2521440"/>
            <a:ext cx="45716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Идите к цели, пусть даже медленно, не останавливаясь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Rectangle 8"/>
          <p:cNvSpPr/>
          <p:nvPr/>
        </p:nvSpPr>
        <p:spPr>
          <a:xfrm>
            <a:off x="868680" y="311580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TextBox 9"/>
          <p:cNvSpPr/>
          <p:nvPr/>
        </p:nvSpPr>
        <p:spPr>
          <a:xfrm>
            <a:off x="868680" y="332604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Box 10"/>
          <p:cNvSpPr/>
          <p:nvPr/>
        </p:nvSpPr>
        <p:spPr>
          <a:xfrm>
            <a:off x="1371600" y="3289680"/>
            <a:ext cx="45716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Держите инструмент остро отточенным: удача зависит от подготовки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Rectangle 11"/>
          <p:cNvSpPr/>
          <p:nvPr/>
        </p:nvSpPr>
        <p:spPr>
          <a:xfrm>
            <a:off x="868680" y="388404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5" name="TextBox 12"/>
          <p:cNvSpPr/>
          <p:nvPr/>
        </p:nvSpPr>
        <p:spPr>
          <a:xfrm>
            <a:off x="868680" y="409428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Box 13"/>
          <p:cNvSpPr/>
          <p:nvPr/>
        </p:nvSpPr>
        <p:spPr>
          <a:xfrm>
            <a:off x="1371600" y="4057560"/>
            <a:ext cx="45716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Не меняйте поставленную цель — важны лишь методы её достижения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Rectangle 14"/>
          <p:cNvSpPr/>
          <p:nvPr/>
        </p:nvSpPr>
        <p:spPr>
          <a:xfrm>
            <a:off x="868680" y="465192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TextBox 15"/>
          <p:cNvSpPr/>
          <p:nvPr/>
        </p:nvSpPr>
        <p:spPr>
          <a:xfrm>
            <a:off x="868680" y="486216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Box 16"/>
          <p:cNvSpPr/>
          <p:nvPr/>
        </p:nvSpPr>
        <p:spPr>
          <a:xfrm>
            <a:off x="1371600" y="4825800"/>
            <a:ext cx="45716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Делайте только по-настоящему важное дело, прикладывая максимум усилий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Rectangle 17"/>
          <p:cNvSpPr/>
          <p:nvPr/>
        </p:nvSpPr>
        <p:spPr>
          <a:xfrm>
            <a:off x="868680" y="542016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1" name="TextBox 18"/>
          <p:cNvSpPr/>
          <p:nvPr/>
        </p:nvSpPr>
        <p:spPr>
          <a:xfrm>
            <a:off x="868680" y="563040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Box 19"/>
          <p:cNvSpPr/>
          <p:nvPr/>
        </p:nvSpPr>
        <p:spPr>
          <a:xfrm>
            <a:off x="1371600" y="5593680"/>
            <a:ext cx="45716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Общайтесь с теми, кто развивается: он поведёт вас за собой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Rectangle 20"/>
          <p:cNvSpPr/>
          <p:nvPr/>
        </p:nvSpPr>
        <p:spPr>
          <a:xfrm>
            <a:off x="868680" y="618804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4" name="TextBox 21"/>
          <p:cNvSpPr/>
          <p:nvPr/>
        </p:nvSpPr>
        <p:spPr>
          <a:xfrm>
            <a:off x="6492240" y="255816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Box 22"/>
          <p:cNvSpPr/>
          <p:nvPr/>
        </p:nvSpPr>
        <p:spPr>
          <a:xfrm>
            <a:off x="6995160" y="2521440"/>
            <a:ext cx="45716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Работайте над собой: мир вокруг — зеркало вашего внутреннего «я»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Rectangle 23"/>
          <p:cNvSpPr/>
          <p:nvPr/>
        </p:nvSpPr>
        <p:spPr>
          <a:xfrm>
            <a:off x="6492240" y="311580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7" name="TextBox 24"/>
          <p:cNvSpPr/>
          <p:nvPr/>
        </p:nvSpPr>
        <p:spPr>
          <a:xfrm>
            <a:off x="6492240" y="332604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25"/>
          <p:cNvSpPr/>
          <p:nvPr/>
        </p:nvSpPr>
        <p:spPr>
          <a:xfrm>
            <a:off x="6995160" y="3289680"/>
            <a:ext cx="4571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Не позволяйте обидам сбить вас с пути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Rectangle 26"/>
          <p:cNvSpPr/>
          <p:nvPr/>
        </p:nvSpPr>
        <p:spPr>
          <a:xfrm>
            <a:off x="6492240" y="388404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0" name="TextBox 27"/>
          <p:cNvSpPr/>
          <p:nvPr/>
        </p:nvSpPr>
        <p:spPr>
          <a:xfrm>
            <a:off x="6492240" y="409428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Box 28"/>
          <p:cNvSpPr/>
          <p:nvPr/>
        </p:nvSpPr>
        <p:spPr>
          <a:xfrm>
            <a:off x="6995160" y="4057560"/>
            <a:ext cx="4571640" cy="2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Контролируйте гнев: за всё придётся платить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Rectangle 29"/>
          <p:cNvSpPr/>
          <p:nvPr/>
        </p:nvSpPr>
        <p:spPr>
          <a:xfrm>
            <a:off x="6492240" y="465192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3" name="TextBox 30"/>
          <p:cNvSpPr/>
          <p:nvPr/>
        </p:nvSpPr>
        <p:spPr>
          <a:xfrm>
            <a:off x="6492240" y="4862160"/>
            <a:ext cx="4568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200" spc="97" strike="noStrike">
                <a:solidFill>
                  <a:srgbClr val="8c7b5f"/>
                </a:solidFill>
                <a:latin typeface="Arial"/>
              </a:rPr>
              <a:t>09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TextBox 31"/>
          <p:cNvSpPr/>
          <p:nvPr/>
        </p:nvSpPr>
        <p:spPr>
          <a:xfrm>
            <a:off x="6995160" y="4825800"/>
            <a:ext cx="4571640" cy="5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450" spc="-1" strike="noStrike">
                <a:solidFill>
                  <a:srgbClr val="2a2a24"/>
                </a:solidFill>
                <a:latin typeface="Arial"/>
              </a:rPr>
              <a:t>Наблюдайте за людьми: каждый может научить или предостеречь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Rectangle 32"/>
          <p:cNvSpPr/>
          <p:nvPr/>
        </p:nvSpPr>
        <p:spPr>
          <a:xfrm>
            <a:off x="6492240" y="5420160"/>
            <a:ext cx="5074560" cy="68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7800" bIns="-378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6" name="TextBox 33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КОНФУЦИЙ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Box 34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19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Picture 1" descr="paper-clea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79" name="TextBox 2"/>
          <p:cNvSpPr/>
          <p:nvPr/>
        </p:nvSpPr>
        <p:spPr>
          <a:xfrm>
            <a:off x="868680" y="713160"/>
            <a:ext cx="8686440" cy="19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000" spc="299" strike="noStrike">
                <a:solidFill>
                  <a:srgbClr val="8a8578"/>
                </a:solidFill>
                <a:latin typeface="Arial"/>
              </a:rPr>
              <a:t>ЗАКЛЮЧЕНИЕ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Box 3"/>
          <p:cNvSpPr/>
          <p:nvPr/>
        </p:nvSpPr>
        <p:spPr>
          <a:xfrm>
            <a:off x="868680" y="1097280"/>
            <a:ext cx="868644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8000"/>
              </a:lnSpc>
            </a:pPr>
            <a:r>
              <a:rPr b="1" lang="en-US" sz="3000" spc="77" strike="noStrike">
                <a:solidFill>
                  <a:srgbClr val="2a2a24"/>
                </a:solidFill>
                <a:latin typeface="Arial"/>
              </a:rPr>
              <a:t>КАКОЙ ИТОГ?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Rectangle 4"/>
          <p:cNvSpPr/>
          <p:nvPr/>
        </p:nvSpPr>
        <p:spPr>
          <a:xfrm>
            <a:off x="868680" y="1735920"/>
            <a:ext cx="141696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TextBox 5"/>
          <p:cNvSpPr/>
          <p:nvPr/>
        </p:nvSpPr>
        <p:spPr>
          <a:xfrm>
            <a:off x="868680" y="2229480"/>
            <a:ext cx="6397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3400" spc="-1" strike="noStrike">
                <a:solidFill>
                  <a:srgbClr val="c2bbac"/>
                </a:solidFill>
                <a:latin typeface="Arial"/>
              </a:rPr>
              <a:t>1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Box 6"/>
          <p:cNvSpPr/>
          <p:nvPr/>
        </p:nvSpPr>
        <p:spPr>
          <a:xfrm>
            <a:off x="1600200" y="2302920"/>
            <a:ext cx="42973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Даосизм и конфуцианство — два разных ответа на вопрос, как «достичь берега»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7"/>
          <p:cNvSpPr/>
          <p:nvPr/>
        </p:nvSpPr>
        <p:spPr>
          <a:xfrm>
            <a:off x="6309360" y="2229480"/>
            <a:ext cx="6397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3400" spc="-1" strike="noStrike">
                <a:solidFill>
                  <a:srgbClr val="c2bbac"/>
                </a:solidFill>
                <a:latin typeface="Arial"/>
              </a:rPr>
              <a:t>2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8"/>
          <p:cNvSpPr/>
          <p:nvPr/>
        </p:nvSpPr>
        <p:spPr>
          <a:xfrm>
            <a:off x="7040880" y="2302920"/>
            <a:ext cx="4297320" cy="94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Лао-цзы предлагает довериться естественному течению вещей — путь недеяния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Box 9"/>
          <p:cNvSpPr/>
          <p:nvPr/>
        </p:nvSpPr>
        <p:spPr>
          <a:xfrm>
            <a:off x="868680" y="3710880"/>
            <a:ext cx="6397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3400" spc="-1" strike="noStrike">
                <a:solidFill>
                  <a:srgbClr val="c2bbac"/>
                </a:solidFill>
                <a:latin typeface="Arial"/>
              </a:rPr>
              <a:t>3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10"/>
          <p:cNvSpPr/>
          <p:nvPr/>
        </p:nvSpPr>
        <p:spPr>
          <a:xfrm>
            <a:off x="1600200" y="3783960"/>
            <a:ext cx="42973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Конфуций предлагает выстраивать себя и общество через воспитание, ритуал и долг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Box 11"/>
          <p:cNvSpPr/>
          <p:nvPr/>
        </p:nvSpPr>
        <p:spPr>
          <a:xfrm>
            <a:off x="6309360" y="3710880"/>
            <a:ext cx="63972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3400" spc="-1" strike="noStrike">
                <a:solidFill>
                  <a:srgbClr val="c2bbac"/>
                </a:solidFill>
                <a:latin typeface="Arial"/>
              </a:rPr>
              <a:t>4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12"/>
          <p:cNvSpPr/>
          <p:nvPr/>
        </p:nvSpPr>
        <p:spPr>
          <a:xfrm>
            <a:off x="7040880" y="3783960"/>
            <a:ext cx="4297320" cy="63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50" spc="-1" strike="noStrike">
                <a:solidFill>
                  <a:srgbClr val="2a2a24"/>
                </a:solidFill>
                <a:latin typeface="Arial"/>
              </a:rPr>
              <a:t>Оба ищут не крайность, а верную меру — тот самый путь «поперёк течения»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Rectangle 13"/>
          <p:cNvSpPr/>
          <p:nvPr/>
        </p:nvSpPr>
        <p:spPr>
          <a:xfrm>
            <a:off x="868680" y="5560200"/>
            <a:ext cx="10454040" cy="792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720" bIns="-36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1" name="Rectangle 14"/>
          <p:cNvSpPr/>
          <p:nvPr/>
        </p:nvSpPr>
        <p:spPr>
          <a:xfrm>
            <a:off x="868680" y="5761440"/>
            <a:ext cx="25200" cy="291600"/>
          </a:xfrm>
          <a:prstGeom prst="rect">
            <a:avLst/>
          </a:prstGeom>
          <a:solidFill>
            <a:srgbClr val="2c382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TextBox 15"/>
          <p:cNvSpPr/>
          <p:nvPr/>
        </p:nvSpPr>
        <p:spPr>
          <a:xfrm>
            <a:off x="1143000" y="5761440"/>
            <a:ext cx="101430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4000"/>
              </a:lnSpc>
            </a:pPr>
            <a:r>
              <a:rPr b="0" lang="en-US" sz="1500" spc="-1" strike="noStrike">
                <a:solidFill>
                  <a:srgbClr val="2c382f"/>
                </a:solidFill>
                <a:latin typeface="Arial"/>
              </a:rPr>
              <a:t>Почти три тысячи лет они сосуществуют в китайской культуре не как враги, а как две стороны одной мудрости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16"/>
          <p:cNvSpPr/>
          <p:nvPr/>
        </p:nvSpPr>
        <p:spPr>
          <a:xfrm>
            <a:off x="868680" y="6291000"/>
            <a:ext cx="6400440" cy="17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900" spc="219" strike="noStrike">
                <a:solidFill>
                  <a:srgbClr val="8a8578"/>
                </a:solidFill>
                <a:latin typeface="Arial"/>
              </a:rPr>
              <a:t>ЗАКЛЮЧЕНИЕ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17"/>
          <p:cNvSpPr/>
          <p:nvPr/>
        </p:nvSpPr>
        <p:spPr>
          <a:xfrm>
            <a:off x="10225800" y="6291000"/>
            <a:ext cx="10969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25000"/>
              </a:lnSpc>
            </a:pPr>
            <a:r>
              <a:rPr b="0" lang="en-US" sz="950" spc="-1" strike="noStrike">
                <a:solidFill>
                  <a:srgbClr val="8a8578"/>
                </a:solidFill>
                <a:latin typeface="Arial"/>
              </a:rPr>
              <a:t>20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Picture 1" descr="section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ln w="0">
            <a:noFill/>
          </a:ln>
        </p:spPr>
      </p:pic>
      <p:sp>
        <p:nvSpPr>
          <p:cNvPr id="496" name="Rectangle 2"/>
          <p:cNvSpPr/>
          <p:nvPr/>
        </p:nvSpPr>
        <p:spPr>
          <a:xfrm>
            <a:off x="0" y="2331720"/>
            <a:ext cx="12191400" cy="2377080"/>
          </a:xfrm>
          <a:prstGeom prst="rect">
            <a:avLst/>
          </a:prstGeom>
          <a:solidFill>
            <a:srgbClr val="ede9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Rectangle 3"/>
          <p:cNvSpPr/>
          <p:nvPr/>
        </p:nvSpPr>
        <p:spPr>
          <a:xfrm>
            <a:off x="0" y="2331720"/>
            <a:ext cx="12191400" cy="86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8" name="Rectangle 4"/>
          <p:cNvSpPr/>
          <p:nvPr/>
        </p:nvSpPr>
        <p:spPr>
          <a:xfrm>
            <a:off x="0" y="4709160"/>
            <a:ext cx="12191400" cy="8640"/>
          </a:xfrm>
          <a:prstGeom prst="rect">
            <a:avLst/>
          </a:prstGeom>
          <a:solidFill>
            <a:srgbClr val="beb8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9" name="TextBox 5"/>
          <p:cNvSpPr/>
          <p:nvPr/>
        </p:nvSpPr>
        <p:spPr>
          <a:xfrm>
            <a:off x="868680" y="2670120"/>
            <a:ext cx="10423800" cy="12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0000"/>
              </a:lnSpc>
            </a:pPr>
            <a:r>
              <a:rPr b="1" lang="en-US" sz="3600" spc="299" strike="noStrike">
                <a:solidFill>
                  <a:srgbClr val="2a2a24"/>
                </a:solidFill>
                <a:latin typeface="Arial"/>
              </a:rPr>
              <a:t>СПАСИБО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0000"/>
              </a:lnSpc>
            </a:pPr>
            <a:r>
              <a:rPr b="1" lang="en-US" sz="3600" spc="299" strike="noStrike">
                <a:solidFill>
                  <a:srgbClr val="2a2a24"/>
                </a:solidFill>
                <a:latin typeface="Arial"/>
              </a:rPr>
              <a:t>ЗА ВНИМАНИЕ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Rectangle 6"/>
          <p:cNvSpPr/>
          <p:nvPr/>
        </p:nvSpPr>
        <p:spPr>
          <a:xfrm>
            <a:off x="5684400" y="4133160"/>
            <a:ext cx="822600" cy="12600"/>
          </a:xfrm>
          <a:prstGeom prst="rect">
            <a:avLst/>
          </a:prstGeom>
          <a:solidFill>
            <a:srgbClr val="8c7b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040" bIns="-32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1" name="TextBox 7"/>
          <p:cNvSpPr/>
          <p:nvPr/>
        </p:nvSpPr>
        <p:spPr>
          <a:xfrm>
            <a:off x="2011680" y="5139000"/>
            <a:ext cx="813780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45000"/>
              </a:lnSpc>
            </a:pPr>
            <a:r>
              <a:rPr b="0" i="1" lang="en-US" sz="1450" spc="-1" strike="noStrike">
                <a:solidFill>
                  <a:srgbClr val="4a4942"/>
                </a:solidFill>
                <a:latin typeface="Arial"/>
              </a:rPr>
              <a:t>«Не иди по течению, не иди против течения — иди поперёк него, если хочешь достичь берега.»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25000"/>
              </a:lnSpc>
              <a:spcBef>
                <a:spcPts val="901"/>
              </a:spcBef>
            </a:pPr>
            <a:r>
              <a:rPr b="0" lang="en-US" sz="1000" spc="259" strike="noStrike">
                <a:solidFill>
                  <a:srgbClr val="8a8578"/>
                </a:solidFill>
                <a:latin typeface="Arial"/>
              </a:rPr>
              <a:t>СЛОВА ВАНТАЛЫ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>Философия Древнего Китая</dc:subject>
  <dc:title>Китайская философия. Даосизм и конфуцианство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