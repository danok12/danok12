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выступления — космополитизм. Сегодня это слово звучит то как комплимент, то как обвинение. Разберёмся, откуда оно взялось, как его понимали философы, почему в СССР «космополит» стало ругательством и что эта идея значит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Слово греческое: «космос» — мир, вселенная, а ещё порядок; «полите́с» — гражданин. Получается «гражданин мира».
Сегодня космополитизмом называют убеждение, что все люди принадлежат к одному мировому сообществу. Отсюда три идеи: люди равны по достоинству, где бы они ни родились; наши обязанности не заканчиваются на границе; у человечества общий дом и общие проблемы.
Важно: космополитизм не обязательно означает отказ от родины — к этому мы ещё вернёмся.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понять, почему идея была революционной, вспомним, как жили греки до неё. На фреске Рафаэля «Афинская школа» в центре — Платон и Аристотель. Для них горизонт жизни — полис, город-государство. Аристотель писал: человек по природе — существо политическое, а живущий вне полиса — «либо зверь, либо бог». Мир делился на эллинов и варваров; само слово «варвар» — звукоподражание: речь чужеземцев казалась грекам бессмысленным «бар-бар».
Ирония истории: учеником Аристотеля был Александр Македонский. Его походы объединили огромное пространство от Греции до Индии, полисы потеряли независимость, и людям понадобилась новая опора: не «я — афинянин», а «я — человек».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теперь загадка. На картине Жака-Луи Давида — последние минуты Сократа. По словам Цицерона и Плутарха, на вопрос, откуда он родом, Сократ отвечал: «Я не афинянин и не эллин, а гражданин мира».
Но в 399 году до нашей эры афинский суд приговорил его к смерти. Друзья готовили побег, а Сократ отказался: в диалоге Платона «Критон» он объясняет, что не может нарушить законы города, по которым прожил всю жизнь. И выпил цикуту.
Получается парадокс: гражданин мира умирает из верности своему городу. Можно ли совместить мир и родину — этот вопрос пройдёт через всю историю космополитизма.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Первым, кто прямо назвал себя космополитом, был Диоген Синопский. Его изгнали из родной Синопы на Чёрном море, и на вопрос, откуда он, Диоген отвечал: «Я — гражданин мира». Жил он в знаменитой «бочке» — на самом деле в пифосе, огромном глиняном сосуде для зерна. Для киников — его школы — это был вызов обществу: законы, границы и обычаи условны, важны только природа и разум.
Известная история: в Коринфе Александр Македонский предложил Диогену исполнить любое желание. Тот ответил: «Отойди, не заслоняй мне солнце». Александр будто бы сказал: «Если бы я не был Александром, я хотел бы быть Диогеном». По преданию, они и умерли в один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Настоящую философию гражданина мира построили стоики. Название — от Расписного портика в Афинах, «стоа», где учил основатель школы Зенон. Он мечтал, чтобы люди жили не отдельными городами со своими законами, а одним сообществом под общим законом.
Сенека говорил, что каждый из нас — гражданин двух государств: великого общего, границы которого «мы измеряем путём солнца», и того, к которому нас приписал случай рождения.
А император Марк Аврелий записал: «Мой город и отечество, поскольку я Антонин, — Рим, а поскольку я человек — мир». Писал он это по-гречески, в военных лагерях на Дунае. Для стоиков космополитизм — не отказ от родины, а второй, более широкий уровень принадлежности.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Наглядную модель предложил стоик Иерокл. Представьте, что вы стоите в центре кругов: вы сами, семья, родственники, соседи, сограждане и, наконец, всё человечество. Иерокл советовал «стягивать круги к центру»: к двоюродным братьям относиться как к родным, к незнакомым — как к соседям.
Заметьте: семью он не предлагает любить меньше. Внутренние круги остаются, просто внешние перестают быть чужими. Эту схему использует современный философ Марта Нуссбаум, чтобы показать: патриотизм и космополитизм не обязаны враждовать.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эпоху Просвещения идея пережила второе рождение. В 1795 году Иммануил Кант опубликовал трактат «К вечному миру». Он предлагал союз государств, которые решают споры правом, а не войной, и ввёл понятие «космополитического права» — права каждого на гостеприимство: не встретить вражды в чужой стране. Кант писал, что народы уже так связаны, что нарушение права в одном месте Земли ощущается во всех других. Трактат считают одним из идейных истоков ООН.
Забавно, что сам Кант почти всю жизнь провёл в Кёнигсберге — нынешнем Калининграде — и считал, что в портовом городе мир можно узнать без путешествий. А в России Карамзин тогда же писал: «Главное дело быть людьми, а не славянами».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XIX–XX веках идею попытались воплотить на практике. В 1887 году варшавский окулист Людвик Заменгоф создал эсперанто. Он вырос в Белостоке, где соседи говорили на разных языках и не доверяли друг другу, и верил, что общий язык сблизит людей. Подписался он «Доктор Эсперанто» — «надеющийся».
В 1948 году американский лётчик Гарри Дэвис, прошедший войну, отказался в Париже от гражданства США и объявил себя гражданином мира. Он разбил палатку у дворца Шайо, где заседала ООН, позже выпускал «мировые паспорта» и прожил без гражданства до 2013 года.
А в декабре того же года в том же дворце ООН приняла Всеобщую декларацию прав человека: права человека не зависят от паспорта.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слова есть и тёмная страница, важная для нашей страны. 28 января 1949 года «Правда» напечатала статью «Об одной антипатриотической группе театральных критиков». С неё развернулась кампания «борьбы с космополитизмом», продолжавшаяся до смерти Сталина в 1953 году. «Безродный космополит» стало клеймом: людей обвиняли в «низкопоклонстве перед Западом», увольняли, исключали из союзов и институтов. Кампания имела явную антисемитскую направленность, а словари определяли космополитизм как «реакционную буржуазную идеологию».
Парадокс: лозунгом страны оставалось «Пролетарии всех стран, соединяйтесь!» — интернационализм считался добродетелью, космополитизм — пороком. Отсюда двойственное отношение к слову, которое во многом сохраняется до сих пор.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космополитизм — часть повседневности: одни и те же фильмы, соцсети, учёба и работа за границей. В 1992 году появилось гражданство Евросоюза: гражданин любой страны союза может жить и работать в любой другой. Студенческий обмен «Эразмус» так перемешал молодёжь, что, по оценке Еврокомиссии, у пар, познакомившихся по обмену, родилось около миллиона детей — «дети Эразмуса».
Космонавты описывают «эффект обзора». Султан бин Салман, первый араб в космосе, вспоминал: сначала все показывали на свои страны, потом на континенты, а к пятому дню видели только одну Землю. И главное: у климата, пандемий и интернета нет границ — такие проблемы решают только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космополитизма есть сторонники и критики. Сторонники говорят: равное достоинство людей — основа прав человека, глобальные проблемы в одиночку не решить, открытость делает общества терпимее. Их девиз можно взять у Теренция: «Я человек, и ничто человеческое мне не чуждо».
Критики возражают. Ещё Руссо язвил о космополитах, которые ищут обязанности в далёких краях, чтобы не исполнять их рядом: «Иной философ любит татар, чтобы иметь право не любить своих соседей». Кроме того, гражданство — это конкретные права и обязанности, а мирового государства нет. В 2016 году британский премьер Тереза Мэй сказала: «Если вы считаете себя гражданином мира, вы гражданин ниоткуда». Это всё тот же вопрос Сократа.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разрешить парадокс Сократа? Философ Кваме Энтони Аппиа — сын ганского политика и англичанки, выросший в Гане и преподающий в США, — предлагает «укоренённый космополитизм». Его отец, патриот Ганы, завещал детям: «Помните, что вы граждане мира», — и где бы вы ни жили, оставьте это место лучше, чем нашли.
Можно любить свой город, страну и язык — и помнить, что люди в других странах так же достойны уважения. Возможно, так жил и Сократ: верный Афинам, он думал о человеке вообще. Космополитизм — не отсутствие корней, а широта взгляда.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источников — на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И вопрос к вам: считаете ли вы себя гражданином мира — или гражданином своего города и страны? А может быть, как стоики, и тем и другим сразу?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spc="400" kern="0" dirty="0">
                <a:solidFill>
                  <a:srgbClr val="E2DAC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ΚΟΣΜΟΠΟΛΙΤΗΣ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Гражданин мира: от Диогена до наших дней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κόσμος</a:t>
            </a:r>
            <a:pPr indent="0" marL="0">
              <a:buNone/>
            </a:pPr>
            <a:r>
              <a:rPr lang="en-US" sz="1700" dirty="0">
                <a:solidFill>
                  <a:srgbClr val="756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мир   ·   </a:t>
            </a:r>
            <a:pPr indent="0" marL="0">
              <a:buNone/>
            </a:pPr>
            <a:r>
              <a:rPr lang="en-US" sz="17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πολίτης</a:t>
            </a:r>
            <a:pPr indent="0" marL="0">
              <a:buNone/>
            </a:pPr>
            <a:r>
              <a:rPr lang="en-US" sz="1700" dirty="0">
                <a:solidFill>
                  <a:srgbClr val="756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гражданин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5394960" cy="13716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349240"/>
            <a:ext cx="4846320" cy="13716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715000"/>
            <a:ext cx="3383280" cy="137160"/>
          </a:xfrm>
          <a:prstGeom prst="rect">
            <a:avLst/>
          </a:prstGeom>
          <a:solidFill>
            <a:srgbClr val="7F97C4"/>
          </a:solidFill>
          <a:ln w="12700">
            <a:solidFill>
              <a:srgbClr val="7F97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685800"/>
            <a:ext cx="4206240" cy="4206240"/>
          </a:xfrm>
          <a:prstGeom prst="ellipse">
            <a:avLst/>
          </a:prstGeom>
          <a:solidFill>
            <a:srgbClr val="DCE3E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685800"/>
            <a:ext cx="4206240" cy="4206240"/>
          </a:xfrm>
          <a:prstGeom prst="ellips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685800"/>
            <a:ext cx="2103120" cy="4206240"/>
          </a:xfrm>
          <a:prstGeom prst="ellips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1245" y="685800"/>
            <a:ext cx="3642711" cy="4206240"/>
          </a:xfrm>
          <a:prstGeom prst="ellips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685800"/>
            <a:ext cx="0" cy="420624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967565"/>
            <a:ext cx="2103120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1245" y="1737360"/>
            <a:ext cx="3642711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2788920"/>
            <a:ext cx="4206240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51245" y="3840480"/>
            <a:ext cx="3642711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4610275"/>
            <a:ext cx="2103120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pic>
        <p:nvPicPr>
          <p:cNvPr id="19" name="Image 0" descr="/home/user/danok12/prezentatsii/kosmopolitizm/src/img/statue_cut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868680"/>
            <a:ext cx="3032015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ЧТО ТАКОЕ КОСМОПОЛИТИЗМ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017520" cy="141732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30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κόσμος</a:t>
            </a:r>
            <a:endParaRPr lang="en-US" sz="3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kósmos</a:t>
            </a:r>
            <a:endParaRPr lang="en-US" sz="3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мир, вселенная, порядок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600200"/>
            <a:ext cx="502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0" y="1600200"/>
            <a:ext cx="3017520" cy="141732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0" y="16002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30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πολίτης</a:t>
            </a:r>
            <a:endParaRPr lang="en-US" sz="3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polítēs</a:t>
            </a:r>
            <a:endParaRPr lang="en-US" sz="3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гражданин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600200"/>
            <a:ext cx="502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=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7680960" y="1600200"/>
            <a:ext cx="3962095" cy="141732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1600200"/>
            <a:ext cx="3962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κοσμοπολίτης</a:t>
            </a:r>
            <a:endParaRPr lang="en-US" sz="3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kosmopolítēs</a:t>
            </a:r>
            <a:endParaRPr lang="en-US" sz="3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гражданин мира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920240" cy="329184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3429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ОПРЕДЕЛЕНИЕ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862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Космополитизм — убеждение, что все люди принадлежат к единому мировому сообществу и эта принадлежность не менее важна, чем связь со своей страной, городом или народом.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Космополитизм — не отказ от родины. Главный вопрос — как совместить «своё» и «общее».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3429000"/>
            <a:ext cx="5653735" cy="841248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53912" y="342900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429000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Равное достоинство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люди равны, где бы они ни родились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89320" y="4416552"/>
            <a:ext cx="5653735" cy="841248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53912" y="4416552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416552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Обязанности без границ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моральный долг не заканчивается на границе государства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989320" y="5404104"/>
            <a:ext cx="5653735" cy="841248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5404104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//03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5404104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дом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человечества общие проблемы и общее будущее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 КОСМОПОЛИТИЗМА: МИР ПОЛИСА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94944" y="1719072"/>
            <a:ext cx="5212080" cy="3831529"/>
          </a:xfrm>
          <a:prstGeom prst="rect">
            <a:avLst/>
          </a:prstGeom>
          <a:noFill/>
          <a:ln w="12700">
            <a:solidFill>
              <a:srgbClr val="2B4C8C"/>
            </a:solidFill>
            <a:prstDash val="solid"/>
          </a:ln>
        </p:spPr>
      </p:sp>
      <p:pic>
        <p:nvPicPr>
          <p:cNvPr id="6" name="Image 0" descr="/home/user/danok12/prezentatsii/kosmopolitizm/src/img/athens_gr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5212080" cy="38315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0329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Рафаэль. «Афинская школа», 1509–1511. В центре — Платон и Аристотель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572768"/>
            <a:ext cx="5379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Полис — это всё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существует как гражданин своего города-государства: Афин, Спарты, Коринфа.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487168"/>
            <a:ext cx="5379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Аристотель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«Человек по природе — существо политическое». Живущий вне полиса — «либо зверь, либо бог».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3401568"/>
            <a:ext cx="5379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Эллины и варвары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Варвары — все, кто не говорит по-гречески: их речь звучала для греков как «бар-бар».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4526280"/>
            <a:ext cx="5379415" cy="173736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ПОВОРОТ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983480"/>
            <a:ext cx="4830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Аристотеля — Александр Македонский. Его походы (334–323 до н. э.) разрушили мир независимых полисов, и человеку понадобилась новая опора: не «я — афинянин», а «я — человек».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ПАРАДОКС СОКРАТА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202375" y="1719072"/>
            <a:ext cx="5440680" cy="3442063"/>
          </a:xfrm>
          <a:prstGeom prst="rect">
            <a:avLst/>
          </a:prstGeom>
          <a:noFill/>
          <a:ln w="12700">
            <a:solidFill>
              <a:srgbClr val="2B4C8C"/>
            </a:solidFill>
            <a:prstDash val="solid"/>
          </a:ln>
        </p:spPr>
      </p:sp>
      <p:pic>
        <p:nvPicPr>
          <p:cNvPr id="6" name="Image 0" descr="/home/user/danok12/prezentatsii/kosmopolitizm/src/img/socrates_gr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071" y="1572768"/>
            <a:ext cx="5440680" cy="34420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56071" y="5252575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Жак-Луи Давид. «Смерть Сократа», 1787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371600" cy="329184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СЛОВА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50959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«Я не афинянин и не эллин, а гражданин мира»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880360"/>
            <a:ext cx="50959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так, по Цицерону и Плутарху, Сократ отвечал на вопрос, откуда он родом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371600" cy="329184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" y="3520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ПОСТУПОК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959352"/>
            <a:ext cx="509595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 г. до н. э. </a:t>
            </a:r>
            <a:pPr indent="0" marL="0"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Афинский суд приговорил Сократа к смерти. Друзья готовили побег, но он отказался: нарушить законы родного города — значит предать его. И выпил цикуту.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5321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55321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Можно ли быть гражданином мира — и оставаться верным своему городу?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ДИОГЕН: ПЕРВЫЙ КОСМОПОЛИТ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555480" y="1325880"/>
            <a:ext cx="1645920" cy="1645920"/>
          </a:xfrm>
          <a:prstGeom prst="ellipse">
            <a:avLst/>
          </a:prstGeom>
          <a:solidFill>
            <a:srgbClr val="DCE3EF"/>
          </a:solidFill>
          <a:ln w="15875">
            <a:solidFill>
              <a:srgbClr val="7F9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47016" y="2341502"/>
            <a:ext cx="286986" cy="5708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9559" y="2697494"/>
            <a:ext cx="243295" cy="162564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94" y="2969959"/>
            <a:ext cx="162564" cy="24329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71102" y="3117416"/>
            <a:ext cx="57085" cy="286986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128693" y="3117416"/>
            <a:ext cx="57085" cy="286986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9667221" y="2969959"/>
            <a:ext cx="162564" cy="24329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314026" y="2697494"/>
            <a:ext cx="243295" cy="162564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122878" y="2341502"/>
            <a:ext cx="286986" cy="5708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2878" y="1899093"/>
            <a:ext cx="286986" cy="5708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14026" y="1437621"/>
            <a:ext cx="243295" cy="162564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67221" y="1084426"/>
            <a:ext cx="162564" cy="24329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28693" y="893278"/>
            <a:ext cx="57085" cy="286986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0571102" y="893278"/>
            <a:ext cx="57085" cy="286986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0927094" y="1084426"/>
            <a:ext cx="162564" cy="24329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11199559" y="1437621"/>
            <a:ext cx="243295" cy="162564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1347016" y="1899093"/>
            <a:ext cx="286986" cy="57085"/>
          </a:xfrm>
          <a:prstGeom prst="line">
            <a:avLst/>
          </a:prstGeom>
          <a:noFill/>
          <a:ln w="19050">
            <a:solidFill>
              <a:srgbClr val="7F97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5544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«Я — гражданин мира»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377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Диоген Синопский (IV в. до н. э.) — первый, о ком известно, что он называл себя κοσμοπολίτης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5760720" cy="86868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1089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//01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108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Изгнанник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выслали из родной Синопы на Чёрном море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105656"/>
            <a:ext cx="5760720" cy="86868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105656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//02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105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«Бочка» — это пифос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огромный глиняный сосуд для зерна, в нём Диоген и жил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102352"/>
            <a:ext cx="5760720" cy="86868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10235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//03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1023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обществу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киников законы, границы и обычаи условны; важны природа и разум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12280" y="2697480"/>
            <a:ext cx="4510735" cy="274320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86600" y="289864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КОРИНФ, IV В. ДО Н. Э.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3264408"/>
            <a:ext cx="39620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«Проси у меня чего хочешь».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Диоген: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«Отойди, не заслоняй мне солнце».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«Если бы я не был Александром, я хотел бы быть Диогеном».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5623560"/>
            <a:ext cx="4830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преданию, оба умерли в один день — в 323 г. до н. э.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06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СТОИКИ: ДВА ГОСУДАРСТВА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Стоики превратили вызов Диогена в стройную философию: каждый человек — гражданин двух государств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54298" cy="333756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ЗЕНОН КИТИЙСКИЙ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ок. 334–262 до н. э. · основатель школы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Люди должны жить не отдельными городами, каждый со своими законами, а одним сообществом под общим законом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0060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 пересказе Плутарха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8698" y="1920240"/>
            <a:ext cx="3454298" cy="333756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3018" y="21488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СЕНЕКА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251460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ок. 4 до н. э. – 65 н. э. · римский философ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43018" y="292608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«Есть два государства: одно — великое и поистине общее, его границы мы измеряем путём солнца; другое — то, к которому нас приписал случай рождения»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43018" y="480060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«О досуге»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44670" y="2103120"/>
            <a:ext cx="0" cy="2971800"/>
          </a:xfrm>
          <a:prstGeom prst="line">
            <a:avLst/>
          </a:prstGeom>
          <a:noFill/>
          <a:ln w="12700">
            <a:solidFill>
              <a:srgbClr val="2B4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6966" y="2103120"/>
            <a:ext cx="0" cy="2971800"/>
          </a:xfrm>
          <a:prstGeom prst="line">
            <a:avLst/>
          </a:prstGeom>
          <a:noFill/>
          <a:ln w="12700">
            <a:solidFill>
              <a:srgbClr val="2B4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8757" y="1920240"/>
            <a:ext cx="3454298" cy="333756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3077" y="21488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МАРК АВРЕЛИЙ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63077" y="251460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121–180 · римский император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63077" y="292608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«Мой город и отечество, поскольку я Антонин, — Рим, а поскольку я человек — мир»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63077" y="480060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«Размышления», VI, 44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64729" y="2103120"/>
            <a:ext cx="0" cy="2971800"/>
          </a:xfrm>
          <a:prstGeom prst="line">
            <a:avLst/>
          </a:prstGeom>
          <a:noFill/>
          <a:ln w="12700">
            <a:solidFill>
              <a:srgbClr val="2B4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7025" y="2103120"/>
            <a:ext cx="0" cy="2971800"/>
          </a:xfrm>
          <a:prstGeom prst="line">
            <a:avLst/>
          </a:prstGeom>
          <a:noFill/>
          <a:ln w="12700">
            <a:solidFill>
              <a:srgbClr val="2B4C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532120"/>
            <a:ext cx="5364328" cy="749808"/>
          </a:xfrm>
          <a:prstGeom prst="rect">
            <a:avLst/>
          </a:prstGeom>
          <a:solidFill>
            <a:srgbClr val="EBE5DB"/>
          </a:solidFill>
          <a:ln w="12700">
            <a:solidFill>
              <a:srgbClr val="EBE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53212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ФАКТ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532120"/>
            <a:ext cx="426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«Стоики» — от Стоа Пойкиле, Расписного портика в Афинах, где учил Зенон.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78728" y="5532120"/>
            <a:ext cx="5364328" cy="749808"/>
          </a:xfrm>
          <a:prstGeom prst="rect">
            <a:avLst/>
          </a:prstGeom>
          <a:solidFill>
            <a:srgbClr val="EBE5DB"/>
          </a:solidFill>
          <a:ln w="12700">
            <a:solidFill>
              <a:srgbClr val="EBE5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61608" y="553212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ФАКТ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5532120"/>
            <a:ext cx="426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 Аврелий писал «Размышления» по-гречески, в военных лагерях на Дунае.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07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КРУГИ ИЕРОКЛА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41832" y="1554480"/>
            <a:ext cx="4974336" cy="4974336"/>
          </a:xfrm>
          <a:prstGeom prst="ellipse">
            <a:avLst/>
          </a:prstGeom>
          <a:solidFill>
            <a:srgbClr val="E4E9F2"/>
          </a:solidFill>
          <a:ln w="19050">
            <a:solidFill>
              <a:srgbClr val="F1E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1956816"/>
            <a:ext cx="4169664" cy="4169664"/>
          </a:xfrm>
          <a:prstGeom prst="ellipse">
            <a:avLst/>
          </a:prstGeom>
          <a:solidFill>
            <a:srgbClr val="CCD6E8"/>
          </a:solidFill>
          <a:ln w="19050">
            <a:solidFill>
              <a:srgbClr val="F1ED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6504" y="2359152"/>
            <a:ext cx="3364992" cy="3364992"/>
          </a:xfrm>
          <a:prstGeom prst="ellipse">
            <a:avLst/>
          </a:prstGeom>
          <a:solidFill>
            <a:srgbClr val="A9BAD9"/>
          </a:solidFill>
          <a:ln w="19050">
            <a:solidFill>
              <a:srgbClr val="F1ED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761488"/>
            <a:ext cx="2560320" cy="2560320"/>
          </a:xfrm>
          <a:prstGeom prst="ellipse">
            <a:avLst/>
          </a:prstGeom>
          <a:solidFill>
            <a:srgbClr val="7F97C4"/>
          </a:solidFill>
          <a:ln w="19050">
            <a:solidFill>
              <a:srgbClr val="F1E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51176" y="3163824"/>
            <a:ext cx="1755648" cy="1755648"/>
          </a:xfrm>
          <a:prstGeom prst="ellipse">
            <a:avLst/>
          </a:prstGeom>
          <a:solidFill>
            <a:srgbClr val="4F6DA8"/>
          </a:solidFill>
          <a:ln w="19050">
            <a:solidFill>
              <a:srgbClr val="F1E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3584448"/>
            <a:ext cx="914400" cy="914400"/>
          </a:xfrm>
          <a:prstGeom prst="ellipse">
            <a:avLst/>
          </a:prstGeom>
          <a:solidFill>
            <a:srgbClr val="2B4C8C"/>
          </a:solidFill>
          <a:ln w="19050">
            <a:solidFill>
              <a:srgbClr val="F1ED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1609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3B2A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ЧЕЛОВЕЧЕСТВО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3B2A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СОГРАЖДАНЕ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3B2A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СОСЕДИ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РОДНЯ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227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СЕМЬЯ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Я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60020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Стоик Иерокл, II в. н. э.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057400"/>
            <a:ext cx="4922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человек стоит в центре кругов: семья, родня, соседи, сограждане — и, наконец, всё человечество.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0840" y="3108960"/>
            <a:ext cx="4922215" cy="123444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310896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«Стягивать круги к центру»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относиться к дальним как к ближним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4526280"/>
            <a:ext cx="4922215" cy="109728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4526280"/>
            <a:ext cx="43735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Космополит не стирает внутренние круги — он не даёт внешним стать чужими.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5760720"/>
            <a:ext cx="4922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Эту схему использует философ Марта Нуссбаум в споре о патриотизме и космополитизме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08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КАНТ: «К ВЕЧНОМУ МИРУ»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1795</a:t>
            </a:r>
            <a:endParaRPr lang="en-US" sz="1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Иммануил Кант (1724–1804) публикует трактат «К вечному миру»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977640" cy="256032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ИНТЕРЕСНЫЙ ФАКТ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15968"/>
            <a:ext cx="3429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теоретик «гражданина мира» почти всю жизнь провёл в Кёнигсберге (ныне Калининград) и считал, что в портовом городе мир и людей можно узнать без путешествий.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937760" y="1572768"/>
            <a:ext cx="6705295" cy="86868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2352" y="157276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572768"/>
            <a:ext cx="5608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Союз государств вместо войн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споры между народами решает право, а не сила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937760" y="2578608"/>
            <a:ext cx="6705295" cy="105156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02352" y="2578608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578608"/>
            <a:ext cx="5608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Космополитическое право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каждого на гостеприимство: прибыв в чужую страну, не встретить вражды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794760"/>
            <a:ext cx="6705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«Нарушение права в одном месте Земли ощущается во всех других»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4663440"/>
            <a:ext cx="6705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Трактат считают одним из идейных истоков Лиги Наций и ООН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5212080"/>
            <a:ext cx="6705295" cy="1097280"/>
          </a:xfrm>
          <a:prstGeom prst="rect">
            <a:avLst/>
          </a:prstGeom>
          <a:solidFill>
            <a:srgbClr val="DCE3E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5212080"/>
            <a:ext cx="6156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в России: </a:t>
            </a:r>
            <a:pPr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«Главное дело быть людьми, а не славянами»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Н. М. Карамзин, «Письма русского путешественника»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09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ГРАЖДАНИН МИРА НА ПРАКТИКЕ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XIX–XX века: от идеи — к попыткам жить по ней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5258" cy="365760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1887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ЭСПЕРАНТО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Окулист Людвик Заменгоф вырос в Белостоке, где соседи говорили на разных языках и не доверяли друг другу. Он создал язык «для всего человечества» и подписался «Доктор Эсперанто» — «надеющийся».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38218" y="1920240"/>
            <a:ext cx="3515258" cy="365760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21031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1948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926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ГАРРИ ДЭВИС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832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Бывший лётчик ВВС США отказался от американского гражданства и объявил себя «гражданином мира». Разбил палатку у дворца Шайо в Париже, где заседала ООН, позже выпускал «мировые паспорта». Жил без гражданства до 2013 г.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127797" y="1920240"/>
            <a:ext cx="3515258" cy="365760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02117" y="21031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1948</a:t>
            </a:r>
            <a:endParaRPr lang="en-US" sz="50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2926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ДЕКЛАРАЦИЯ ПРАВ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33832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декабря в том же дворце Шайо ООН приняла Всеобщую декларацию прав человека: «Все люди рождаются свободными и равными в своём достоинстве и правах».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человека не зависят от паспорта — в этом космополитическая суть Декларации.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КАК «КОСМОПОЛИТ» СТАЛ РУГАТЕЛЬСТВОМ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28.01.1949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Газета «Правда»: статья «Об одной антипатриотической группе театральных критиков»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1948–1953 — кампания «борьбы с космополитизмом» в СССР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Клеймо «безродный космополит» — обвинение в «низкопоклонстве перед Западом»: увольнения, исключения из союзов и институтов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Кампания имела явную антисемитскую направленность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 rot="-180000">
            <a:off x="6903720" y="1572768"/>
            <a:ext cx="4327855" cy="658368"/>
          </a:xfrm>
          <a:prstGeom prst="rect">
            <a:avLst/>
          </a:prstGeom>
          <a:noFill/>
          <a:ln w="31750">
            <a:solidFill>
              <a:srgbClr val="4A36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4A36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БЕЗРОДНЫЙ КОСМОПОЛИТ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92240" y="2606040"/>
            <a:ext cx="5150815" cy="109728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2606040"/>
            <a:ext cx="4602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ГРЕЧЕСКИЙ СМЫСЛ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«гражданин мира»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703320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4087368"/>
            <a:ext cx="5150815" cy="1097280"/>
          </a:xfrm>
          <a:prstGeom prst="rect">
            <a:avLst/>
          </a:prstGeom>
          <a:solidFill>
            <a:srgbClr val="4A362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4087368"/>
            <a:ext cx="4602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spc="200" kern="0" dirty="0">
                <a:solidFill>
                  <a:srgbClr val="D9CBB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СОВЕТСКИЕ СЛОВАРИ 1950-Х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«реакционная буржуазная идеология»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solidFill>
            <a:srgbClr val="DCE3E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486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Парадокс: </a:t>
            </a:r>
            <a:pPr indent="0" marL="0"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лозунгом страны оставалось «Пролетарии всех стран, соединяйтесь!» — интернационализм считался добродетелью, космополитизм — пороком.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11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 СЕГОДНЯ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06640" y="1508760"/>
            <a:ext cx="4023360" cy="4023360"/>
          </a:xfrm>
          <a:prstGeom prst="ellipse">
            <a:avLst/>
          </a:prstGeom>
          <a:solidFill>
            <a:srgbClr val="DCE3E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508760"/>
            <a:ext cx="4023360" cy="4023360"/>
          </a:xfrm>
          <a:prstGeom prst="ellips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508760"/>
            <a:ext cx="2011680" cy="4023360"/>
          </a:xfrm>
          <a:prstGeom prst="ellips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76154" y="1508760"/>
            <a:ext cx="3484332" cy="4023360"/>
          </a:xfrm>
          <a:prstGeom prst="ellips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1508760"/>
            <a:ext cx="0" cy="402336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1778274"/>
            <a:ext cx="2011680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76154" y="2514600"/>
            <a:ext cx="3484332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520440"/>
            <a:ext cx="4023360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76154" y="4526280"/>
            <a:ext cx="3484332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5262606"/>
            <a:ext cx="2011680" cy="0"/>
          </a:xfrm>
          <a:prstGeom prst="line">
            <a:avLst/>
          </a:prstGeom>
          <a:noFill/>
          <a:ln w="12700">
            <a:solidFill>
              <a:srgbClr val="7F97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6916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1992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Гражданство Евросоюза: гражданин любой страны ЕС может жить и работать в любой другой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≈1 млн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017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«детей Эразмуса» — у пар, познакомившихся по студенческому обмену (оценка Еврокомиссии, 2014)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42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43434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 у климата, пандемий и интернета — такие проблемы решают только вместе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720840" y="4572000"/>
            <a:ext cx="4922215" cy="173736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49440" y="4572000"/>
            <a:ext cx="4465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«ЭФФЕКТ ОБЗОРА»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«В первый день мы показывали на свои страны. На третий-четвёртый — на континенты. К пятому дню мы видели только одну Землю»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Султан бин Салман, первый араб в космосе, 1985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 И ПРОТИВ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4328" cy="56692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51814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Равное достоинство людей — основа прав человека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Климат, пандемии, бедность требуют общих решений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Открытость делает общества терпимее и богаче идеями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5364328" cy="128016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2336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«Я человек, и ничто человеческое мне не чуждо»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Теренций, римский драматург, II в. до н. э.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78728" y="1554480"/>
            <a:ext cx="5364328" cy="566928"/>
          </a:xfrm>
          <a:prstGeom prst="rect">
            <a:avLst/>
          </a:prstGeom>
          <a:solidFill>
            <a:srgbClr val="4A362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155448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ПРОТИВ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2286000"/>
            <a:ext cx="51814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Любовь «ко всему человечеству» может подменить заботу о ближних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размыть культуру, язык и традиции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Гражданство — права и обязанности в конкретном государстве, а мирового государства нет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4023360"/>
            <a:ext cx="5364328" cy="128016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3048" y="402336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«Иной философ любит татар, чтобы иметь право не любить своих соседей»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Ж.-Ж. Руссо, «Эмиль», 1762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 продолжается: </a:t>
            </a:r>
            <a:pPr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«Если вы считаете себя гражданином мира, вы гражданин ниоткуда»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7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Тереза Мэй, премьер-министр Великобритании, 2016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13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ВЫВОД: УКОРЕНЁННЫЙ КОСМОПОЛИТИЗМ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120640" cy="33467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ЗАВЕТ ОТЦА ФИЛОСОФА К. Э. АППИА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31136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«Помните, что вы граждане мира. Где бы вы ни жили, оставьте это место лучше, чем нашли его»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044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Кваме Энтони Аппиа — сын ганского политика и англичанки, вырос в Гане, преподаёт в США. Автор идеи «укоренённого космополитизма».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572768"/>
            <a:ext cx="5562295" cy="100584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45352" y="1572768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72768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«или — или»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любить свой дом и уважать весь мир — не противоречие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80760" y="2743200"/>
            <a:ext cx="5562295" cy="100584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5352" y="274320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743200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Круги Иерокла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круги остаются, внешние перестают быть чужими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80760" y="3913632"/>
            <a:ext cx="5562295" cy="1005840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3913632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//03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913632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Корни и широта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космополитизм — не отсутствие корней, а широта взгляда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B4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Ответ Сократу: можно быть верным Афинам — и думать о человеке вообще.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564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14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1468" cy="329184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554480"/>
            <a:ext cx="5158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ПЕРВОИСТОЧНИКИ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534146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Диоген Лаэртский. О жизни, учениях и изречениях знаменитых философов. Кн. VI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Плутарх. Об изгнании; Александр; О судьбе и доблести Александра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Цицерон. Тускуланские беседы. Кн. V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Платон. Критон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Аристотель. Политика. Кн. 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Сенека. О досуге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Марк Аврелий. Размышления. Кн. VI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Иерокл. Фрагменты (в передаче Стобея)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И. Кант. К вечному миру (1795)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Ж.-Ж. Руссо. Эмиль, или О воспитании (1762)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Н. М. Карамзин. Письма русского путешественника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1588" y="1554480"/>
            <a:ext cx="5341468" cy="329184"/>
          </a:xfrm>
          <a:prstGeom prst="rect">
            <a:avLst/>
          </a:prstGeom>
          <a:solidFill>
            <a:srgbClr val="E5DED3"/>
          </a:solidFill>
          <a:ln w="12700">
            <a:solidFill>
              <a:srgbClr val="E5DE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9604" y="1554480"/>
            <a:ext cx="5158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B4C8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ИССЛЕДОВАНИЯ, ДОКУМЕНТЫ, ИЛЛЮСТРАЦИИ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01588" y="2057400"/>
            <a:ext cx="534146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Всеобщая декларация прав человека (ООН, 1948)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Г. В. Костырченко. Кампания по борьбе с космополитизмом в СССР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M. Nussbaum. Patriotism and Cosmopolitanism (1994)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K. A. Appiah. Cosmopolitanism: Ethics in a World of Strangers (2006)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G. Davis. My Country Is the World (1961)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European Commission. The Erasmus Impact Study (2014)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Рафаэль. Афинская школа (1509–1511), Ватикан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Ж.-Л. Давид. Смерть Сократа (1787), Метрополитен-музей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КОСМОПОЛИТИЗМ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 /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589520" y="1417320"/>
            <a:ext cx="4206240" cy="4206240"/>
          </a:xfrm>
          <a:prstGeom prst="ellips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1417320"/>
            <a:ext cx="2103120" cy="4206240"/>
          </a:xfrm>
          <a:prstGeom prst="ellips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71285" y="1417320"/>
            <a:ext cx="3642711" cy="4206240"/>
          </a:xfrm>
          <a:prstGeom prst="ellips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1417320"/>
            <a:ext cx="0" cy="4206240"/>
          </a:xfrm>
          <a:prstGeom prst="lin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1699085"/>
            <a:ext cx="2103120" cy="0"/>
          </a:xfrm>
          <a:prstGeom prst="lin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1285" y="2468880"/>
            <a:ext cx="3642711" cy="0"/>
          </a:xfrm>
          <a:prstGeom prst="lin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3520440"/>
            <a:ext cx="4206240" cy="0"/>
          </a:xfrm>
          <a:prstGeom prst="lin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1285" y="4572000"/>
            <a:ext cx="3642711" cy="0"/>
          </a:xfrm>
          <a:prstGeom prst="lin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41080" y="5341795"/>
            <a:ext cx="2103120" cy="0"/>
          </a:xfrm>
          <a:prstGeom prst="line">
            <a:avLst/>
          </a:prstGeom>
          <a:noFill/>
          <a:ln w="12700">
            <a:solidFill>
              <a:srgbClr val="5874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41732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СПАСИБО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 ВНИМАНИЕ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D4E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ВОПРОС ДЛЯ ОБСУЖДЕНИЯ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вы считаете себя гражданином мира?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0" y="5440680"/>
            <a:ext cx="4937760" cy="137160"/>
          </a:xfrm>
          <a:prstGeom prst="rect">
            <a:avLst/>
          </a:prstGeom>
          <a:solidFill>
            <a:srgbClr val="F1EDE6"/>
          </a:solidFill>
          <a:ln w="12700">
            <a:solidFill>
              <a:srgbClr val="F1E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806440"/>
            <a:ext cx="4389120" cy="137160"/>
          </a:xfrm>
          <a:prstGeom prst="rect">
            <a:avLst/>
          </a:prstGeom>
          <a:solidFill>
            <a:srgbClr val="C9D4E8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72200"/>
            <a:ext cx="3017520" cy="137160"/>
          </a:xfrm>
          <a:prstGeom prst="rect">
            <a:avLst/>
          </a:prstGeom>
          <a:solidFill>
            <a:srgbClr val="5874AE"/>
          </a:solidFill>
          <a:ln w="12700">
            <a:solidFill>
              <a:srgbClr val="5874A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Космополитизм</dc:title>
  <dc:subject>Гражданин мира: от Диогена до наших дней</dc:subject>
  <dc:creator>PptxGenJS</dc:creator>
  <cp:lastModifiedBy>PptxGenJS</cp:lastModifiedBy>
  <cp:revision>1</cp:revision>
  <dcterms:created xsi:type="dcterms:W3CDTF">2026-09-27T10:05:21Z</dcterms:created>
  <dcterms:modified xsi:type="dcterms:W3CDTF">2026-09-27T10:05:21Z</dcterms:modified>
</cp:coreProperties>
</file>