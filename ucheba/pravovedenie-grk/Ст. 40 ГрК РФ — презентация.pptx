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Тема доклада — статья 40 Градостроительного кодекса РФ: отклонение от предельных параметров разрешённого строительства и реконструкции объектов капитального строительства. Я выбрал эту статью, чтобы разобрать не только её содержание, но и то, как сформулирована норма с точки зрения коррупциогенности. План — три части: что это за статья, почему она выбрана и в чём сложности её применения, и практика — два кейса.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Доклад построен вокруг трёх вопросов из задания: что это за статья, почему она выбрана и какие сложности возникают при её применении, и какие есть примеры из практики.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Статья 40 находится в той же главе 4 — «Градостроительное зонирование». Статья 38 устанавливает предельные параметры: отступы от границ участка, этажность, высоту, процент застройки. Они действуют для всей зоны. Статья 40 — это исключение: она позволяет для отдельного участка от этих параметров отступить. Обратите внимание на цифру десять процентов: такое небольшое отклонение с 2019 года можно получить без обсуждения с жителями.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Статья состоит из двух блоков. Первый — основания: участок меньше минимального, неудобной формы, со сложной геологией или с иными неблагоприятными характеристиками. Плюс с 2019 года отдельное основание — однократное отклонение до десяти процентов. Второй блок — процедура: заявление в комиссию, обсуждения с жителями, рекомендации комиссии и решение главы администрации. Обратите внимание на слова «иные характеристики» в первой части — к ним я вернусь.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Просить отклонение может только правообладатель участка, и только при наличии основания — либо неблагоприятных характеристик участка, либо небольшого отклонения до десяти процентов. Дальше путь тот же, что и в статье 39: комиссия, обсуждения, рекомендации. Решение принимает глава администрации и обязан указать причины.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выбрал эту статью по трём причинам. Во-первых, это законный способ выйти за рамки градостроительного регламента для конкретного участка — а значит, она привлекательна для застройщиков. Во-вторых, любое отклонение затрагивает соседей: этажность, тень, парковки. И в-третьих — что важно для нашей дисциплины — в ней сразу два коррупциогенных фактора: оценочная формулировка и усмотрение должностного лица.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сложность — в первой части статьи. Конфигурация и геология — понятия более-менее проверяемые. Но после них стоит «или иные характеристики». Это открытый перечень: какие характеристики, насколько неблагоприятные — закон не говорит. Методика антикоррупционной экспертизы прямо называет употребление категорий оценочного характера коррупциогенным фактором. На практике это значит, что обосновать отклонение — или отказ — можно почти для любого участка.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Вторая сложность — публичный контроль ослабевает. В исходной редакции кодекса любое отклонение проходило через публичные слушания. В 2017 году к ним добавили общественные обсуждения, в том числе онлайн. А в 2019 году появилась часть 1.1: отклонение до десяти процентов, причём сразу по одному или нескольким параметрам, теперь даётся без обсуждения с жителями. Десять процентов от этажности или процента застройки — это заметно, а контролирует такое решение только суд или прокуратура.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Третья группа сложностей — в судебной практике. Суды по-разному оценивают роль слушаний: одни считают, что выдать разрешение при отрицательном заключении нельзя, другие — что заключение лишь рекомендательное. Неясно, чем доказывать неблагоприятность участка. И наконец, даже выиграв суд, заявитель не получает разрешение автоматически: суд не может сам его выдать, он только признаёт отказ незаконным.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кейс — определение Конституционного Суда 2010 года. Жительница Петербурга после проигрыша в районном суде оспорила сами нормы Градостроительного кодекса о публичных слушаниях, в том числе части 3, 5 и 6 статьи 40 — заявление, рекомендации комиссии и решение главы администрации. Конституционный Суд жалобу к рассмотрению не принял и сформулировал важную позицию: публичные слушания — не форма народовластия, а способ выявить мнение жителей, их итоги носят рекомендательный характер. Для статьи 40 это значит: глава администрации может не согласиться с итогами слушаний, но обязан указать причины. Единственный предохранитель — мотивировка, которую затем проверяет суд.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кейс — свежий и громкий. В центре Липецка строился жилой комплекс «Турист-2» — с башней до двадцати уровней вместе с подземным. Прокуратура пошла в арбитражный суд и потребовала признать недействительными сразу всё: разрешение на строительство, разрешения на отклонение от предельных параметров и заключение экспертизы. Доводы — нехватка парковок, удалённость социальных объектов, пожарная безопасность. 29 января 2026 года суд иск удовлетворил полностью. По данным местных СМИ, застройщик решение обжаловать не стал, а осенью вернулся с изменённым проектом и новыми слушаниями. Кейс показывает, что отклонения, выданные администрацией, — не окончательное решение: при нарушении интересов жителей их отменяют по иску прокурора.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итог. Статья 40 задумана как исключение для неудобных участков, но без чётких критериев рискует стать способом обойти регламент. В ней два коррупциогенных фактора: оценочная формулировка «иные характеристики» и усмотрение главы администрации, а небольшие отклонения и вовсе проходят без жителей. Моё предложение — заменить «иные характеристики» закрытым перечнем, требовать подтверждения инженерными изысканиями и публиковать мотивированное решение по каждому отклонению, включая упрощённые. Спасибо за внимание.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63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Ст. 40 ГрК РФ  ·  Правоведение и противодействие коррупции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9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3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Ст. 40 ГрК РФ  ·  Правоведение и противодействие коррупции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9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5029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1F4D44"/>
          </a:solidFill>
          <a:ln w="12700">
            <a:solidFill>
              <a:srgbClr val="1F4D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502920"/>
            <a:ext cx="960120" cy="1234440"/>
          </a:xfrm>
          <a:prstGeom prst="roundRect">
            <a:avLst>
              <a:gd name="adj" fmla="val 9524"/>
            </a:avLst>
          </a:prstGeom>
          <a:solidFill>
            <a:srgbClr val="245A4F"/>
          </a:solidFill>
          <a:ln w="12700">
            <a:solidFill>
              <a:srgbClr val="245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502920"/>
            <a:ext cx="1051560" cy="1234440"/>
          </a:xfrm>
          <a:prstGeom prst="roundRect">
            <a:avLst>
              <a:gd name="adj" fmla="val 8696"/>
            </a:avLst>
          </a:prstGeom>
          <a:solidFill>
            <a:srgbClr val="2B6457"/>
          </a:solidFill>
          <a:ln w="12700">
            <a:solidFill>
              <a:srgbClr val="2B64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0" y="1874520"/>
            <a:ext cx="868680" cy="914400"/>
          </a:xfrm>
          <a:prstGeom prst="roundRect">
            <a:avLst>
              <a:gd name="adj" fmla="val 10526"/>
            </a:avLst>
          </a:prstGeom>
          <a:solidFill>
            <a:srgbClr val="1C4740"/>
          </a:solidFill>
          <a:ln w="12700">
            <a:solidFill>
              <a:srgbClr val="1C47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1874520"/>
            <a:ext cx="1325880" cy="914400"/>
          </a:xfrm>
          <a:prstGeom prst="roundRect">
            <a:avLst>
              <a:gd name="adj" fmla="val 10000"/>
            </a:avLst>
          </a:prstGeom>
          <a:ln w="15875">
            <a:solidFill>
              <a:srgbClr val="3F7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78440" y="187452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1F4D44"/>
          </a:solidFill>
          <a:ln w="12700">
            <a:solidFill>
              <a:srgbClr val="1F4D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2926080"/>
            <a:ext cx="1188720" cy="1463040"/>
          </a:xfrm>
          <a:prstGeom prst="roundRect">
            <a:avLst>
              <a:gd name="adj" fmla="val 7692"/>
            </a:avLst>
          </a:prstGeom>
          <a:solidFill>
            <a:srgbClr val="245A4F"/>
          </a:solidFill>
          <a:ln w="12700">
            <a:solidFill>
              <a:srgbClr val="245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53144" y="2651760"/>
            <a:ext cx="1399032" cy="1865376"/>
          </a:xfrm>
          <a:prstGeom prst="roundRect">
            <a:avLst>
              <a:gd name="adj" fmla="val 7843"/>
            </a:avLst>
          </a:prstGeom>
          <a:ln w="19050">
            <a:solidFill>
              <a:srgbClr val="D9692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281160" y="2926080"/>
            <a:ext cx="1143000" cy="1463040"/>
          </a:xfrm>
          <a:prstGeom prst="roundRect">
            <a:avLst>
              <a:gd name="adj" fmla="val 8000"/>
            </a:avLst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9196" y="3374136"/>
            <a:ext cx="566928" cy="56692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515600" y="2926080"/>
            <a:ext cx="1143000" cy="1463040"/>
          </a:xfrm>
          <a:prstGeom prst="roundRect">
            <a:avLst>
              <a:gd name="adj" fmla="val 8000"/>
            </a:avLst>
          </a:prstGeom>
          <a:solidFill>
            <a:srgbClr val="2B6457"/>
          </a:solidFill>
          <a:ln w="12700">
            <a:solidFill>
              <a:srgbClr val="2B645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01000" y="452628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1C4740"/>
          </a:solidFill>
          <a:ln w="12700">
            <a:solidFill>
              <a:srgbClr val="1C4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921240" y="4526280"/>
            <a:ext cx="1737360" cy="822960"/>
          </a:xfrm>
          <a:prstGeom prst="roundRect">
            <a:avLst>
              <a:gd name="adj" fmla="val 11111"/>
            </a:avLst>
          </a:prstGeom>
          <a:ln w="15875">
            <a:solidFill>
              <a:srgbClr val="3F7A6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01000" y="5486400"/>
            <a:ext cx="1051560" cy="822960"/>
          </a:xfrm>
          <a:prstGeom prst="roundRect">
            <a:avLst>
              <a:gd name="adj" fmla="val 11111"/>
            </a:avLst>
          </a:prstGeom>
          <a:solidFill>
            <a:srgbClr val="1F4D44"/>
          </a:solidFill>
          <a:ln w="12700">
            <a:solidFill>
              <a:srgbClr val="1F4D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0" y="5486400"/>
            <a:ext cx="1188720" cy="822960"/>
          </a:xfrm>
          <a:prstGeom prst="roundRect">
            <a:avLst>
              <a:gd name="adj" fmla="val 11111"/>
            </a:avLst>
          </a:prstGeom>
          <a:solidFill>
            <a:srgbClr val="245A4F"/>
          </a:solidFill>
          <a:ln w="12700">
            <a:solidFill>
              <a:srgbClr val="245A4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424160" y="5486400"/>
            <a:ext cx="1234440" cy="822960"/>
          </a:xfrm>
          <a:prstGeom prst="roundRect">
            <a:avLst>
              <a:gd name="adj" fmla="val 11111"/>
            </a:avLst>
          </a:prstGeom>
          <a:solidFill>
            <a:srgbClr val="2B6457"/>
          </a:solidFill>
          <a:ln w="12700">
            <a:solidFill>
              <a:srgbClr val="2B645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9144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ПРАВОВЕДЕНИЕ И ПРОТИВОДЕЙСТВИЕ КОРРУПЦИИ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3258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Статья 40 ГрК РФ</a:t>
            </a:r>
            <a:endParaRPr lang="en-US" sz="5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251460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D3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Отклонение от предельных параметров разрешённого строительства: правоприменительная практика и коррупциогенные риски нормы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685800" y="397764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63" y="4113703"/>
            <a:ext cx="294803" cy="29480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417320" y="39319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одной статьи Градостроительного кодекса РФ · что за норма, почему выбрана, сложности применения и практика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85800" y="56235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ПОДГОТОВИЛ СТУДЕНТ ИГЭС 3-8 БУЕВ ДАНИИЛ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ДОКЛАДА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вопроса, на которые отвечает доклад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822960" cy="822960"/>
          </a:xfrm>
          <a:prstGeom prst="roundRect">
            <a:avLst>
              <a:gd name="adj" fmla="val 18000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89280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за статья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35000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в ГрК РФ, основания для отклонения, процедура и сроки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57400"/>
            <a:ext cx="548640" cy="5486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3227832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3456432"/>
            <a:ext cx="822960" cy="822960"/>
          </a:xfrm>
          <a:prstGeom prst="roundRect">
            <a:avLst>
              <a:gd name="adj" fmla="val 18000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4564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1920240" y="34290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выбрана статья и в чём сложности применения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1920240" y="3886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Оценочные «иные характеристики», упрощённое отклонение на 10 %, споры о роли слушаний</a:t>
            </a:r>
            <a:endParaRPr lang="en-US" sz="15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3593592"/>
            <a:ext cx="548640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" y="4764024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960" y="4992624"/>
            <a:ext cx="822960" cy="822960"/>
          </a:xfrm>
          <a:prstGeom prst="roundRect">
            <a:avLst>
              <a:gd name="adj" fmla="val 18000"/>
            </a:avLst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2960" y="499262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6"/>
          <p:cNvSpPr txBox="1"/>
          <p:nvPr/>
        </p:nvSpPr>
        <p:spPr>
          <a:xfrm>
            <a:off x="1920240" y="49651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Кейсы из практики</a:t>
            </a:r>
            <a:endParaRPr lang="en-US" sz="2100" dirty="0"/>
          </a:p>
        </p:txBody>
      </p:sp>
      <p:sp>
        <p:nvSpPr>
          <p:cNvPr id="21" name="Text 17"/>
          <p:cNvSpPr txBox="1"/>
          <p:nvPr/>
        </p:nvSpPr>
        <p:spPr>
          <a:xfrm>
            <a:off x="1920240" y="54223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Позиция Конституционного Суда РФ и дело ЖК «Турист-2» в Липецке</a:t>
            </a:r>
            <a:endParaRPr lang="en-US" sz="15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5129784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9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1 · ЧТО ЭТО ЗА СТАТЬЯ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Место статьи в системе ГрК РФ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309360" cy="621792"/>
          </a:xfrm>
          <a:prstGeom prst="roundRect">
            <a:avLst>
              <a:gd name="adj" fmla="val 17647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Градостроительный кодекс РФ от 29.12.2004 № 190-ФЗ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67712"/>
            <a:ext cx="0" cy="493776"/>
          </a:xfrm>
          <a:prstGeom prst="line">
            <a:avLst/>
          </a:prstGeom>
          <a:noFill/>
          <a:ln w="19050">
            <a:solidFill>
              <a:srgbClr val="C9D8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761488"/>
            <a:ext cx="164592" cy="0"/>
          </a:xfrm>
          <a:prstGeom prst="line">
            <a:avLst/>
          </a:prstGeom>
          <a:noFill/>
          <a:ln w="19050">
            <a:solidFill>
              <a:srgbClr val="C9D8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450592"/>
            <a:ext cx="5961888" cy="621792"/>
          </a:xfrm>
          <a:prstGeom prst="roundRect">
            <a:avLst>
              <a:gd name="adj" fmla="val 17647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4712" y="2450592"/>
            <a:ext cx="5596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4 — градостроительное зонирование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78992" y="3072384"/>
            <a:ext cx="0" cy="493776"/>
          </a:xfrm>
          <a:prstGeom prst="line">
            <a:avLst/>
          </a:prstGeom>
          <a:noFill/>
          <a:ln w="19050">
            <a:solidFill>
              <a:srgbClr val="C9D8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" y="3566160"/>
            <a:ext cx="164592" cy="0"/>
          </a:xfrm>
          <a:prstGeom prst="line">
            <a:avLst/>
          </a:prstGeom>
          <a:noFill/>
          <a:ln w="19050">
            <a:solidFill>
              <a:srgbClr val="C9D8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43584" y="3255264"/>
            <a:ext cx="5614416" cy="621792"/>
          </a:xfrm>
          <a:prstGeom prst="roundRect">
            <a:avLst>
              <a:gd name="adj" fmla="val 17647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72184" y="3255264"/>
            <a:ext cx="52486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Ст. 38 — предельные размеры участков и предельные параметры строительства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426464" y="3877056"/>
            <a:ext cx="0" cy="493776"/>
          </a:xfrm>
          <a:prstGeom prst="line">
            <a:avLst/>
          </a:prstGeom>
          <a:noFill/>
          <a:ln w="19050">
            <a:solidFill>
              <a:srgbClr val="C9D8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26464" y="4370832"/>
            <a:ext cx="164592" cy="0"/>
          </a:xfrm>
          <a:prstGeom prst="line">
            <a:avLst/>
          </a:prstGeom>
          <a:noFill/>
          <a:ln w="19050">
            <a:solidFill>
              <a:srgbClr val="C9D8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91056" y="4059936"/>
            <a:ext cx="5266944" cy="621792"/>
          </a:xfrm>
          <a:prstGeom prst="roundRect">
            <a:avLst>
              <a:gd name="adj" fmla="val 17647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19656" y="4059936"/>
            <a:ext cx="4901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Ст. 40 — когда и как от этих параметров можно отступить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956048"/>
            <a:ext cx="6537960" cy="1216152"/>
          </a:xfrm>
          <a:prstGeom prst="roundRect">
            <a:avLst>
              <a:gd name="adj" fmla="val 9023"/>
            </a:avLst>
          </a:prstGeom>
          <a:solidFill>
            <a:srgbClr val="FBEADF"/>
          </a:solidFill>
          <a:ln w="12700">
            <a:solidFill>
              <a:srgbClr val="FBEA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065776"/>
            <a:ext cx="60807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Предельные параметры — это, например, минимальные отступы от границ участка, предельная этажность или высота, максимальный процент застройки. Они задаются для всей территориальной зоны.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52360" y="1645920"/>
            <a:ext cx="4190695" cy="137160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35240" y="181051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6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10 %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24871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однократно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1783080"/>
            <a:ext cx="2179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предел упрощённого отклонения по ч. 1.1 — без обсуждений с жителями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452360" y="3218688"/>
            <a:ext cx="4190695" cy="137160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35240" y="33832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6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7635240" y="405993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рабочих дней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3355848"/>
            <a:ext cx="2179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рекомендации комиссии после обсуждений или слушаний (ч. 5)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452360" y="4791456"/>
            <a:ext cx="4190695" cy="137160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35240" y="495604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6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31" name="Text 29"/>
          <p:cNvSpPr txBox="1"/>
          <p:nvPr/>
        </p:nvSpPr>
        <p:spPr>
          <a:xfrm>
            <a:off x="7635240" y="563270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дней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281160" y="4928616"/>
            <a:ext cx="2179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решение главы администрации с указанием причин (ч. 6)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9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1 · ЧТО ЭТО ЗА СТАТЬЯ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Части статьи: основания и процедура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99514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установлено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A3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Право обратиться есть, если участок меньше минимального размера либо его конфигурация, инженерно-геологические или иные характеристики неблагоприятны для застройки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Отдельное основание: однократное изменение одного или нескольких предельных параметров не более чем на 10 %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для отдельного участка, при соблюдении техрегламентов и без изменения вида использования; в исторических поселениях нельзя отступать от этажности, высоты и архитектурных требований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Заявление подаётся в комиссию; проект решения выносится на обсуждения или слушания (кроме случая ч. 1.1); расходы несёт заявитель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Комиссия за 15 рабочих дней готовит рекомендации; глава администрации за 7 дней принимает решение с указанием причин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Запрет, пока на участке не снесена или не приведена в порядок выявленная самовольная постройка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6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 о разрешении или об отказе можно оспорить в суде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9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1 · ЧТО ЭТО ЗА СТАТЬЯ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может просить отклонение и кто решает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940905" cy="2788920"/>
          </a:xfrm>
          <a:prstGeom prst="roundRect">
            <a:avLst>
              <a:gd name="adj" fmla="val 5653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2024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207385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920240"/>
            <a:ext cx="889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697480"/>
            <a:ext cx="15751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Заявитель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291840"/>
            <a:ext cx="157514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Правообладатель участка подаёт заявление и обосновывает основание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553553" y="2958084"/>
            <a:ext cx="219456" cy="256032"/>
          </a:xfrm>
          <a:prstGeom prst="rightArrow">
            <a:avLst/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37017" y="1691640"/>
            <a:ext cx="1940905" cy="2788920"/>
          </a:xfrm>
          <a:prstGeom prst="roundRect">
            <a:avLst>
              <a:gd name="adj" fmla="val 5653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38185" y="192024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805" y="207385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797137" y="1920240"/>
            <a:ext cx="889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038185" y="2697480"/>
            <a:ext cx="15751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3038185" y="3291840"/>
            <a:ext cx="157514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Выносит проект на обсуждения или слушания (кроме ч. 1.1)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841931" y="2958084"/>
            <a:ext cx="219456" cy="256032"/>
          </a:xfrm>
          <a:prstGeom prst="rightArrow">
            <a:avLst/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125395" y="1691640"/>
            <a:ext cx="1940905" cy="2788920"/>
          </a:xfrm>
          <a:prstGeom prst="roundRect">
            <a:avLst>
              <a:gd name="adj" fmla="val 5653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26563" y="192024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182" y="2073859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085515" y="1920240"/>
            <a:ext cx="889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326563" y="2697480"/>
            <a:ext cx="15751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Жители и соседи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5326563" y="3291840"/>
            <a:ext cx="157514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Высказываются о том, как отклонение скажется на них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7130308" y="2958084"/>
            <a:ext cx="219456" cy="256032"/>
          </a:xfrm>
          <a:prstGeom prst="rightArrow">
            <a:avLst/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413772" y="1691640"/>
            <a:ext cx="1940905" cy="2788920"/>
          </a:xfrm>
          <a:prstGeom prst="roundRect">
            <a:avLst>
              <a:gd name="adj" fmla="val 5653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614940" y="192024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560" y="2073859"/>
            <a:ext cx="332842" cy="33284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373892" y="1920240"/>
            <a:ext cx="889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4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7614940" y="2697480"/>
            <a:ext cx="15751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</a:t>
            </a:r>
            <a:endParaRPr lang="en-US" sz="1700" dirty="0"/>
          </a:p>
        </p:txBody>
      </p:sp>
      <p:sp>
        <p:nvSpPr>
          <p:cNvPr id="31" name="Text 25"/>
          <p:cNvSpPr txBox="1"/>
          <p:nvPr/>
        </p:nvSpPr>
        <p:spPr>
          <a:xfrm>
            <a:off x="7614940" y="3291840"/>
            <a:ext cx="157514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15 рабочих дней готовит рекомендации с указанием причин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9418686" y="2958084"/>
            <a:ext cx="219456" cy="256032"/>
          </a:xfrm>
          <a:prstGeom prst="rightArrow">
            <a:avLst/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702150" y="1691640"/>
            <a:ext cx="1940905" cy="2788920"/>
          </a:xfrm>
          <a:prstGeom prst="roundRect">
            <a:avLst>
              <a:gd name="adj" fmla="val 5653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9903318" y="192024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937" y="2073859"/>
            <a:ext cx="332842" cy="332842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0662270" y="1920240"/>
            <a:ext cx="889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5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903318" y="2697480"/>
            <a:ext cx="15751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администрации</a:t>
            </a:r>
            <a:endParaRPr lang="en-US" sz="1700" dirty="0"/>
          </a:p>
        </p:txBody>
      </p:sp>
      <p:sp>
        <p:nvSpPr>
          <p:cNvPr id="38" name="Text 31"/>
          <p:cNvSpPr txBox="1"/>
          <p:nvPr/>
        </p:nvSpPr>
        <p:spPr>
          <a:xfrm>
            <a:off x="9903318" y="3291840"/>
            <a:ext cx="157514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3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7 дней разрешает или отказывает с указанием причин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548640" y="475488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FBEADF"/>
          </a:solidFill>
          <a:ln w="12700">
            <a:solidFill>
              <a:srgbClr val="FBEADF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22960" y="5029200"/>
            <a:ext cx="731520" cy="731520"/>
          </a:xfrm>
          <a:prstGeom prst="roundRect">
            <a:avLst>
              <a:gd name="adj" fmla="val 18000"/>
            </a:avLst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25" y="5204765"/>
            <a:ext cx="380390" cy="38039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783080" y="4846320"/>
            <a:ext cx="96313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«Хочу построить больше» — не основание. Нужна неблагоприятная характеристика участка (ч. 1) или отклонение до 10 % (ч. 1.1).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9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2 · ПОЧЕМУ ВЫБРАНА СТАТЬЯ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выбрана именно эта статья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84778" cy="3931920"/>
          </a:xfrm>
          <a:prstGeom prst="roundRect">
            <a:avLst>
              <a:gd name="adj" fmla="val 3149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84832"/>
            <a:ext cx="868680" cy="868680"/>
          </a:xfrm>
          <a:prstGeom prst="roundRect">
            <a:avLst>
              <a:gd name="adj" fmla="val 18000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229331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20040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Законный выход из регламента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114800"/>
            <a:ext cx="28446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способ отступить от этажности, отступов и плотности застройки, установленных для всей зоны, — ради одного участка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53458" y="1737360"/>
            <a:ext cx="3484778" cy="3931920"/>
          </a:xfrm>
          <a:prstGeom prst="roundRect">
            <a:avLst>
              <a:gd name="adj" fmla="val 3149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73498" y="2084832"/>
            <a:ext cx="868680" cy="868680"/>
          </a:xfrm>
          <a:prstGeom prst="roundRect">
            <a:avLst>
              <a:gd name="adj" fmla="val 18000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982" y="2293315"/>
            <a:ext cx="451714" cy="45171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73498" y="320040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 с соседями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673498" y="4114800"/>
            <a:ext cx="28446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Лишний этаж или сокращённый отступ — это тень, нагрузка на дворы и парковки для соседних домов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158277" y="1737360"/>
            <a:ext cx="3484778" cy="3931920"/>
          </a:xfrm>
          <a:prstGeom prst="roundRect">
            <a:avLst>
              <a:gd name="adj" fmla="val 3149"/>
            </a:avLst>
          </a:prstGeom>
          <a:solidFill>
            <a:srgbClr val="FBEADF"/>
          </a:solidFill>
          <a:ln w="12700">
            <a:solidFill>
              <a:srgbClr val="FBEAD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78317" y="2084832"/>
            <a:ext cx="868680" cy="868680"/>
          </a:xfrm>
          <a:prstGeom prst="roundRect">
            <a:avLst>
              <a:gd name="adj" fmla="val 18000"/>
            </a:avLst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293315"/>
            <a:ext cx="451714" cy="45171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78317" y="320040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Антикоррупционный ракурс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478317" y="4114800"/>
            <a:ext cx="28446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Оценочное «иные характеристики» и усмотрение главы администрации — два коррупциогенных фактора в одной статье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9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2 · СЛОЖНОСТЬ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Оценочное понятие «иные характеристики»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1481328"/>
          </a:xfrm>
          <a:prstGeom prst="roundRect">
            <a:avLst>
              <a:gd name="adj" fmla="val 7407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27632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D96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83080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«…конфигурация, инженерно-геологические или иные характеристики которых неблагоприятны для застройки…»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670048"/>
            <a:ext cx="97228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ч. 1 ст. 40 ГрК РФ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93008"/>
            <a:ext cx="530352" cy="530352"/>
          </a:xfrm>
          <a:prstGeom prst="roundRect">
            <a:avLst>
              <a:gd name="adj" fmla="val 18000"/>
            </a:avLst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930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83280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Перечень открытый: что считать «иными характеристиками» и где порог «неблагоприятности», закон не говорит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530352" cy="530352"/>
          </a:xfrm>
          <a:prstGeom prst="roundRect">
            <a:avLst>
              <a:gd name="adj" fmla="val 18000"/>
            </a:avLst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389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79392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Методика антикоррупционной экспертизы (Постановление Правительства РФ от 26.02.2010 № 96): юридико-лингвистическая неопределённость — употребление категорий оценочного характера — коррупциогенный фактор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285232"/>
            <a:ext cx="530352" cy="530352"/>
          </a:xfrm>
          <a:prstGeom prst="roundRect">
            <a:avLst>
              <a:gd name="adj" fmla="val 18000"/>
            </a:avLst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175504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Следствие: при желании отклонение можно «обосновать» почти для любого участка — или отказать в нём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9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2 · СЛОЖНОСТЬ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Отклонение всё чаще проходит без жителей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988820" y="2331720"/>
            <a:ext cx="8214055" cy="0"/>
          </a:xfrm>
          <a:prstGeom prst="line">
            <a:avLst/>
          </a:prstGeom>
          <a:noFill/>
          <a:ln w="38100">
            <a:solidFill>
              <a:srgbClr val="C9D8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5940" y="21488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63A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2004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92608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ГрК РФ: любое отклонение — только после публичных слушаний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43958" y="21488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63A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69538" y="16002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69538" y="274320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98138" y="292608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455-ФЗ от 29.12.2017: появились общественные обсуждения, в том числе онлайн (ст. 5.1)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81977" y="21488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63A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07557" y="16002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07557" y="274320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36157" y="292608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283-ФЗ от 02.08.2019: ч. 1.1 — отклонение до 10 % без обсуждений с жителями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19995" y="21488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969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45575" y="16002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Сегодня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945575" y="274320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FBEADF"/>
          </a:solidFill>
          <a:ln w="12700">
            <a:solidFill>
              <a:srgbClr val="FBEA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74175" y="292608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Небольшие отклонения проходят без публичного контроля, причём сразу по нескольким параметрам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25780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меньше отклонение, тем меньше публичного контроля. Но 10 % этажности или процента застройки соседи заметят.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9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2 · СЛОЖНОСТЬ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Противоречивая практика и роль суда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768096" cy="768096"/>
          </a:xfrm>
          <a:prstGeom prst="roundRect">
            <a:avLst>
              <a:gd name="adj" fmla="val 18000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303" y="2132015"/>
            <a:ext cx="399410" cy="3994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74520" y="1773936"/>
            <a:ext cx="9494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ли разрешить вопреки слушаниям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194560"/>
            <a:ext cx="9494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Одни суды считают разрешение при отрицательном заключении слушаний нарушением ст. 40, другие подчёркивают, что заключение лишь рекомендательное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3502152"/>
            <a:ext cx="768096" cy="768096"/>
          </a:xfrm>
          <a:prstGeom prst="roundRect">
            <a:avLst>
              <a:gd name="adj" fmla="val 18000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03" y="3686495"/>
            <a:ext cx="399410" cy="39941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74520" y="3328416"/>
            <a:ext cx="9494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и чем доказывает «неблагоприятность»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874520" y="3749040"/>
            <a:ext cx="9494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Заявитель должен подтвердить характеристики участка, но требований к доказательствам — изысканиям, экспертизе — статья не содержит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5056632"/>
            <a:ext cx="768096" cy="768096"/>
          </a:xfrm>
          <a:prstGeom prst="roundRect">
            <a:avLst>
              <a:gd name="adj" fmla="val 18000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03" y="5240975"/>
            <a:ext cx="399410" cy="39941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74520" y="4882896"/>
            <a:ext cx="9494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 не выдаёт разрешение сам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874520" y="5303520"/>
            <a:ext cx="9494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 проверяет законность решения, но не подменяет орган: обязать выдать разрешение напрямую — выход за пределы полномочий (Краснодарский краевой суд, дело № 33-18473/12)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9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3 · КЕЙС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Определение КС РФ от 15.07.2010 № 931-О-О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37360"/>
            <a:ext cx="594360" cy="594360"/>
          </a:xfrm>
          <a:prstGeom prst="roundRect">
            <a:avLst>
              <a:gd name="adj" fmla="val 18000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880006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600200"/>
            <a:ext cx="9859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Гражданка О. О. Андронова оспорила нормы ГрК РФ о публичных слушаниях — в том числе ч. 3, 5 и 6 ст. 40 — и законы Санкт-Петербурга о порядке их проведения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3515258" cy="3429000"/>
          </a:xfrm>
          <a:prstGeom prst="roundRect">
            <a:avLst>
              <a:gd name="adj" fmla="val 3200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971800"/>
            <a:ext cx="2966618" cy="438912"/>
          </a:xfrm>
          <a:prstGeom prst="roundRect">
            <a:avLst>
              <a:gd name="adj" fmla="val 16667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971800"/>
            <a:ext cx="2966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ФАБУЛА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593592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Красногвардейский районный суд Санкт-Петербурга отказал заявительнице в требованиях к администрации района (2009). Она сочла, что ч. 3, 5, 6 ст. 40 и ч. 3–9 ст. 39 ГрК противоречат Конституции, в том числе её статьям 3 и 130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38218" y="2697480"/>
            <a:ext cx="3515258" cy="3429000"/>
          </a:xfrm>
          <a:prstGeom prst="roundRect">
            <a:avLst>
              <a:gd name="adj" fmla="val 3200"/>
            </a:avLst>
          </a:prstGeom>
          <a:solidFill>
            <a:srgbClr val="FBEADF"/>
          </a:solidFill>
          <a:ln w="12700">
            <a:solidFill>
              <a:srgbClr val="FBEA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12538" y="2971800"/>
            <a:ext cx="2966618" cy="438912"/>
          </a:xfrm>
          <a:prstGeom prst="roundRect">
            <a:avLst>
              <a:gd name="adj" fmla="val 16667"/>
            </a:avLst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12538" y="2971800"/>
            <a:ext cx="2966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ПОЗИЦИЯ СУДА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612538" y="3593592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Публичные слушания не являются формой осуществления власти населением: это способ выявить мнение жителей. Их итоги учитываются, но носят рекомендательный характер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27797" y="2697480"/>
            <a:ext cx="3515258" cy="3429000"/>
          </a:xfrm>
          <a:prstGeom prst="roundRect">
            <a:avLst>
              <a:gd name="adj" fmla="val 3200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02117" y="2971800"/>
            <a:ext cx="2966618" cy="438912"/>
          </a:xfrm>
          <a:prstGeom prst="roundRect">
            <a:avLst>
              <a:gd name="adj" fmla="val 16667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02117" y="2971800"/>
            <a:ext cx="2966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402117" y="3593592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администрации вправе решить иначе, чем рекомендовали по итогам слушаний, но ч. 6 ст. 40 обязывает его указать причины. Мотивировку затем проверяет суд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9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3 · КЕЙС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Дело ЖК «Турист-2», Липецк, 2026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37360"/>
            <a:ext cx="594360" cy="594360"/>
          </a:xfrm>
          <a:prstGeom prst="roundRect">
            <a:avLst>
              <a:gd name="adj" fmla="val 18000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880006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600200"/>
            <a:ext cx="9859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Арбитражный суд Липецкой области, решение от 29.01.2026: прокуратура оспорила документы на жилой комплекс в центре Липецка (застройщик — ООО «СЗ «Турист Эко-Парк», группа «Брусника»)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3423818" cy="3429000"/>
          </a:xfrm>
          <a:prstGeom prst="roundRect">
            <a:avLst>
              <a:gd name="adj" fmla="val 3205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9718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971800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 прокуратуры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657600"/>
            <a:ext cx="287517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Признать недействительными разрешение на строительство, разрешения на отклонение от предельных параметров и заключение экспертизы. Доводы: нехватка парковок, удалённость социальных объектов, пожарная безопасность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045610" y="4265676"/>
            <a:ext cx="265176" cy="292608"/>
          </a:xfrm>
          <a:prstGeom prst="rightArrow">
            <a:avLst/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3938" y="2697480"/>
            <a:ext cx="3423818" cy="3429000"/>
          </a:xfrm>
          <a:prstGeom prst="roundRect">
            <a:avLst>
              <a:gd name="adj" fmla="val 3205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58258" y="29718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5825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298338" y="2971800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суда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658258" y="3657600"/>
            <a:ext cx="287517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3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января 2026 года суд удовлетворил иск полностью: все три вида документов признаны недействительными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880909" y="4265676"/>
            <a:ext cx="265176" cy="292608"/>
          </a:xfrm>
          <a:prstGeom prst="rightArrow">
            <a:avLst/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19237" y="2697480"/>
            <a:ext cx="3423818" cy="3429000"/>
          </a:xfrm>
          <a:prstGeom prst="roundRect">
            <a:avLst>
              <a:gd name="adj" fmla="val 3205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93557" y="29718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63A33"/>
          </a:solidFill>
          <a:ln w="12700">
            <a:solidFill>
              <a:srgbClr val="163A3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93557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9133637" y="2971800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Последствия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493557" y="3657600"/>
            <a:ext cx="287517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данным СМИ, застройщик отказался от обжалования, стройку законсервировали. В октябре 2026 года обновлённый проект снова вынесен на публичные слушания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9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анализа статьи 40 ГрК РФ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1325880"/>
          </a:xfrm>
          <a:prstGeom prst="roundRect">
            <a:avLst>
              <a:gd name="adj" fmla="val 8276"/>
            </a:avLst>
          </a:prstGeom>
          <a:solidFill>
            <a:srgbClr val="1F4D44"/>
          </a:solidFill>
          <a:ln w="12700">
            <a:solidFill>
              <a:srgbClr val="1F4D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1837944"/>
            <a:ext cx="9494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Исключение рискует стать правилом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2276856"/>
            <a:ext cx="949421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3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чётких критериев «неблагоприятности» отклонение из инструмента для неудобных участков превращается в способ обойти регламент зоны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218688"/>
            <a:ext cx="11094415" cy="1325880"/>
          </a:xfrm>
          <a:prstGeom prst="roundRect">
            <a:avLst>
              <a:gd name="adj" fmla="val 8276"/>
            </a:avLst>
          </a:prstGeom>
          <a:solidFill>
            <a:srgbClr val="1F4D44"/>
          </a:solidFill>
          <a:ln w="12700">
            <a:solidFill>
              <a:srgbClr val="1F4D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93008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930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3364992"/>
            <a:ext cx="9494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коррупциогенных фактора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3803904"/>
            <a:ext cx="949421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3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Оценочное «иные характеристики» и усмотрение главы администрации; отклонения до 10 % вообще проходят без обсуждений с жителями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745736"/>
            <a:ext cx="11094415" cy="1325880"/>
          </a:xfrm>
          <a:prstGeom prst="roundRect">
            <a:avLst>
              <a:gd name="adj" fmla="val 8276"/>
            </a:avLst>
          </a:prstGeom>
          <a:solidFill>
            <a:srgbClr val="D9692E"/>
          </a:solidFill>
          <a:ln w="12700">
            <a:solidFill>
              <a:srgbClr val="D969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5020056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0200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6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4892040"/>
            <a:ext cx="9494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5330952"/>
            <a:ext cx="949421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Заменить «иные характеристики» закрытым перечнем, требовать подтверждения изысканиями и публиковать мотивированное решение по каждому отклонению, включая ч. 1.1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9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Статья 40 ГрК РФ</dc:title>
  <dc:subject>PptxGenJS Presentation</dc:subject>
  <dc:creator>Буев Даниил</dc:creator>
  <cp:lastModifiedBy>Буев Даниил</cp:lastModifiedBy>
  <cp:revision>1</cp:revision>
  <dcterms:created xsi:type="dcterms:W3CDTF">2026-10-15T14:13:25Z</dcterms:created>
  <dcterms:modified xsi:type="dcterms:W3CDTF">2026-10-15T14:13:25Z</dcterms:modified>
</cp:coreProperties>
</file>