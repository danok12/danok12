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016328F-A2F9-4416-B293-4567599F097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Добрый день! Тема моего выступления — конфуцианство, одно из двух главных течений китайской философии.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Начну с фразы, которую знают все, даже если не знают, кому она принадлежит: «Не делай другим того, чего не желаешь себе». Это золотое правило нравственности, и сформулировал его Конфуций — примерно за пятьсот лет до нашей эры.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Сегодня я расскажу, кем был этот человек, в чём суть его учения и почему оно почти три тысячи лет остаётся живым.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32650D-A8C9-4B95-BF36-486841FAA83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План выступления. Задержаться на пять секунд, не зачитывать вслух.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D8DE88-D750-41C0-AE05-66D55492536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Итак, кто он такой. Настоящее имя — Кун Цю. В литературе его называют Кун-цзы, Кун Фу-цзы или просто Цзы — «Учитель». Именно из «Кун Фу-цзы» европейские миссионеры сделали привычное нам «Конфуций».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Годы жизни — 551—479 до нашей эры. Он был потомком обедневшего аристократического рода, сыном пожилого чиновника и его молодой наложницы. То есть происхождение знатное, а жизнь — бедная: ему приходилось зарабатывать с юности.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Уже в 22 года он стал первым в Китае частным учителем. До него образование было привилегией знати, а Конфуций начал брать учеников независимо от происхождения — по преданию, платой могла быть связка вяленого мяса. Позже он снискал славу самого знаменитого педагога Поднебесной.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Любопытная деталь: сам он не написал ни одной книги. Всё, что мы знаем, записали ученики — это сборник «Лунь юй», «Беседы и суждения».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82DED6-9942-4090-871E-64CAED3B051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Конфуций не любил говорить о себе. Но однажды он описал весь свой жизненный путь буквально в шести строчках — и это, на мой взгляд, одна из самых красивых автобиографий в истории: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«В 15 лет я обратил свои помыслы к учению. В 30 лет — я обрёл прочную основу. В 40 лет — я сумел освободиться от сомнений. В 50 лет — я познал волю Неба. В 60 лет — я научился отличать правду от лжи. В 70 лет — я стал следовать зову моего сердца и не нарушал Ритуала».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Обратите внимание на последнюю строчку. Высшая точка — не когда человек заставляет себя поступать правильно, а когда он делает что хочет — и это совпадает с правильным. Вся педагогика Конфуция про это: воспитать человека так, чтобы добродетель стала его желанием, а не обязанностью.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0CD4F2-EEA9-439D-8E80-66B31BBD6EE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Переход к сути учения.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3FCF7A-A86D-4BAB-9233-156BD484E7B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Теперь — о чём, собственно, учение.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Конфуцианство — учение ярко выраженного социально-этического характера. Это важно: оно почти не говорит о том, как устроена вселенная, откуда взялся мир, что такое бытие. Его интересует человек: как жить среди людей, как воспитывать, как управлять. Главная тема — моральные принципы, на которых держатся и отношения между людьми, и государство.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Место для судьбы в этой картине тоже есть. Конфуций говорил: «Всё изначально предопределено судьбой, и тут ничего не убавишь и не прибавишь». Но это не повод опустить руки: судьба задаёт рамку, а внутри неё человек отвечает за себя сам.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ещё одна мысль, очень смелая для своего времени. По своей природе, говорит Конфуций, люди похожи друг на друга — незыблемы только высшая мудрость и крайняя глупость. А различаются люди благодаря воспитанию и привычкам. То есть человека делает не происхождение, а образование. Для общества, где всё решала знатность рода, это была почти революционная идея.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DB77C8-7B08-4CFF-BFB7-3B1D000510E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Знание Конфуций выстраивает в лестницу из четырёх ступеней.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Высшее знание — то, которое человек имеет при рождении. Ниже — знания, приобретаемые в процессе изучения. Ещё ниже — знания, полученные в результате преодоления трудностей: то есть когда жизнь сама заставила научиться.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А самый ничтожный, по Конфуцию, тот, кто не хочет извлечь поучительный урок даже из трудностей. Заметьте: осуждается не глупость и не бедность, а нежелание учиться. Это единственное, что он считает по-настоящему недостойным.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FA9F44-2654-41AC-AF5C-1B9ACB1C8E6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Ту же мысль он формулирует ещё короче — в цитате, которую вы наверняка слышали: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«Три пути ведут к знанию: путь размышления — это путь самый благородный, путь подражания — это путь самый лёгкий, путь опыта — это путь самый горький».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Здесь нет запрета на два последних пути. Есть честное предупреждение: подражать легко, но чужой ум не станет твоим; учиться на своих ошибках можно, но это дорого обходится. Думать своей головой — труднее всего и благороднее всего.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AEEE69-2603-4FC1-A508-A165573D187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Теперь — фундамент всего учения. Эталон человека у Конфуция называется «благородный муж», по-китайски цзюнь-цзы. Это не про знатность: благородным становятся, а не рождаются. У него пять качеств.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Первое — жэнь, гуманность, человеколюбие. Именно здесь звучит золотое правило: не делай другим того, чего не желал бы себе. Жэнь — это спокойная, самодостаточная любовь к людям, которая приносит в мир гармонию.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Второе — ли, почтительность и ритуал. Широкий круг правил, которые регламентируют буквально все сферы жизни: от того, как вести себя с родителями, до отношений с государством. Ритуал для Конфуция — не формальность, а способ сделать уважение видимым.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Третье — и, чувство долга, долг-справедливость. Моральные принципы, которых совершенный человек держится по собственной воле, в силу своей добродетели, а не из страха наказания.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Четвёртое — чжи: здравый смысл, рассудительность, умение просчитать последствия своих действий и посмотреть на них со стороны. Чжи противостоит глупости.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пятое — синь: искренность, доброе намерение, добросовестность. Синь уравновешивает ли: без искренности ритуал превращается в пустое лицемерие. То есть система сама себя страхует от вырождения в показуху.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908033-582E-47EC-BFA2-4A434557563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Те же принципы Конфуций переносит на государство — и это самая влиятельная часть его учения.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Он считал, что человек должен жить в обществе гуманности и милосердия, а правитель и его чиновники обязаны управлять страной по принципам справедливости, честности и любви. Золотое правило — «не делай другим того, чего не желаешь себе» — звучит у него не только как личный, но и как политический принцип.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Логика простая и цельная: правильный человек создаёт правильное общество, а правильное общество — правильное государство. Начинать нужно с себя, а не с реформы законов.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Поэтому Конфуций спорил со сторонниками жёсткого закона и наказаний. Он считал, что страх заставляет людей избегать наказания, но не делает их лучше. А личный пример правителя — делает.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E187ED-2085-48D4-8916-F6124C6656F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Очень образно он говорит об этом так: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«Суть господина подобна ветру, а суть простых людей подобна траве. И когда ветер веет над травой, она не может выбирать, а наклоняется».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То есть каким будет правитель — таким станет и народ, причём почти автоматически, без принуждения. Это одновременно и обещание, и предупреждение: власть отвечает не только за свои указы, но и за свой нравственный облик.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9565BD-1A50-4A4E-B964-F1162C65A95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Прежде чем подвести итог — несколько практических советов Конфуция. Им две с половиной тысячи лет, но звучат они как современная книга по саморазвитию.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Идите к своей цели, пусть даже медленно, но не останавливаясь.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Держите свой инструмент остро отточенным — ваша удача зависит от того, насколько хорошо вы подготовились.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Делайте только по-настоящему важное и интересное для вас дело, прикладывая максимальные усилия.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Общайтесь только с теми, кто развивается: такой человек поведёт вас за собой.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Работайте над собой и делайте добро — мир вокруг вас есть зеркало вашего внутреннего «я».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контролируйте свой гнев: за всё придётся платить. Сюда же — не позволяйте обидам сбить вас с пути, и наблюдайте за людьми: каждый может чему-то научить или от чего-то предостеречь.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6B0B86-66C6-4BDD-867D-894166E0AC5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Подведу итог.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Конфуцианство — это философия не о том, как устроен мир, а о том, как человеку жить среди людей. Его главная ставка — на воспитание: человека делает не происхождение, а то, чему и как его научили.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Благородство здесь не титул, а пять качеств — человеколюбие, ритуал, долг, мудрость и искренность, — которым учатся всю жизнь. И государство, по Конфуцию, начинается не с законов, а с личного примера тех, кто им управляет.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Именно поэтому конфуцианство на две с половиной тысячи лет стало основой китайской культуры и государственной идеологией — и, честно говоря, его советы не устарели до сих пор.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9513FF-6193-4350-9A64-68E3FA5C7BF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Спасибо за внимание! Готов ответить на вопросы.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977D41-9BE9-49F8-86F7-33AF7D31872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06BFF4-42C2-4CAE-914B-A0EC081132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4CD45-E443-4B08-A8F5-E31D1AF9CF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7F9A515-E49F-4056-A3CA-6EE814470F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E8D1DC5-4334-4921-9391-8611EC3321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1CA7D2E-16BE-4EC5-9DCF-B1078B7293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280FE59-CB6D-4D16-AD27-67C3B7A2F3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3F45FBB-D070-4F66-A6DC-C79EA44116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2BC403B-9DEA-4858-AB36-66746B7950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7B68C6C-B83C-4C37-BDA1-A198F79797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0D97514-44AC-4D76-89CC-001451EEF5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3635CFE-B16B-4A39-95A4-88A555A05C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CCD36D-A6B9-454F-B523-36B9675FEA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D9E974-4313-4D55-AD72-2DBAE148AE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C07595-B283-4F77-8DAF-CDD1F68367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308431-F54C-4088-B52A-5AB08DA178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17E5B2-9CEE-4383-AC30-E7035646ED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E51BE7-BB4A-4938-AF44-52BE41FEDB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849D12-0061-41B9-B6C5-833207D56B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171A3D-835F-4027-8C10-62AA274D3A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867703-F7DB-4642-BFE6-4CC5715D8D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37E4F8-407B-41A3-A4B2-7AB2564954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821BA5-D74A-430D-ADE3-00AA6B94EA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cov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Rectangle 2"/>
          <p:cNvSpPr/>
          <p:nvPr/>
        </p:nvSpPr>
        <p:spPr>
          <a:xfrm>
            <a:off x="0" y="3273480"/>
            <a:ext cx="12191400" cy="3584160"/>
          </a:xfrm>
          <a:prstGeom prst="rect">
            <a:avLst/>
          </a:prstGeom>
          <a:solidFill>
            <a:srgbClr val="ede9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3273480"/>
            <a:ext cx="12191400" cy="104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868680" y="3749040"/>
            <a:ext cx="5668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50" spc="338" strike="noStrike">
                <a:solidFill>
                  <a:srgbClr val="8a8578"/>
                </a:solidFill>
                <a:latin typeface="Arial"/>
              </a:rPr>
              <a:t>ФИЛОСОФИЯ ДРЕВНЕГО КИТАЯ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868680" y="4151520"/>
            <a:ext cx="6034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</a:pPr>
            <a:r>
              <a:rPr b="1" lang="en-US" sz="4000" spc="117" strike="noStrike">
                <a:solidFill>
                  <a:srgbClr val="2a2a24"/>
                </a:solidFill>
                <a:latin typeface="Arial"/>
              </a:rPr>
              <a:t>КОНФУЦИАНСТВО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868680" y="5000760"/>
            <a:ext cx="182844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868680" y="5202000"/>
            <a:ext cx="5486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58" strike="noStrike">
                <a:solidFill>
                  <a:srgbClr val="4a4942"/>
                </a:solidFill>
                <a:latin typeface="Arial"/>
              </a:rPr>
              <a:t>Учение о человеке и государстве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6967800" y="3822120"/>
            <a:ext cx="12600" cy="113760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7269480" y="3822120"/>
            <a:ext cx="3931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55000"/>
              </a:lnSpc>
            </a:pPr>
            <a:r>
              <a:rPr b="0" i="1" lang="en-US" sz="1450" spc="-1" strike="noStrike">
                <a:solidFill>
                  <a:srgbClr val="4a4942"/>
                </a:solidFill>
                <a:latin typeface="Arial"/>
              </a:rPr>
              <a:t>«Не делай другим того, чего не желаешь себе.»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7269480" y="4850280"/>
            <a:ext cx="39315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39" strike="noStrike">
                <a:solidFill>
                  <a:srgbClr val="8a8578"/>
                </a:solidFill>
                <a:latin typeface="Arial"/>
              </a:rPr>
              <a:t>КОНФУЦИЙ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7269480" y="570600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199" strike="noStrike">
                <a:solidFill>
                  <a:srgbClr val="8a8578"/>
                </a:solidFill>
                <a:latin typeface="Arial"/>
              </a:rPr>
              <a:t>Кун Цю · 551—479 гг. до н. э.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10820160" y="530280"/>
            <a:ext cx="822600" cy="11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lang="zh-CN" sz="2800" spc="-1" strike="noStrike">
                <a:solidFill>
                  <a:srgbClr val="555750"/>
                </a:solidFill>
                <a:latin typeface="Arial"/>
              </a:rPr>
              <a:t>孔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5000"/>
              </a:lnSpc>
              <a:spcBef>
                <a:spcPts val="601"/>
              </a:spcBef>
            </a:pPr>
            <a:r>
              <a:rPr b="0" lang="zh-CN" sz="2800" spc="-1" strike="noStrike">
                <a:solidFill>
                  <a:srgbClr val="555750"/>
                </a:solidFill>
                <a:latin typeface="Arial"/>
              </a:rPr>
              <a:t>子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2" descr="green-panel.png"/>
          <p:cNvPicPr/>
          <p:nvPr/>
        </p:nvPicPr>
        <p:blipFill>
          <a:blip r:embed="rId2"/>
          <a:stretch/>
        </p:blipFill>
        <p:spPr>
          <a:xfrm>
            <a:off x="8613720" y="0"/>
            <a:ext cx="3577680" cy="6857640"/>
          </a:xfrm>
          <a:prstGeom prst="rect">
            <a:avLst/>
          </a:prstGeom>
          <a:ln w="0">
            <a:noFill/>
          </a:ln>
        </p:spPr>
      </p:pic>
      <p:sp>
        <p:nvSpPr>
          <p:cNvPr id="87" name="TextBox 3"/>
          <p:cNvSpPr/>
          <p:nvPr/>
        </p:nvSpPr>
        <p:spPr>
          <a:xfrm>
            <a:off x="9116640" y="960120"/>
            <a:ext cx="23770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4000" spc="-1" strike="noStrike">
                <a:solidFill>
                  <a:srgbClr val="ede9e1"/>
                </a:solidFill>
                <a:latin typeface="Arial"/>
              </a:rPr>
              <a:t>目錄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9144000" y="2139840"/>
            <a:ext cx="255996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300" spc="318" strike="noStrike">
                <a:solidFill>
                  <a:srgbClr val="c2cbbf"/>
                </a:solidFill>
                <a:latin typeface="Arial"/>
              </a:rPr>
              <a:t>СОДЕРЖАНИЕ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9144000" y="2670120"/>
            <a:ext cx="822600" cy="12600"/>
          </a:xfrm>
          <a:prstGeom prst="rect">
            <a:avLst/>
          </a:prstGeom>
          <a:solidFill>
            <a:srgbClr val="8f9c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868680" y="91440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1645920" y="87768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Кто такой Конфуций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1645920" y="122544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Биография и эпоха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868680" y="153612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868680" y="170064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1645920" y="166428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О чём учение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1645920" y="201168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Мораль, судьба, знание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868680" y="232272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68680" y="248724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5"/>
          <p:cNvSpPr/>
          <p:nvPr/>
        </p:nvSpPr>
        <p:spPr>
          <a:xfrm>
            <a:off x="1645920" y="245052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Благородный муж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1645920" y="279792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Пять качеств цзюнь-цзы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17"/>
          <p:cNvSpPr/>
          <p:nvPr/>
        </p:nvSpPr>
        <p:spPr>
          <a:xfrm>
            <a:off x="868680" y="310896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8"/>
          <p:cNvSpPr/>
          <p:nvPr/>
        </p:nvSpPr>
        <p:spPr>
          <a:xfrm>
            <a:off x="868680" y="327348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1645920" y="323712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Государство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0"/>
          <p:cNvSpPr/>
          <p:nvPr/>
        </p:nvSpPr>
        <p:spPr>
          <a:xfrm>
            <a:off x="1645920" y="358452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Мораль как политика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21"/>
          <p:cNvSpPr/>
          <p:nvPr/>
        </p:nvSpPr>
        <p:spPr>
          <a:xfrm>
            <a:off x="868680" y="389520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868680" y="406008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1645920" y="402336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Итог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1645920" y="437076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Чему это учит сегодня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СОДЕРЖАНИЕ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12" name="TextBox 2"/>
          <p:cNvSpPr/>
          <p:nvPr/>
        </p:nvSpPr>
        <p:spPr>
          <a:xfrm>
            <a:off x="868680" y="713160"/>
            <a:ext cx="6400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КТО ТАКОЙ КОНФУЦИЙ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868680" y="1097280"/>
            <a:ext cx="64004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КУН ЦЮ,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УЧИТЕЛЬ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868680" y="215496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868680" y="25574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1271160" y="25390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551—479 гг. до н. э.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868680" y="30632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1271160" y="30448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Обедневший аристократический род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868680" y="35690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1271160" y="355104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В 22 года — первый частный учитель Китая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Picture 11" descr="confucius-portrait.png"/>
          <p:cNvPicPr/>
          <p:nvPr/>
        </p:nvPicPr>
        <p:blipFill>
          <a:blip r:embed="rId2"/>
          <a:stretch/>
        </p:blipFill>
        <p:spPr>
          <a:xfrm>
            <a:off x="8272800" y="1170360"/>
            <a:ext cx="2092680" cy="3840120"/>
          </a:xfrm>
          <a:prstGeom prst="rect">
            <a:avLst/>
          </a:prstGeom>
          <a:ln w="0">
            <a:noFill/>
          </a:ln>
        </p:spPr>
      </p:pic>
      <p:sp>
        <p:nvSpPr>
          <p:cNvPr id="122" name="TextBox 12"/>
          <p:cNvSpPr/>
          <p:nvPr/>
        </p:nvSpPr>
        <p:spPr>
          <a:xfrm>
            <a:off x="7315200" y="5157360"/>
            <a:ext cx="40075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b="0" lang="en-US" sz="1050" spc="-1" strike="noStrike">
                <a:solidFill>
                  <a:srgbClr val="8a8578"/>
                </a:solidFill>
                <a:latin typeface="Arial"/>
              </a:rPr>
              <a:t>Кун Цю (Конфуций)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13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14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5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Самый знаменитый педагог Поднебесной — и при этом не оставивший ни одной книги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КТО ТАКОЙ КОНФУЦИЙ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29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КТО ТАКОЙ КОНФУЦИЙ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АВТОБИОГРАФИЯ В ШЕСТЬ СТРОК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868680" y="224784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15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868680" y="288792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7"/>
          <p:cNvSpPr/>
          <p:nvPr/>
        </p:nvSpPr>
        <p:spPr>
          <a:xfrm>
            <a:off x="868680" y="32353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868680" y="338184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обратил помыслы к учению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4353480" y="224784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30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4353480" y="288792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11"/>
          <p:cNvSpPr/>
          <p:nvPr/>
        </p:nvSpPr>
        <p:spPr>
          <a:xfrm>
            <a:off x="4353480" y="32353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4353480" y="338184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обрёл прочную основу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3"/>
          <p:cNvSpPr/>
          <p:nvPr/>
        </p:nvSpPr>
        <p:spPr>
          <a:xfrm>
            <a:off x="7838280" y="224784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40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4"/>
          <p:cNvSpPr/>
          <p:nvPr/>
        </p:nvSpPr>
        <p:spPr>
          <a:xfrm>
            <a:off x="7838280" y="288792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15"/>
          <p:cNvSpPr/>
          <p:nvPr/>
        </p:nvSpPr>
        <p:spPr>
          <a:xfrm>
            <a:off x="7838280" y="32353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7838280" y="338184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освободился от сомнений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7"/>
          <p:cNvSpPr/>
          <p:nvPr/>
        </p:nvSpPr>
        <p:spPr>
          <a:xfrm>
            <a:off x="868680" y="405828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50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8"/>
          <p:cNvSpPr/>
          <p:nvPr/>
        </p:nvSpPr>
        <p:spPr>
          <a:xfrm>
            <a:off x="868680" y="46983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19"/>
          <p:cNvSpPr/>
          <p:nvPr/>
        </p:nvSpPr>
        <p:spPr>
          <a:xfrm>
            <a:off x="868680" y="50461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68680" y="519228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познал волю Неба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1"/>
          <p:cNvSpPr/>
          <p:nvPr/>
        </p:nvSpPr>
        <p:spPr>
          <a:xfrm>
            <a:off x="4353480" y="405828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60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2"/>
          <p:cNvSpPr/>
          <p:nvPr/>
        </p:nvSpPr>
        <p:spPr>
          <a:xfrm>
            <a:off x="4353480" y="46983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23"/>
          <p:cNvSpPr/>
          <p:nvPr/>
        </p:nvSpPr>
        <p:spPr>
          <a:xfrm>
            <a:off x="4353480" y="50461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4"/>
          <p:cNvSpPr/>
          <p:nvPr/>
        </p:nvSpPr>
        <p:spPr>
          <a:xfrm>
            <a:off x="4353480" y="519228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отличал правду от лжи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25"/>
          <p:cNvSpPr/>
          <p:nvPr/>
        </p:nvSpPr>
        <p:spPr>
          <a:xfrm>
            <a:off x="7838280" y="405828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70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6"/>
          <p:cNvSpPr/>
          <p:nvPr/>
        </p:nvSpPr>
        <p:spPr>
          <a:xfrm>
            <a:off x="7838280" y="46983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27"/>
          <p:cNvSpPr/>
          <p:nvPr/>
        </p:nvSpPr>
        <p:spPr>
          <a:xfrm>
            <a:off x="7838280" y="50461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28"/>
          <p:cNvSpPr/>
          <p:nvPr/>
        </p:nvSpPr>
        <p:spPr>
          <a:xfrm>
            <a:off x="7838280" y="519228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следовал зову сердца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29"/>
          <p:cNvSpPr/>
          <p:nvPr/>
        </p:nvSpPr>
        <p:spPr>
          <a:xfrm>
            <a:off x="868680" y="5888880"/>
            <a:ext cx="10454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i="1" lang="en-US" sz="1300" spc="-1" strike="noStrike">
                <a:solidFill>
                  <a:srgbClr val="8a8578"/>
                </a:solidFill>
                <a:latin typeface="Arial"/>
              </a:rPr>
              <a:t>Конфуций о себе — весь жизненный путь в шести строчках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0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КТО ТАКОЙ КОНФУЦИЙ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1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" descr="green-full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60" name="TextBox 2"/>
          <p:cNvSpPr/>
          <p:nvPr/>
        </p:nvSpPr>
        <p:spPr>
          <a:xfrm>
            <a:off x="7985520" y="1051560"/>
            <a:ext cx="329148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zh-CN" sz="12800" spc="-1" strike="noStrike">
                <a:solidFill>
                  <a:srgbClr val="3b493d"/>
                </a:solidFill>
                <a:latin typeface="Arial"/>
              </a:rPr>
              <a:t>儒</a:t>
            </a:r>
            <a:endParaRPr b="0" lang="en-US" sz="1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868680" y="2084760"/>
            <a:ext cx="64004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338" strike="noStrike">
                <a:solidFill>
                  <a:srgbClr val="9aa697"/>
                </a:solidFill>
                <a:latin typeface="Arial"/>
              </a:rPr>
              <a:t>ПЕРЕХОДИМ К ГЛАВНОМУ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868680" y="2487240"/>
            <a:ext cx="768060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600" spc="199" strike="noStrike">
                <a:solidFill>
                  <a:srgbClr val="ede9e1"/>
                </a:solidFill>
                <a:latin typeface="Arial"/>
              </a:rPr>
              <a:t>УЧЕНИЕ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5"/>
          <p:cNvSpPr/>
          <p:nvPr/>
        </p:nvSpPr>
        <p:spPr>
          <a:xfrm>
            <a:off x="868680" y="3639240"/>
            <a:ext cx="155412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6"/>
          <p:cNvSpPr/>
          <p:nvPr/>
        </p:nvSpPr>
        <p:spPr>
          <a:xfrm>
            <a:off x="868680" y="3858840"/>
            <a:ext cx="640044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700" spc="58" strike="noStrike">
                <a:solidFill>
                  <a:srgbClr val="c2cbbf"/>
                </a:solidFill>
                <a:latin typeface="Arial"/>
              </a:rPr>
              <a:t>О чём говорит конфуцианство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7"/>
          <p:cNvSpPr/>
          <p:nvPr/>
        </p:nvSpPr>
        <p:spPr>
          <a:xfrm>
            <a:off x="8686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8"/>
          <p:cNvSpPr/>
          <p:nvPr/>
        </p:nvSpPr>
        <p:spPr>
          <a:xfrm>
            <a:off x="8686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Мораль и судьба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9"/>
          <p:cNvSpPr/>
          <p:nvPr/>
        </p:nvSpPr>
        <p:spPr>
          <a:xfrm>
            <a:off x="34822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34822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Градация знаний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1"/>
          <p:cNvSpPr/>
          <p:nvPr/>
        </p:nvSpPr>
        <p:spPr>
          <a:xfrm>
            <a:off x="60958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2"/>
          <p:cNvSpPr/>
          <p:nvPr/>
        </p:nvSpPr>
        <p:spPr>
          <a:xfrm>
            <a:off x="60958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Благородный муж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3"/>
          <p:cNvSpPr/>
          <p:nvPr/>
        </p:nvSpPr>
        <p:spPr>
          <a:xfrm>
            <a:off x="87094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4"/>
          <p:cNvSpPr/>
          <p:nvPr/>
        </p:nvSpPr>
        <p:spPr>
          <a:xfrm>
            <a:off x="87094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Государство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5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b9c2b6"/>
                </a:solidFill>
                <a:latin typeface="Arial"/>
              </a:rPr>
              <a:t>УЧЕНИЕ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6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b9c2b6"/>
                </a:solidFill>
                <a:latin typeface="Arial"/>
              </a:rPr>
              <a:t>05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76" name="TextBox 2"/>
          <p:cNvSpPr/>
          <p:nvPr/>
        </p:nvSpPr>
        <p:spPr>
          <a:xfrm>
            <a:off x="868680" y="713160"/>
            <a:ext cx="67662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О ЧЁМ УЧЕНИЕ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868680" y="1097280"/>
            <a:ext cx="676620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ЧЕЛОВЕК,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А НЕ ВСЕЛЕННАЯ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 4"/>
          <p:cNvSpPr/>
          <p:nvPr/>
        </p:nvSpPr>
        <p:spPr>
          <a:xfrm>
            <a:off x="868680" y="215496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868680" y="255744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1271160" y="2539080"/>
            <a:ext cx="5632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Учение социально-этическое, а не о мироздании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868680" y="307152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1271160" y="3053160"/>
            <a:ext cx="5632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Мораль — основа и отношений, и управления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868680" y="358596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1271160" y="3567600"/>
            <a:ext cx="5632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Люди равны по природе, различны по воспитанию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Picture 11" descr="confucius-disciples.png"/>
          <p:cNvPicPr/>
          <p:nvPr/>
        </p:nvPicPr>
        <p:blipFill>
          <a:blip r:embed="rId2"/>
          <a:srcRect l="8633" t="0" r="8633" b="0"/>
          <a:stretch/>
        </p:blipFill>
        <p:spPr>
          <a:xfrm>
            <a:off x="7315200" y="1170360"/>
            <a:ext cx="4007520" cy="3949920"/>
          </a:xfrm>
          <a:prstGeom prst="rect">
            <a:avLst/>
          </a:prstGeom>
          <a:ln w="0">
            <a:noFill/>
          </a:ln>
        </p:spPr>
      </p:pic>
      <p:sp>
        <p:nvSpPr>
          <p:cNvPr id="186" name="Rectangle 12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13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«Всё изначально предопределено судьбой, и тут ничего не убавишь и не прибавишь»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О ЧЁМ УЧЕНИЕ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Picture 1" descr="pap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92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О ЧЁМ УЧЕНИЕ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ГРАДАЦИЯ ЗНАНИЙ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868680" y="228456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1737360" y="226620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ВЫСШЕЕ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5760720" y="229356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знание, которое человек имеет при рождении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 8"/>
          <p:cNvSpPr/>
          <p:nvPr/>
        </p:nvSpPr>
        <p:spPr>
          <a:xfrm>
            <a:off x="868680" y="274176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1234440" y="316224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2103120" y="314388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НИЖЕ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5760720" y="317160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знания, приобретаемые изучением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12"/>
          <p:cNvSpPr/>
          <p:nvPr/>
        </p:nvSpPr>
        <p:spPr>
          <a:xfrm>
            <a:off x="1234440" y="3619440"/>
            <a:ext cx="100882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1600200" y="404028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III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2468880" y="402192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ЕЩЁ НИЖЕ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5"/>
          <p:cNvSpPr/>
          <p:nvPr/>
        </p:nvSpPr>
        <p:spPr>
          <a:xfrm>
            <a:off x="5760720" y="404928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знания через преодоление трудностей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16"/>
          <p:cNvSpPr/>
          <p:nvPr/>
        </p:nvSpPr>
        <p:spPr>
          <a:xfrm>
            <a:off x="1600200" y="4497480"/>
            <a:ext cx="972252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17"/>
          <p:cNvSpPr/>
          <p:nvPr/>
        </p:nvSpPr>
        <p:spPr>
          <a:xfrm>
            <a:off x="1965960" y="491796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IV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8"/>
          <p:cNvSpPr/>
          <p:nvPr/>
        </p:nvSpPr>
        <p:spPr>
          <a:xfrm>
            <a:off x="2834640" y="489960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НИЧТОЖНЕЙШИЙ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9"/>
          <p:cNvSpPr/>
          <p:nvPr/>
        </p:nvSpPr>
        <p:spPr>
          <a:xfrm>
            <a:off x="5760720" y="492696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тот, кто не извлекает урок из трудностей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20"/>
          <p:cNvSpPr/>
          <p:nvPr/>
        </p:nvSpPr>
        <p:spPr>
          <a:xfrm>
            <a:off x="1965960" y="5375160"/>
            <a:ext cx="93567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1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О ЧЁМ УЧЕНИЕ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22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paper-quot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14" name="TextBox 2"/>
          <p:cNvSpPr/>
          <p:nvPr/>
        </p:nvSpPr>
        <p:spPr>
          <a:xfrm>
            <a:off x="868680" y="960120"/>
            <a:ext cx="82292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О ЧЁМ УЧЕНИЕ · ЦИТАТА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1417320" y="2331720"/>
            <a:ext cx="9326520" cy="24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«Три пути ведут к знанию: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размышления — самый благородный,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подражания — самый лёгкий,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опыта — самый горький.»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5730120" y="4668480"/>
            <a:ext cx="7311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868680" y="4888080"/>
            <a:ext cx="10454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lang="en-US" sz="1300" spc="338" strike="noStrike">
                <a:solidFill>
                  <a:srgbClr val="2c382f"/>
                </a:solidFill>
                <a:latin typeface="Arial"/>
              </a:rPr>
              <a:t>КОНФУЦИЙ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О ЧЁМ УЧЕНИЕ · ЦИТАТА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08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21" name="TextBox 2"/>
          <p:cNvSpPr/>
          <p:nvPr/>
        </p:nvSpPr>
        <p:spPr>
          <a:xfrm>
            <a:off x="868680" y="6033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ФУНДАМЕНТ УЧЕНИЯ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868680" y="9874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БЛАГОРОДНЫЙ МУЖ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868680" y="16261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868680" y="1955160"/>
            <a:ext cx="8686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550" spc="-1" strike="noStrike">
                <a:solidFill>
                  <a:srgbClr val="2c382f"/>
                </a:solidFill>
                <a:latin typeface="Arial"/>
              </a:rPr>
              <a:t>ЦЗЮНЬ-ЦЗЫ — эталон человека, идущего по правильному пути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868680" y="238356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仁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1710000" y="245664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ЖЭНЬ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8"/>
          <p:cNvSpPr/>
          <p:nvPr/>
        </p:nvSpPr>
        <p:spPr>
          <a:xfrm>
            <a:off x="1710000" y="280440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Человеколюбие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9"/>
          <p:cNvSpPr/>
          <p:nvPr/>
        </p:nvSpPr>
        <p:spPr>
          <a:xfrm>
            <a:off x="4572000" y="253008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Не делай другим того, чего не желал бы себе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 10"/>
          <p:cNvSpPr/>
          <p:nvPr/>
        </p:nvSpPr>
        <p:spPr>
          <a:xfrm>
            <a:off x="868680" y="311508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1"/>
          <p:cNvSpPr/>
          <p:nvPr/>
        </p:nvSpPr>
        <p:spPr>
          <a:xfrm>
            <a:off x="868680" y="314244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礼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2"/>
          <p:cNvSpPr/>
          <p:nvPr/>
        </p:nvSpPr>
        <p:spPr>
          <a:xfrm>
            <a:off x="1710000" y="321588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ЛИ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13"/>
          <p:cNvSpPr/>
          <p:nvPr/>
        </p:nvSpPr>
        <p:spPr>
          <a:xfrm>
            <a:off x="1710000" y="356328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Ритуал, почтительность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14"/>
          <p:cNvSpPr/>
          <p:nvPr/>
        </p:nvSpPr>
        <p:spPr>
          <a:xfrm>
            <a:off x="4572000" y="328896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Правила жизни — от семьи до государства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15"/>
          <p:cNvSpPr/>
          <p:nvPr/>
        </p:nvSpPr>
        <p:spPr>
          <a:xfrm>
            <a:off x="868680" y="387396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16"/>
          <p:cNvSpPr/>
          <p:nvPr/>
        </p:nvSpPr>
        <p:spPr>
          <a:xfrm>
            <a:off x="868680" y="390168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义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17"/>
          <p:cNvSpPr/>
          <p:nvPr/>
        </p:nvSpPr>
        <p:spPr>
          <a:xfrm>
            <a:off x="1710000" y="397476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8"/>
          <p:cNvSpPr/>
          <p:nvPr/>
        </p:nvSpPr>
        <p:spPr>
          <a:xfrm>
            <a:off x="1710000" y="432216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Долг-справедливость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9"/>
          <p:cNvSpPr/>
          <p:nvPr/>
        </p:nvSpPr>
        <p:spPr>
          <a:xfrm>
            <a:off x="4572000" y="404784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По своей воле, а не из страха наказания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 20"/>
          <p:cNvSpPr/>
          <p:nvPr/>
        </p:nvSpPr>
        <p:spPr>
          <a:xfrm>
            <a:off x="868680" y="463320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21"/>
          <p:cNvSpPr/>
          <p:nvPr/>
        </p:nvSpPr>
        <p:spPr>
          <a:xfrm>
            <a:off x="868680" y="466056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智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22"/>
          <p:cNvSpPr/>
          <p:nvPr/>
        </p:nvSpPr>
        <p:spPr>
          <a:xfrm>
            <a:off x="1710000" y="473364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ЧЖИ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23"/>
          <p:cNvSpPr/>
          <p:nvPr/>
        </p:nvSpPr>
        <p:spPr>
          <a:xfrm>
            <a:off x="1710000" y="508104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Мудрость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24"/>
          <p:cNvSpPr/>
          <p:nvPr/>
        </p:nvSpPr>
        <p:spPr>
          <a:xfrm>
            <a:off x="4572000" y="480672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Умение просчитать следствия своих действий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25"/>
          <p:cNvSpPr/>
          <p:nvPr/>
        </p:nvSpPr>
        <p:spPr>
          <a:xfrm>
            <a:off x="868680" y="539208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6"/>
          <p:cNvSpPr/>
          <p:nvPr/>
        </p:nvSpPr>
        <p:spPr>
          <a:xfrm>
            <a:off x="868680" y="541944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信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27"/>
          <p:cNvSpPr/>
          <p:nvPr/>
        </p:nvSpPr>
        <p:spPr>
          <a:xfrm>
            <a:off x="1710000" y="549252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СИНЬ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28"/>
          <p:cNvSpPr/>
          <p:nvPr/>
        </p:nvSpPr>
        <p:spPr>
          <a:xfrm>
            <a:off x="1710000" y="583992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Искренность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29"/>
          <p:cNvSpPr/>
          <p:nvPr/>
        </p:nvSpPr>
        <p:spPr>
          <a:xfrm>
            <a:off x="4572000" y="556560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Уравновешивает Ли, не давая ритуалу стать лицемерием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30"/>
          <p:cNvSpPr/>
          <p:nvPr/>
        </p:nvSpPr>
        <p:spPr>
          <a:xfrm>
            <a:off x="868680" y="615096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31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ФУНДАМЕНТ УЧЕНИЯ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32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53" name="TextBox 2"/>
          <p:cNvSpPr/>
          <p:nvPr/>
        </p:nvSpPr>
        <p:spPr>
          <a:xfrm>
            <a:off x="868680" y="713160"/>
            <a:ext cx="6400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ГОСУДАРСТВО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868680" y="1097280"/>
            <a:ext cx="64004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МОРАЛЬ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КАК ПОЛИТИКА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 4"/>
          <p:cNvSpPr/>
          <p:nvPr/>
        </p:nvSpPr>
        <p:spPr>
          <a:xfrm>
            <a:off x="868680" y="215496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868680" y="25574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1271160" y="25390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Общество гуманности и милосердия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868680" y="30632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1271160" y="30448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Власть — по справедливости, честности и любви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9"/>
          <p:cNvSpPr/>
          <p:nvPr/>
        </p:nvSpPr>
        <p:spPr>
          <a:xfrm>
            <a:off x="868680" y="35690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10"/>
          <p:cNvSpPr/>
          <p:nvPr/>
        </p:nvSpPr>
        <p:spPr>
          <a:xfrm>
            <a:off x="1271160" y="355104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Правильный человек → общество → государство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Picture 11" descr="confucius-scene.png"/>
          <p:cNvPicPr/>
          <p:nvPr/>
        </p:nvPicPr>
        <p:blipFill>
          <a:blip r:embed="rId2"/>
          <a:stretch/>
        </p:blipFill>
        <p:spPr>
          <a:xfrm>
            <a:off x="7315200" y="1805400"/>
            <a:ext cx="4007520" cy="2570040"/>
          </a:xfrm>
          <a:prstGeom prst="rect">
            <a:avLst/>
          </a:prstGeom>
          <a:ln w="0">
            <a:noFill/>
          </a:ln>
        </p:spPr>
      </p:pic>
      <p:sp>
        <p:nvSpPr>
          <p:cNvPr id="263" name="TextBox 12"/>
          <p:cNvSpPr/>
          <p:nvPr/>
        </p:nvSpPr>
        <p:spPr>
          <a:xfrm>
            <a:off x="7315200" y="5157360"/>
            <a:ext cx="40075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b="0" lang="en-US" sz="1050" spc="-1" strike="noStrike">
                <a:solidFill>
                  <a:srgbClr val="8a8578"/>
                </a:solidFill>
                <a:latin typeface="Arial"/>
              </a:rPr>
              <a:t>Конфуций с учениками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ectangle 13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tangle 14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15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Пример правителя действеннее любого указа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ГОСУДАРСТВО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1" descr="paper-quot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70" name="TextBox 2"/>
          <p:cNvSpPr/>
          <p:nvPr/>
        </p:nvSpPr>
        <p:spPr>
          <a:xfrm>
            <a:off x="868680" y="960120"/>
            <a:ext cx="82292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ГОСУДАРСТВО · ЦИТАТА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3"/>
          <p:cNvSpPr/>
          <p:nvPr/>
        </p:nvSpPr>
        <p:spPr>
          <a:xfrm>
            <a:off x="1417320" y="2331720"/>
            <a:ext cx="9326520" cy="24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«Суть господина подобна ветру,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а суть простых людей подобна траве.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И когда ветер веет над травой,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она не может выбирать, а наклоняется.»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ectangle 4"/>
          <p:cNvSpPr/>
          <p:nvPr/>
        </p:nvSpPr>
        <p:spPr>
          <a:xfrm>
            <a:off x="5730120" y="4668480"/>
            <a:ext cx="7311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868680" y="4888080"/>
            <a:ext cx="10454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lang="en-US" sz="1300" spc="338" strike="noStrike">
                <a:solidFill>
                  <a:srgbClr val="2c382f"/>
                </a:solidFill>
                <a:latin typeface="Arial"/>
              </a:rPr>
              <a:t>КОНФУЦИЙ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ГОСУДАРСТВО · ЦИТАТА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" descr="pap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77" name="TextBox 2"/>
          <p:cNvSpPr/>
          <p:nvPr/>
        </p:nvSpPr>
        <p:spPr>
          <a:xfrm>
            <a:off x="868680" y="6033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868680" y="9874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СОВЕТЫ КОНФУЦИЯ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ectangle 4"/>
          <p:cNvSpPr/>
          <p:nvPr/>
        </p:nvSpPr>
        <p:spPr>
          <a:xfrm>
            <a:off x="868680" y="16261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868680" y="1955160"/>
            <a:ext cx="8686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500" spc="-1" strike="noStrike">
                <a:solidFill>
                  <a:srgbClr val="2c382f"/>
                </a:solidFill>
                <a:latin typeface="Arial"/>
              </a:rPr>
              <a:t>Им две с половиной тысячи лет — а звучат как современная книга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868680" y="255816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1371600" y="252144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Идите к цели медленно, но не останавливаясь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ectangle 8"/>
          <p:cNvSpPr/>
          <p:nvPr/>
        </p:nvSpPr>
        <p:spPr>
          <a:xfrm>
            <a:off x="868680" y="339912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868680" y="36097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10"/>
          <p:cNvSpPr/>
          <p:nvPr/>
        </p:nvSpPr>
        <p:spPr>
          <a:xfrm>
            <a:off x="1371600" y="357300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Держите инструмент отточенным: удача — это подготовка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 11"/>
          <p:cNvSpPr/>
          <p:nvPr/>
        </p:nvSpPr>
        <p:spPr>
          <a:xfrm>
            <a:off x="868680" y="445068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12"/>
          <p:cNvSpPr/>
          <p:nvPr/>
        </p:nvSpPr>
        <p:spPr>
          <a:xfrm>
            <a:off x="868680" y="466128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1371600" y="462456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Делайте только по-настоящему важное дело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14"/>
          <p:cNvSpPr/>
          <p:nvPr/>
        </p:nvSpPr>
        <p:spPr>
          <a:xfrm>
            <a:off x="868680" y="550224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5"/>
          <p:cNvSpPr/>
          <p:nvPr/>
        </p:nvSpPr>
        <p:spPr>
          <a:xfrm>
            <a:off x="6492240" y="255816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6"/>
          <p:cNvSpPr/>
          <p:nvPr/>
        </p:nvSpPr>
        <p:spPr>
          <a:xfrm>
            <a:off x="6995160" y="252144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Общайтесь с теми, кто развивается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17"/>
          <p:cNvSpPr/>
          <p:nvPr/>
        </p:nvSpPr>
        <p:spPr>
          <a:xfrm>
            <a:off x="6492240" y="339912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18"/>
          <p:cNvSpPr/>
          <p:nvPr/>
        </p:nvSpPr>
        <p:spPr>
          <a:xfrm>
            <a:off x="6492240" y="36097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6995160" y="357300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Мир вокруг — зеркало вашего внутреннего «я»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 20"/>
          <p:cNvSpPr/>
          <p:nvPr/>
        </p:nvSpPr>
        <p:spPr>
          <a:xfrm>
            <a:off x="6492240" y="445068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6492240" y="466128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22"/>
          <p:cNvSpPr/>
          <p:nvPr/>
        </p:nvSpPr>
        <p:spPr>
          <a:xfrm>
            <a:off x="6995160" y="462456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Контролируйте гнев: за всё придётся платить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23"/>
          <p:cNvSpPr/>
          <p:nvPr/>
        </p:nvSpPr>
        <p:spPr>
          <a:xfrm>
            <a:off x="6492240" y="550224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24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5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02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ЗАКЛЮЧЕНИЕ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КАКОЙ ИТОГ?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5"/>
          <p:cNvSpPr/>
          <p:nvPr/>
        </p:nvSpPr>
        <p:spPr>
          <a:xfrm>
            <a:off x="868680" y="22294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1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6"/>
          <p:cNvSpPr/>
          <p:nvPr/>
        </p:nvSpPr>
        <p:spPr>
          <a:xfrm>
            <a:off x="1600200" y="230292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Конфуцианство говорит не о мироздании, а о человеке среди людей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6309360" y="22294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2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7040880" y="230292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Человека делает воспитание, а не происхождение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9"/>
          <p:cNvSpPr/>
          <p:nvPr/>
        </p:nvSpPr>
        <p:spPr>
          <a:xfrm>
            <a:off x="868680" y="37108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3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10"/>
          <p:cNvSpPr/>
          <p:nvPr/>
        </p:nvSpPr>
        <p:spPr>
          <a:xfrm>
            <a:off x="1600200" y="378396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Благородство — это пять качеств, которым учатся всю жизнь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11"/>
          <p:cNvSpPr/>
          <p:nvPr/>
        </p:nvSpPr>
        <p:spPr>
          <a:xfrm>
            <a:off x="6309360" y="37108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4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2"/>
          <p:cNvSpPr/>
          <p:nvPr/>
        </p:nvSpPr>
        <p:spPr>
          <a:xfrm>
            <a:off x="7040880" y="378396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Государство начинается с личного примера, а не с закона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ectangle 13"/>
          <p:cNvSpPr/>
          <p:nvPr/>
        </p:nvSpPr>
        <p:spPr>
          <a:xfrm>
            <a:off x="868680" y="556020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14"/>
          <p:cNvSpPr/>
          <p:nvPr/>
        </p:nvSpPr>
        <p:spPr>
          <a:xfrm>
            <a:off x="868680" y="5761440"/>
            <a:ext cx="25200" cy="29160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5"/>
          <p:cNvSpPr/>
          <p:nvPr/>
        </p:nvSpPr>
        <p:spPr>
          <a:xfrm>
            <a:off x="1143000" y="5761440"/>
            <a:ext cx="101430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00" spc="-1" strike="noStrike">
                <a:solidFill>
                  <a:srgbClr val="2c382f"/>
                </a:solidFill>
                <a:latin typeface="Arial"/>
              </a:rPr>
              <a:t>Две с половиной тысячи лет спустя это по-прежнему работает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1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ЗАКЛЮЧЕНИЕ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1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1" descr="sectio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19" name="Rectangle 2"/>
          <p:cNvSpPr/>
          <p:nvPr/>
        </p:nvSpPr>
        <p:spPr>
          <a:xfrm>
            <a:off x="0" y="2331720"/>
            <a:ext cx="12191400" cy="2377080"/>
          </a:xfrm>
          <a:prstGeom prst="rect">
            <a:avLst/>
          </a:prstGeom>
          <a:solidFill>
            <a:srgbClr val="ede9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Rectangle 3"/>
          <p:cNvSpPr/>
          <p:nvPr/>
        </p:nvSpPr>
        <p:spPr>
          <a:xfrm>
            <a:off x="0" y="2331720"/>
            <a:ext cx="12191400" cy="86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tangle 4"/>
          <p:cNvSpPr/>
          <p:nvPr/>
        </p:nvSpPr>
        <p:spPr>
          <a:xfrm>
            <a:off x="0" y="4709160"/>
            <a:ext cx="12191400" cy="86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5"/>
          <p:cNvSpPr/>
          <p:nvPr/>
        </p:nvSpPr>
        <p:spPr>
          <a:xfrm>
            <a:off x="868680" y="2670120"/>
            <a:ext cx="10423800" cy="12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b="1" lang="en-US" sz="3600" spc="299" strike="noStrike">
                <a:solidFill>
                  <a:srgbClr val="2a2a24"/>
                </a:solidFill>
                <a:latin typeface="Arial"/>
              </a:rPr>
              <a:t>СПАСИБО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b="1" lang="en-US" sz="3600" spc="299" strike="noStrike">
                <a:solidFill>
                  <a:srgbClr val="2a2a24"/>
                </a:solidFill>
                <a:latin typeface="Arial"/>
              </a:rPr>
              <a:t>ЗА ВНИМАНИЕ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Rectangle 6"/>
          <p:cNvSpPr/>
          <p:nvPr/>
        </p:nvSpPr>
        <p:spPr>
          <a:xfrm>
            <a:off x="5684400" y="4133160"/>
            <a:ext cx="82260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TextBox 7"/>
          <p:cNvSpPr/>
          <p:nvPr/>
        </p:nvSpPr>
        <p:spPr>
          <a:xfrm>
            <a:off x="2011680" y="5139000"/>
            <a:ext cx="813780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45000"/>
              </a:lnSpc>
            </a:pPr>
            <a:r>
              <a:rPr b="0" i="1" lang="en-US" sz="1450" spc="-1" strike="noStrike">
                <a:solidFill>
                  <a:srgbClr val="4a4942"/>
                </a:solidFill>
                <a:latin typeface="Arial"/>
              </a:rPr>
              <a:t>«Не делай другим того, чего не желаешь себе.»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5000"/>
              </a:lnSpc>
              <a:spcBef>
                <a:spcPts val="901"/>
              </a:spcBef>
            </a:pPr>
            <a:r>
              <a:rPr b="0" lang="en-US" sz="1000" spc="259" strike="noStrike">
                <a:solidFill>
                  <a:srgbClr val="8a8578"/>
                </a:solidFill>
                <a:latin typeface="Arial"/>
              </a:rPr>
              <a:t>КОНФУЦИЙ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>Философия Древнего Китая</dc:subject>
  <dc:title>Конфуцианство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