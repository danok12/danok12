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Здравствуйте. Тема доклада — статья 39 Градостроительного кодекса РФ: порядок предоставления разрешения на условно разрешённый вид использования земельного участка или объекта капитального строительства. Я выбрал эту статью, чтобы разобрать не только её содержание, но и то, как сформулирована норма с точки зрения коррупциогенности. План — три части: что это за статья, почему она выбрана и в чём сложности её применения, и практика — два судебных кейса.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Доклад построен вокруг трёх вопросов из задания: что это за статья, почему она выбрана и какие сложности возникают при её применении, и какие есть примеры из практики.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Статья 39 находится в главе 4 кодекса — «Градостроительное зонирование». Статья 37 делит виды разрешённого использования на основные, условно разрешённые и вспомогательные. Основной вид правообладатель выбирает сам, а условно разрешённый — только через процедуру статьи 39. Классический пример — магазин или кафе в зоне жилой застройки. Обратите внимание на сроки справа: обсуждение с жителями может длиться до месяца, а на само решение у главы администрации всего три дня.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 сути статья описывает процедуру. Заявление подаётся в комиссию по подготовке правил землепользования и застройки, проект решения обсуждается с жителями, комиссия готовит рекомендации, а окончательное решение принимает глава местной администрации. Отдельно отмечу: перечня оснований, по которым можно отказать, в статье нет. Это важно для второй части доклада.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Посмотрите на цепочку участников. Мнение жителей и рекомендации комиссии — это промежуточные этапы. Решение принимает один человек — глава местной администрации. Его решение можно обжаловать в суде, но до суда всё зависит от его усмотрения.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 выбрал эту статью по трём причинам. Во-первых, она постоянно применяется: через неё проходят магазины, кафе, гостиницы рядом с жильём. Во-вторых, она хорошо показывает конфликт между интересами правообладателя и соседей. И в-третьих — что особенно важно для нашей дисциплины — сама конструкция нормы содержит коррупциогенный фактор. Об этом подробнее на следующем слайде.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Вот главная сложность. Статья подробно описывает процедуру, но не говорит, по каким основаниям можно отказать. По официальной методике антикоррупционной экспертизы отсутствие или неопределённость оснований для принятия решения прямо названы коррупциогенным фактором — широтой дискреционных полномочий. На практике пробел заполняют сами муниципалитеты своими регламентами. В деле из Ивановской области основание для отказа — что участок уже используется под магазин — появилось в регламенте уже после того, как заявитель подал документы. Суды, вплоть до кассации, признали такой отказ незаконным.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Вторая сложность — общественные обсуждения. Они задуманы как защита жителей, но работают в обе стороны. Для заявителя: он платит за обсуждения, а положительный результат ничего не гарантирует; зато отрицательный легко превратить в основание для отказа. Для жителей: по позиции Конституционного Суда итоги слушаний рекомендательные, то есть их мнение главу не связывает. Получается, что всё решает мотивировка конкретного решения.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Третья группа сложностей — квалификация. Во-первых, нужно понять, какая процедура вообще применяется: разрешение по статье 39 или изменение правил землепользования. Во-вторых, неясно, чьё мнение учитывать на обсуждениях — только жителей зоны или всех желающих. Это как раз сюжет второго кейса. В-третьих, не каждый правообладатель вправе инициировать процедуру: Верховный Суд в обзоре 2018 года ограничил арендаторов земли, полученной на торгах.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Первый кейс — позиция Верховного Суда. В 2018 году Президиум ВС утвердил обзор практики по спорам о видах разрешённого использования земли. Один из ключевых выводов: решение о разрешении на условно разрешённый вид — и даже отказ — нельзя принять в обход процедуры, то есть без общественных обсуждений или публичных слушаний. При этом Конституционный Суд ещё в 2010 году, в определении № 931-О-О, указал, что слушания — не форма народовластия и их итоги носят рекомендательный характер. Вместе эти позиции дают картину: процедура обязательна, но её результат главу не связывает. Значит, решает мотивировка — и это хорошо видно во втором кейсе.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Второй кейс — конкретное дело из Новосибирска. Компания купила недострой, арендовала участок и попросила условно разрешённый вид использования. На обсуждениях участники высказались против, и мэрия отказала. Три инстанции согласились с мэрией. А Экономическая коллегия Верховного Суда обратила внимание на детали: трое из четырёх возражавших вообще жили в других районах города, а мэрия так и не показала, чьи права и как нарушит разрешение. Решения нижестоящих судов отменены. Это хорошо показывает, как формальная ссылка на итоги обсуждений может прикрывать произвольный отказ.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 Статья 39 подробно расписывает процедуру, но оставляет главное — основания для отказа — на усмотрение одного должностного лица. Это классический коррупциогенный фактор. Общественные обсуждения права вето не дают, поэтому реальная защита — в мотивировке и в суде, как показало дело «Формулы недвижимости». Моё предложение — закрепить в самой статье закрытый перечень оснований для отказа и обязать главу мотивировать решение, если оно расходится с рекомендациями комиссии. Спасибо за внимание.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3A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rgbClr val="5B6966"/>
                </a:solidFill>
                <a:latin typeface="Calibri" pitchFamily="34" charset="0"/>
                <a:ea typeface="Calibri" pitchFamily="34" charset="-122"/>
                <a:cs typeface="Calibri" pitchFamily="34" charset="-120"/>
              </a:rPr>
              <a:t>Ст. 39 ГрК РФ  ·  Правоведение и противодействие коррупции</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63A33"/>
        </a:solidFill>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indent="0" marL="0">
              <a:buNone/>
            </a:pPr>
            <a:r>
              <a:rPr lang="en-US" sz="1000" dirty="0">
                <a:solidFill>
                  <a:srgbClr val="8FB9A8"/>
                </a:solidFill>
                <a:latin typeface="Calibri" pitchFamily="34" charset="0"/>
                <a:ea typeface="Calibri" pitchFamily="34" charset="-122"/>
                <a:cs typeface="Calibri" pitchFamily="34" charset="-120"/>
              </a:rPr>
              <a:t>Ст. 39 ГрК РФ  ·  Правоведение и противодействие коррупции</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9A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001000" y="502920"/>
            <a:ext cx="1463040" cy="1234440"/>
          </a:xfrm>
          <a:prstGeom prst="roundRect">
            <a:avLst>
              <a:gd name="adj" fmla="val 7407"/>
            </a:avLst>
          </a:prstGeom>
          <a:solidFill>
            <a:srgbClr val="1F4D44"/>
          </a:solidFill>
          <a:ln w="12700">
            <a:solidFill>
              <a:srgbClr val="1F4D44"/>
            </a:solidFill>
            <a:prstDash val="solid"/>
          </a:ln>
        </p:spPr>
      </p:sp>
      <p:sp>
        <p:nvSpPr>
          <p:cNvPr id="3" name="Shape 1"/>
          <p:cNvSpPr/>
          <p:nvPr/>
        </p:nvSpPr>
        <p:spPr>
          <a:xfrm>
            <a:off x="9555480" y="502920"/>
            <a:ext cx="960120" cy="1234440"/>
          </a:xfrm>
          <a:prstGeom prst="roundRect">
            <a:avLst>
              <a:gd name="adj" fmla="val 9524"/>
            </a:avLst>
          </a:prstGeom>
          <a:solidFill>
            <a:srgbClr val="245A4F"/>
          </a:solidFill>
          <a:ln w="12700">
            <a:solidFill>
              <a:srgbClr val="245A4F"/>
            </a:solidFill>
            <a:prstDash val="solid"/>
          </a:ln>
        </p:spPr>
      </p:sp>
      <p:sp>
        <p:nvSpPr>
          <p:cNvPr id="4" name="Shape 2"/>
          <p:cNvSpPr/>
          <p:nvPr/>
        </p:nvSpPr>
        <p:spPr>
          <a:xfrm>
            <a:off x="10607040" y="502920"/>
            <a:ext cx="1051560" cy="1234440"/>
          </a:xfrm>
          <a:prstGeom prst="roundRect">
            <a:avLst>
              <a:gd name="adj" fmla="val 8696"/>
            </a:avLst>
          </a:prstGeom>
          <a:solidFill>
            <a:srgbClr val="2B6457"/>
          </a:solidFill>
          <a:ln w="12700">
            <a:solidFill>
              <a:srgbClr val="2B6457"/>
            </a:solidFill>
            <a:prstDash val="solid"/>
          </a:ln>
        </p:spPr>
      </p:sp>
      <p:sp>
        <p:nvSpPr>
          <p:cNvPr id="5" name="Shape 3"/>
          <p:cNvSpPr/>
          <p:nvPr/>
        </p:nvSpPr>
        <p:spPr>
          <a:xfrm>
            <a:off x="8001000" y="1874520"/>
            <a:ext cx="868680" cy="914400"/>
          </a:xfrm>
          <a:prstGeom prst="roundRect">
            <a:avLst>
              <a:gd name="adj" fmla="val 10526"/>
            </a:avLst>
          </a:prstGeom>
          <a:solidFill>
            <a:srgbClr val="1C4740"/>
          </a:solidFill>
          <a:ln w="12700">
            <a:solidFill>
              <a:srgbClr val="1C4740"/>
            </a:solidFill>
            <a:prstDash val="solid"/>
          </a:ln>
        </p:spPr>
      </p:sp>
      <p:sp>
        <p:nvSpPr>
          <p:cNvPr id="6" name="Shape 4"/>
          <p:cNvSpPr/>
          <p:nvPr/>
        </p:nvSpPr>
        <p:spPr>
          <a:xfrm>
            <a:off x="8961120" y="1874520"/>
            <a:ext cx="1325880" cy="914400"/>
          </a:xfrm>
          <a:prstGeom prst="roundRect">
            <a:avLst>
              <a:gd name="adj" fmla="val 10000"/>
            </a:avLst>
          </a:prstGeom>
          <a:ln w="15875">
            <a:solidFill>
              <a:srgbClr val="3F7A6B"/>
            </a:solidFill>
            <a:prstDash val="solid"/>
          </a:ln>
        </p:spPr>
      </p:sp>
      <p:sp>
        <p:nvSpPr>
          <p:cNvPr id="7" name="Shape 5"/>
          <p:cNvSpPr/>
          <p:nvPr/>
        </p:nvSpPr>
        <p:spPr>
          <a:xfrm>
            <a:off x="10378440" y="1874520"/>
            <a:ext cx="1280160" cy="914400"/>
          </a:xfrm>
          <a:prstGeom prst="roundRect">
            <a:avLst>
              <a:gd name="adj" fmla="val 10000"/>
            </a:avLst>
          </a:prstGeom>
          <a:solidFill>
            <a:srgbClr val="1F4D44"/>
          </a:solidFill>
          <a:ln w="12700">
            <a:solidFill>
              <a:srgbClr val="1F4D44"/>
            </a:solidFill>
            <a:prstDash val="solid"/>
          </a:ln>
        </p:spPr>
      </p:sp>
      <p:sp>
        <p:nvSpPr>
          <p:cNvPr id="8" name="Shape 6"/>
          <p:cNvSpPr/>
          <p:nvPr/>
        </p:nvSpPr>
        <p:spPr>
          <a:xfrm>
            <a:off x="8001000" y="2926080"/>
            <a:ext cx="1188720" cy="1463040"/>
          </a:xfrm>
          <a:prstGeom prst="roundRect">
            <a:avLst>
              <a:gd name="adj" fmla="val 7692"/>
            </a:avLst>
          </a:prstGeom>
          <a:solidFill>
            <a:srgbClr val="245A4F"/>
          </a:solidFill>
          <a:ln w="12700">
            <a:solidFill>
              <a:srgbClr val="245A4F"/>
            </a:solidFill>
            <a:prstDash val="solid"/>
          </a:ln>
        </p:spPr>
      </p:sp>
      <p:sp>
        <p:nvSpPr>
          <p:cNvPr id="9" name="Shape 7"/>
          <p:cNvSpPr/>
          <p:nvPr/>
        </p:nvSpPr>
        <p:spPr>
          <a:xfrm>
            <a:off x="9281160" y="2926080"/>
            <a:ext cx="1143000" cy="1463040"/>
          </a:xfrm>
          <a:prstGeom prst="roundRect">
            <a:avLst>
              <a:gd name="adj" fmla="val 8000"/>
            </a:avLst>
          </a:prstGeom>
          <a:solidFill>
            <a:srgbClr val="D9692E"/>
          </a:solidFill>
          <a:ln w="12700">
            <a:solidFill>
              <a:srgbClr val="D9692E"/>
            </a:solidFill>
            <a:prstDash val="solid"/>
          </a:ln>
        </p:spPr>
      </p:sp>
      <p:pic>
        <p:nvPicPr>
          <p:cNvPr id="10" name="Image 0" descr="preencoded.png">    </p:cNvPr>
          <p:cNvPicPr>
            <a:picLocks noChangeAspect="1"/>
          </p:cNvPicPr>
          <p:nvPr/>
        </p:nvPicPr>
        <p:blipFill>
          <a:blip r:embed="rId1"/>
          <a:stretch>
            <a:fillRect/>
          </a:stretch>
        </p:blipFill>
        <p:spPr>
          <a:xfrm>
            <a:off x="9569196" y="3374136"/>
            <a:ext cx="566928" cy="566928"/>
          </a:xfrm>
          <a:prstGeom prst="rect">
            <a:avLst/>
          </a:prstGeom>
        </p:spPr>
      </p:pic>
      <p:sp>
        <p:nvSpPr>
          <p:cNvPr id="11" name="Shape 8"/>
          <p:cNvSpPr/>
          <p:nvPr/>
        </p:nvSpPr>
        <p:spPr>
          <a:xfrm>
            <a:off x="10515600" y="2926080"/>
            <a:ext cx="1143000" cy="1463040"/>
          </a:xfrm>
          <a:prstGeom prst="roundRect">
            <a:avLst>
              <a:gd name="adj" fmla="val 8000"/>
            </a:avLst>
          </a:prstGeom>
          <a:solidFill>
            <a:srgbClr val="2B6457"/>
          </a:solidFill>
          <a:ln w="12700">
            <a:solidFill>
              <a:srgbClr val="2B6457"/>
            </a:solidFill>
            <a:prstDash val="solid"/>
          </a:ln>
        </p:spPr>
      </p:sp>
      <p:sp>
        <p:nvSpPr>
          <p:cNvPr id="12" name="Shape 9"/>
          <p:cNvSpPr/>
          <p:nvPr/>
        </p:nvSpPr>
        <p:spPr>
          <a:xfrm>
            <a:off x="8001000" y="4526280"/>
            <a:ext cx="1828800" cy="822960"/>
          </a:xfrm>
          <a:prstGeom prst="roundRect">
            <a:avLst>
              <a:gd name="adj" fmla="val 11111"/>
            </a:avLst>
          </a:prstGeom>
          <a:solidFill>
            <a:srgbClr val="1C4740"/>
          </a:solidFill>
          <a:ln w="12700">
            <a:solidFill>
              <a:srgbClr val="1C4740"/>
            </a:solidFill>
            <a:prstDash val="solid"/>
          </a:ln>
        </p:spPr>
      </p:sp>
      <p:sp>
        <p:nvSpPr>
          <p:cNvPr id="13" name="Shape 10"/>
          <p:cNvSpPr/>
          <p:nvPr/>
        </p:nvSpPr>
        <p:spPr>
          <a:xfrm>
            <a:off x="9921240" y="4526280"/>
            <a:ext cx="1737360" cy="822960"/>
          </a:xfrm>
          <a:prstGeom prst="roundRect">
            <a:avLst>
              <a:gd name="adj" fmla="val 11111"/>
            </a:avLst>
          </a:prstGeom>
          <a:ln w="15875">
            <a:solidFill>
              <a:srgbClr val="3F7A6B"/>
            </a:solidFill>
            <a:prstDash val="solid"/>
          </a:ln>
        </p:spPr>
      </p:sp>
      <p:sp>
        <p:nvSpPr>
          <p:cNvPr id="14" name="Shape 11"/>
          <p:cNvSpPr/>
          <p:nvPr/>
        </p:nvSpPr>
        <p:spPr>
          <a:xfrm>
            <a:off x="8001000" y="5486400"/>
            <a:ext cx="1051560" cy="822960"/>
          </a:xfrm>
          <a:prstGeom prst="roundRect">
            <a:avLst>
              <a:gd name="adj" fmla="val 11111"/>
            </a:avLst>
          </a:prstGeom>
          <a:solidFill>
            <a:srgbClr val="1F4D44"/>
          </a:solidFill>
          <a:ln w="12700">
            <a:solidFill>
              <a:srgbClr val="1F4D44"/>
            </a:solidFill>
            <a:prstDash val="solid"/>
          </a:ln>
        </p:spPr>
      </p:sp>
      <p:sp>
        <p:nvSpPr>
          <p:cNvPr id="15" name="Shape 12"/>
          <p:cNvSpPr/>
          <p:nvPr/>
        </p:nvSpPr>
        <p:spPr>
          <a:xfrm>
            <a:off x="9144000" y="5486400"/>
            <a:ext cx="1188720" cy="822960"/>
          </a:xfrm>
          <a:prstGeom prst="roundRect">
            <a:avLst>
              <a:gd name="adj" fmla="val 11111"/>
            </a:avLst>
          </a:prstGeom>
          <a:solidFill>
            <a:srgbClr val="245A4F"/>
          </a:solidFill>
          <a:ln w="12700">
            <a:solidFill>
              <a:srgbClr val="245A4F"/>
            </a:solidFill>
            <a:prstDash val="solid"/>
          </a:ln>
        </p:spPr>
      </p:sp>
      <p:sp>
        <p:nvSpPr>
          <p:cNvPr id="16" name="Shape 13"/>
          <p:cNvSpPr/>
          <p:nvPr/>
        </p:nvSpPr>
        <p:spPr>
          <a:xfrm>
            <a:off x="10424160" y="5486400"/>
            <a:ext cx="1234440" cy="822960"/>
          </a:xfrm>
          <a:prstGeom prst="roundRect">
            <a:avLst>
              <a:gd name="adj" fmla="val 11111"/>
            </a:avLst>
          </a:prstGeom>
          <a:solidFill>
            <a:srgbClr val="2B6457"/>
          </a:solidFill>
          <a:ln w="12700">
            <a:solidFill>
              <a:srgbClr val="2B6457"/>
            </a:solidFill>
            <a:prstDash val="solid"/>
          </a:ln>
        </p:spPr>
      </p:sp>
      <p:sp>
        <p:nvSpPr>
          <p:cNvPr id="17" name="Text 14"/>
          <p:cNvSpPr txBox="1"/>
          <p:nvPr/>
        </p:nvSpPr>
        <p:spPr>
          <a:xfrm>
            <a:off x="685800" y="914400"/>
            <a:ext cx="6949440" cy="320040"/>
          </a:xfrm>
          <a:prstGeom prst="rect">
            <a:avLst/>
          </a:prstGeom>
          <a:noFill/>
          <a:ln/>
        </p:spPr>
        <p:txBody>
          <a:bodyPr wrap="square" lIns="0" tIns="0" rIns="0" bIns="0" rtlCol="0" anchor="t"/>
          <a:lstStyle/>
          <a:p>
            <a:pPr indent="0" marL="0">
              <a:buNone/>
            </a:pPr>
            <a:r>
              <a:rPr lang="en-US" sz="1300" b="1" spc="300" kern="0" dirty="0">
                <a:solidFill>
                  <a:srgbClr val="8FB9A8"/>
                </a:solidFill>
                <a:latin typeface="Calibri" pitchFamily="34" charset="0"/>
                <a:ea typeface="Calibri" pitchFamily="34" charset="-122"/>
                <a:cs typeface="Calibri" pitchFamily="34" charset="-120"/>
              </a:rPr>
              <a:t>ПРАВОВЕДЕНИЕ И ПРОТИВОДЕЙСТВИЕ КОРРУПЦИИ</a:t>
            </a:r>
            <a:endParaRPr lang="en-US" sz="1300" dirty="0"/>
          </a:p>
        </p:txBody>
      </p:sp>
      <p:sp>
        <p:nvSpPr>
          <p:cNvPr id="18" name="Text 15"/>
          <p:cNvSpPr txBox="1"/>
          <p:nvPr/>
        </p:nvSpPr>
        <p:spPr>
          <a:xfrm>
            <a:off x="685800" y="1325880"/>
            <a:ext cx="694944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Статья 39 ГрК РФ</a:t>
            </a:r>
            <a:endParaRPr lang="en-US" sz="5400" dirty="0"/>
          </a:p>
        </p:txBody>
      </p:sp>
      <p:sp>
        <p:nvSpPr>
          <p:cNvPr id="19" name="Text 16"/>
          <p:cNvSpPr txBox="1"/>
          <p:nvPr/>
        </p:nvSpPr>
        <p:spPr>
          <a:xfrm>
            <a:off x="685800" y="2514600"/>
            <a:ext cx="6766560" cy="1143000"/>
          </a:xfrm>
          <a:prstGeom prst="rect">
            <a:avLst/>
          </a:prstGeom>
          <a:noFill/>
          <a:ln/>
        </p:spPr>
        <p:txBody>
          <a:bodyPr wrap="square" lIns="0" tIns="0" rIns="0" bIns="0" rtlCol="0" anchor="t"/>
          <a:lstStyle/>
          <a:p>
            <a:pPr indent="0" marL="0">
              <a:buNone/>
            </a:pPr>
            <a:r>
              <a:rPr lang="en-US" sz="2100" dirty="0">
                <a:solidFill>
                  <a:srgbClr val="D3E3DB"/>
                </a:solidFill>
                <a:latin typeface="Calibri" pitchFamily="34" charset="0"/>
                <a:ea typeface="Calibri" pitchFamily="34" charset="-122"/>
                <a:cs typeface="Calibri" pitchFamily="34" charset="-120"/>
              </a:rPr>
              <a:t>Разрешение на условно разрешённый вид использования: правоприменительная практика и коррупциогенные риски нормы</a:t>
            </a:r>
            <a:endParaRPr lang="en-US" sz="2100" dirty="0"/>
          </a:p>
        </p:txBody>
      </p:sp>
      <p:sp>
        <p:nvSpPr>
          <p:cNvPr id="20" name="Shape 17"/>
          <p:cNvSpPr/>
          <p:nvPr/>
        </p:nvSpPr>
        <p:spPr>
          <a:xfrm>
            <a:off x="685800" y="3977640"/>
            <a:ext cx="566928" cy="566928"/>
          </a:xfrm>
          <a:prstGeom prst="roundRect">
            <a:avLst>
              <a:gd name="adj" fmla="val 18000"/>
            </a:avLst>
          </a:prstGeom>
          <a:solidFill>
            <a:srgbClr val="D9692E"/>
          </a:solidFill>
          <a:ln w="12700">
            <a:solidFill>
              <a:srgbClr val="D9692E"/>
            </a:solidFill>
            <a:prstDash val="solid"/>
          </a:ln>
        </p:spPr>
      </p:sp>
      <p:pic>
        <p:nvPicPr>
          <p:cNvPr id="21" name="Image 1" descr="preencoded.png">    </p:cNvPr>
          <p:cNvPicPr>
            <a:picLocks noChangeAspect="1"/>
          </p:cNvPicPr>
          <p:nvPr/>
        </p:nvPicPr>
        <p:blipFill>
          <a:blip r:embed="rId2"/>
          <a:stretch>
            <a:fillRect/>
          </a:stretch>
        </p:blipFill>
        <p:spPr>
          <a:xfrm>
            <a:off x="821863" y="4113703"/>
            <a:ext cx="294803" cy="294803"/>
          </a:xfrm>
          <a:prstGeom prst="rect">
            <a:avLst/>
          </a:prstGeom>
        </p:spPr>
      </p:pic>
      <p:sp>
        <p:nvSpPr>
          <p:cNvPr id="22" name="Text 18"/>
          <p:cNvSpPr txBox="1"/>
          <p:nvPr/>
        </p:nvSpPr>
        <p:spPr>
          <a:xfrm>
            <a:off x="1417320" y="3931920"/>
            <a:ext cx="6035040" cy="685800"/>
          </a:xfrm>
          <a:prstGeom prst="rect">
            <a:avLst/>
          </a:prstGeom>
          <a:noFill/>
          <a:ln/>
        </p:spPr>
        <p:txBody>
          <a:bodyPr wrap="square" lIns="0" tIns="0" rIns="0" bIns="0" rtlCol="0" anchor="ctr"/>
          <a:lstStyle/>
          <a:p>
            <a:pPr indent="0" marL="0">
              <a:buNone/>
            </a:pPr>
            <a:r>
              <a:rPr lang="en-US" sz="1400" dirty="0">
                <a:solidFill>
                  <a:srgbClr val="D3E3DB"/>
                </a:solidFill>
                <a:latin typeface="Calibri" pitchFamily="34" charset="0"/>
                <a:ea typeface="Calibri" pitchFamily="34" charset="-122"/>
                <a:cs typeface="Calibri" pitchFamily="34" charset="-120"/>
              </a:rPr>
              <a:t>Разбор одной статьи Градостроительного кодекса РФ · что за норма, почему выбрана, сложности применения и практика</a:t>
            </a:r>
            <a:endParaRPr lang="en-US" sz="1400" dirty="0"/>
          </a:p>
        </p:txBody>
      </p:sp>
      <p:sp>
        <p:nvSpPr>
          <p:cNvPr id="23" name="Text 19"/>
          <p:cNvSpPr txBox="1"/>
          <p:nvPr/>
        </p:nvSpPr>
        <p:spPr>
          <a:xfrm>
            <a:off x="685800" y="5623560"/>
            <a:ext cx="6949440" cy="320040"/>
          </a:xfrm>
          <a:prstGeom prst="rect">
            <a:avLst/>
          </a:prstGeom>
          <a:noFill/>
          <a:ln/>
        </p:spPr>
        <p:txBody>
          <a:bodyPr wrap="square" lIns="0" tIns="0" rIns="0" bIns="0" rtlCol="0" anchor="t"/>
          <a:lstStyle/>
          <a:p>
            <a:pPr indent="0" marL="0">
              <a:buNone/>
            </a:pPr>
            <a:r>
              <a:rPr lang="en-US" sz="1300" b="1" spc="200" kern="0" dirty="0">
                <a:solidFill>
                  <a:srgbClr val="8FB9A8"/>
                </a:solidFill>
                <a:latin typeface="Calibri" pitchFamily="34" charset="0"/>
                <a:ea typeface="Calibri" pitchFamily="34" charset="-122"/>
                <a:cs typeface="Calibri" pitchFamily="34" charset="-120"/>
              </a:rPr>
              <a:t>ПОДГОТОВИЛ СТУДЕНТ ИГЭС 3-8 БУЕВ ДАНИИЛ</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ПЛАН ДОКЛАДА</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Три вопроса, на которые отвечает доклад</a:t>
            </a:r>
            <a:endParaRPr lang="en-US" sz="3000" dirty="0"/>
          </a:p>
        </p:txBody>
      </p:sp>
      <p:sp>
        <p:nvSpPr>
          <p:cNvPr id="5" name="Shape 3"/>
          <p:cNvSpPr/>
          <p:nvPr/>
        </p:nvSpPr>
        <p:spPr>
          <a:xfrm>
            <a:off x="548640" y="1691640"/>
            <a:ext cx="11094415" cy="1280160"/>
          </a:xfrm>
          <a:prstGeom prst="roundRect">
            <a:avLst>
              <a:gd name="adj" fmla="val 8571"/>
            </a:avLst>
          </a:prstGeom>
          <a:solidFill>
            <a:srgbClr val="EEF3F0"/>
          </a:solidFill>
          <a:ln w="12700">
            <a:solidFill>
              <a:srgbClr val="EEF3F0"/>
            </a:solidFill>
            <a:prstDash val="solid"/>
          </a:ln>
        </p:spPr>
      </p:sp>
      <p:sp>
        <p:nvSpPr>
          <p:cNvPr id="6" name="Shape 4"/>
          <p:cNvSpPr/>
          <p:nvPr/>
        </p:nvSpPr>
        <p:spPr>
          <a:xfrm>
            <a:off x="822960" y="1920240"/>
            <a:ext cx="822960" cy="822960"/>
          </a:xfrm>
          <a:prstGeom prst="roundRect">
            <a:avLst>
              <a:gd name="adj" fmla="val 18000"/>
            </a:avLst>
          </a:prstGeom>
          <a:solidFill>
            <a:srgbClr val="163A33"/>
          </a:solidFill>
          <a:ln w="12700">
            <a:solidFill>
              <a:srgbClr val="163A33"/>
            </a:solidFill>
            <a:prstDash val="solid"/>
          </a:ln>
        </p:spPr>
      </p:sp>
      <p:sp>
        <p:nvSpPr>
          <p:cNvPr id="7" name="Text 5"/>
          <p:cNvSpPr txBox="1"/>
          <p:nvPr/>
        </p:nvSpPr>
        <p:spPr>
          <a:xfrm>
            <a:off x="822960" y="192024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8" name="Text 6"/>
          <p:cNvSpPr txBox="1"/>
          <p:nvPr/>
        </p:nvSpPr>
        <p:spPr>
          <a:xfrm>
            <a:off x="1920240" y="1892808"/>
            <a:ext cx="8595360" cy="457200"/>
          </a:xfrm>
          <a:prstGeom prst="rect">
            <a:avLst/>
          </a:prstGeom>
          <a:noFill/>
          <a:ln/>
        </p:spPr>
        <p:txBody>
          <a:bodyPr wrap="square" lIns="0" tIns="0" rIns="0" bIns="0" rtlCol="0" anchor="ctr"/>
          <a:lstStyle/>
          <a:p>
            <a:pPr indent="0" marL="0">
              <a:buNone/>
            </a:pPr>
            <a:r>
              <a:rPr lang="en-US" sz="2100" b="1" dirty="0">
                <a:solidFill>
                  <a:srgbClr val="163A33"/>
                </a:solidFill>
                <a:latin typeface="Calibri" pitchFamily="34" charset="0"/>
                <a:ea typeface="Calibri" pitchFamily="34" charset="-122"/>
                <a:cs typeface="Calibri" pitchFamily="34" charset="-120"/>
              </a:rPr>
              <a:t>Что это за статья</a:t>
            </a:r>
            <a:endParaRPr lang="en-US" sz="2100" dirty="0"/>
          </a:p>
        </p:txBody>
      </p:sp>
      <p:sp>
        <p:nvSpPr>
          <p:cNvPr id="9" name="Text 7"/>
          <p:cNvSpPr txBox="1"/>
          <p:nvPr/>
        </p:nvSpPr>
        <p:spPr>
          <a:xfrm>
            <a:off x="1920240" y="2350008"/>
            <a:ext cx="8595360" cy="457200"/>
          </a:xfrm>
          <a:prstGeom prst="rect">
            <a:avLst/>
          </a:prstGeom>
          <a:noFill/>
          <a:ln/>
        </p:spPr>
        <p:txBody>
          <a:bodyPr wrap="square" lIns="0" tIns="0" rIns="0" bIns="0" rtlCol="0" anchor="ctr"/>
          <a:lstStyle/>
          <a:p>
            <a:pPr indent="0" marL="0">
              <a:buNone/>
            </a:pPr>
            <a:r>
              <a:rPr lang="en-US" sz="1500" dirty="0">
                <a:solidFill>
                  <a:srgbClr val="5B6966"/>
                </a:solidFill>
                <a:latin typeface="Calibri" pitchFamily="34" charset="0"/>
                <a:ea typeface="Calibri" pitchFamily="34" charset="-122"/>
                <a:cs typeface="Calibri" pitchFamily="34" charset="-120"/>
              </a:rPr>
              <a:t>Место в ГрК РФ, процедура по частям статьи, кто участвует и кто принимает решение</a:t>
            </a:r>
            <a:endParaRPr lang="en-US" sz="1500" dirty="0"/>
          </a:p>
        </p:txBody>
      </p:sp>
      <p:pic>
        <p:nvPicPr>
          <p:cNvPr id="10" name="Image 0" descr="preencoded.png">    </p:cNvPr>
          <p:cNvPicPr>
            <a:picLocks noChangeAspect="1"/>
          </p:cNvPicPr>
          <p:nvPr/>
        </p:nvPicPr>
        <p:blipFill>
          <a:blip r:embed="rId1"/>
          <a:stretch>
            <a:fillRect/>
          </a:stretch>
        </p:blipFill>
        <p:spPr>
          <a:xfrm>
            <a:off x="10682935" y="2057400"/>
            <a:ext cx="548640" cy="548640"/>
          </a:xfrm>
          <a:prstGeom prst="rect">
            <a:avLst/>
          </a:prstGeom>
        </p:spPr>
      </p:pic>
      <p:sp>
        <p:nvSpPr>
          <p:cNvPr id="11" name="Shape 8"/>
          <p:cNvSpPr/>
          <p:nvPr/>
        </p:nvSpPr>
        <p:spPr>
          <a:xfrm>
            <a:off x="548640" y="3227832"/>
            <a:ext cx="11094415" cy="1280160"/>
          </a:xfrm>
          <a:prstGeom prst="roundRect">
            <a:avLst>
              <a:gd name="adj" fmla="val 8571"/>
            </a:avLst>
          </a:prstGeom>
          <a:solidFill>
            <a:srgbClr val="EEF3F0"/>
          </a:solidFill>
          <a:ln w="12700">
            <a:solidFill>
              <a:srgbClr val="EEF3F0"/>
            </a:solidFill>
            <a:prstDash val="solid"/>
          </a:ln>
        </p:spPr>
      </p:sp>
      <p:sp>
        <p:nvSpPr>
          <p:cNvPr id="12" name="Shape 9"/>
          <p:cNvSpPr/>
          <p:nvPr/>
        </p:nvSpPr>
        <p:spPr>
          <a:xfrm>
            <a:off x="822960" y="3456432"/>
            <a:ext cx="822960" cy="822960"/>
          </a:xfrm>
          <a:prstGeom prst="roundRect">
            <a:avLst>
              <a:gd name="adj" fmla="val 18000"/>
            </a:avLst>
          </a:prstGeom>
          <a:solidFill>
            <a:srgbClr val="163A33"/>
          </a:solidFill>
          <a:ln w="12700">
            <a:solidFill>
              <a:srgbClr val="163A33"/>
            </a:solidFill>
            <a:prstDash val="solid"/>
          </a:ln>
        </p:spPr>
      </p:sp>
      <p:sp>
        <p:nvSpPr>
          <p:cNvPr id="13" name="Text 10"/>
          <p:cNvSpPr txBox="1"/>
          <p:nvPr/>
        </p:nvSpPr>
        <p:spPr>
          <a:xfrm>
            <a:off x="822960" y="3456432"/>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4" name="Text 11"/>
          <p:cNvSpPr txBox="1"/>
          <p:nvPr/>
        </p:nvSpPr>
        <p:spPr>
          <a:xfrm>
            <a:off x="1920240" y="3429000"/>
            <a:ext cx="8595360" cy="457200"/>
          </a:xfrm>
          <a:prstGeom prst="rect">
            <a:avLst/>
          </a:prstGeom>
          <a:noFill/>
          <a:ln/>
        </p:spPr>
        <p:txBody>
          <a:bodyPr wrap="square" lIns="0" tIns="0" rIns="0" bIns="0" rtlCol="0" anchor="ctr"/>
          <a:lstStyle/>
          <a:p>
            <a:pPr indent="0" marL="0">
              <a:buNone/>
            </a:pPr>
            <a:r>
              <a:rPr lang="en-US" sz="2100" b="1" dirty="0">
                <a:solidFill>
                  <a:srgbClr val="163A33"/>
                </a:solidFill>
                <a:latin typeface="Calibri" pitchFamily="34" charset="0"/>
                <a:ea typeface="Calibri" pitchFamily="34" charset="-122"/>
                <a:cs typeface="Calibri" pitchFamily="34" charset="-120"/>
              </a:rPr>
              <a:t>Почему выбрана статья и в чём сложности применения</a:t>
            </a:r>
            <a:endParaRPr lang="en-US" sz="2100" dirty="0"/>
          </a:p>
        </p:txBody>
      </p:sp>
      <p:sp>
        <p:nvSpPr>
          <p:cNvPr id="15" name="Text 12"/>
          <p:cNvSpPr txBox="1"/>
          <p:nvPr/>
        </p:nvSpPr>
        <p:spPr>
          <a:xfrm>
            <a:off x="1920240" y="3886200"/>
            <a:ext cx="8595360" cy="457200"/>
          </a:xfrm>
          <a:prstGeom prst="rect">
            <a:avLst/>
          </a:prstGeom>
          <a:noFill/>
          <a:ln/>
        </p:spPr>
        <p:txBody>
          <a:bodyPr wrap="square" lIns="0" tIns="0" rIns="0" bIns="0" rtlCol="0" anchor="ctr"/>
          <a:lstStyle/>
          <a:p>
            <a:pPr indent="0" marL="0">
              <a:buNone/>
            </a:pPr>
            <a:r>
              <a:rPr lang="en-US" sz="1500" dirty="0">
                <a:solidFill>
                  <a:srgbClr val="5B6966"/>
                </a:solidFill>
                <a:latin typeface="Calibri" pitchFamily="34" charset="0"/>
                <a:ea typeface="Calibri" pitchFamily="34" charset="-122"/>
                <a:cs typeface="Calibri" pitchFamily="34" charset="-120"/>
              </a:rPr>
              <a:t>Усмотрение главы администрации, роль общественных обсуждений, проблемы квалификации</a:t>
            </a:r>
            <a:endParaRPr lang="en-US" sz="1500" dirty="0"/>
          </a:p>
        </p:txBody>
      </p:sp>
      <p:pic>
        <p:nvPicPr>
          <p:cNvPr id="16" name="Image 1" descr="preencoded.png">    </p:cNvPr>
          <p:cNvPicPr>
            <a:picLocks noChangeAspect="1"/>
          </p:cNvPicPr>
          <p:nvPr/>
        </p:nvPicPr>
        <p:blipFill>
          <a:blip r:embed="rId2"/>
          <a:stretch>
            <a:fillRect/>
          </a:stretch>
        </p:blipFill>
        <p:spPr>
          <a:xfrm>
            <a:off x="10682935" y="3593592"/>
            <a:ext cx="548640" cy="548640"/>
          </a:xfrm>
          <a:prstGeom prst="rect">
            <a:avLst/>
          </a:prstGeom>
        </p:spPr>
      </p:pic>
      <p:sp>
        <p:nvSpPr>
          <p:cNvPr id="17" name="Shape 13"/>
          <p:cNvSpPr/>
          <p:nvPr/>
        </p:nvSpPr>
        <p:spPr>
          <a:xfrm>
            <a:off x="548640" y="4764024"/>
            <a:ext cx="11094415" cy="1280160"/>
          </a:xfrm>
          <a:prstGeom prst="roundRect">
            <a:avLst>
              <a:gd name="adj" fmla="val 8571"/>
            </a:avLst>
          </a:prstGeom>
          <a:solidFill>
            <a:srgbClr val="EEF3F0"/>
          </a:solidFill>
          <a:ln w="12700">
            <a:solidFill>
              <a:srgbClr val="EEF3F0"/>
            </a:solidFill>
            <a:prstDash val="solid"/>
          </a:ln>
        </p:spPr>
      </p:sp>
      <p:sp>
        <p:nvSpPr>
          <p:cNvPr id="18" name="Shape 14"/>
          <p:cNvSpPr/>
          <p:nvPr/>
        </p:nvSpPr>
        <p:spPr>
          <a:xfrm>
            <a:off x="822960" y="4992624"/>
            <a:ext cx="822960" cy="822960"/>
          </a:xfrm>
          <a:prstGeom prst="roundRect">
            <a:avLst>
              <a:gd name="adj" fmla="val 18000"/>
            </a:avLst>
          </a:prstGeom>
          <a:solidFill>
            <a:srgbClr val="D9692E"/>
          </a:solidFill>
          <a:ln w="12700">
            <a:solidFill>
              <a:srgbClr val="D9692E"/>
            </a:solidFill>
            <a:prstDash val="solid"/>
          </a:ln>
        </p:spPr>
      </p:sp>
      <p:sp>
        <p:nvSpPr>
          <p:cNvPr id="19" name="Text 15"/>
          <p:cNvSpPr txBox="1"/>
          <p:nvPr/>
        </p:nvSpPr>
        <p:spPr>
          <a:xfrm>
            <a:off x="822960" y="4992624"/>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0" name="Text 16"/>
          <p:cNvSpPr txBox="1"/>
          <p:nvPr/>
        </p:nvSpPr>
        <p:spPr>
          <a:xfrm>
            <a:off x="1920240" y="4965192"/>
            <a:ext cx="8595360" cy="457200"/>
          </a:xfrm>
          <a:prstGeom prst="rect">
            <a:avLst/>
          </a:prstGeom>
          <a:noFill/>
          <a:ln/>
        </p:spPr>
        <p:txBody>
          <a:bodyPr wrap="square" lIns="0" tIns="0" rIns="0" bIns="0" rtlCol="0" anchor="ctr"/>
          <a:lstStyle/>
          <a:p>
            <a:pPr indent="0" marL="0">
              <a:buNone/>
            </a:pPr>
            <a:r>
              <a:rPr lang="en-US" sz="2100" b="1" dirty="0">
                <a:solidFill>
                  <a:srgbClr val="163A33"/>
                </a:solidFill>
                <a:latin typeface="Calibri" pitchFamily="34" charset="0"/>
                <a:ea typeface="Calibri" pitchFamily="34" charset="-122"/>
                <a:cs typeface="Calibri" pitchFamily="34" charset="-120"/>
              </a:rPr>
              <a:t>Кейсы из практики</a:t>
            </a:r>
            <a:endParaRPr lang="en-US" sz="2100" dirty="0"/>
          </a:p>
        </p:txBody>
      </p:sp>
      <p:sp>
        <p:nvSpPr>
          <p:cNvPr id="21" name="Text 17"/>
          <p:cNvSpPr txBox="1"/>
          <p:nvPr/>
        </p:nvSpPr>
        <p:spPr>
          <a:xfrm>
            <a:off x="1920240" y="5422392"/>
            <a:ext cx="8595360" cy="457200"/>
          </a:xfrm>
          <a:prstGeom prst="rect">
            <a:avLst/>
          </a:prstGeom>
          <a:noFill/>
          <a:ln/>
        </p:spPr>
        <p:txBody>
          <a:bodyPr wrap="square" lIns="0" tIns="0" rIns="0" bIns="0" rtlCol="0" anchor="ctr"/>
          <a:lstStyle/>
          <a:p>
            <a:pPr indent="0" marL="0">
              <a:buNone/>
            </a:pPr>
            <a:r>
              <a:rPr lang="en-US" sz="1500" dirty="0">
                <a:solidFill>
                  <a:srgbClr val="5B6966"/>
                </a:solidFill>
                <a:latin typeface="Calibri" pitchFamily="34" charset="0"/>
                <a:ea typeface="Calibri" pitchFamily="34" charset="-122"/>
                <a:cs typeface="Calibri" pitchFamily="34" charset="-120"/>
              </a:rPr>
              <a:t>Обзор практики Верховного Суда РФ и спор, дошедший до его Экономколлегии</a:t>
            </a:r>
            <a:endParaRPr lang="en-US" sz="1500" dirty="0"/>
          </a:p>
        </p:txBody>
      </p:sp>
      <p:pic>
        <p:nvPicPr>
          <p:cNvPr id="22" name="Image 2" descr="preencoded.png">    </p:cNvPr>
          <p:cNvPicPr>
            <a:picLocks noChangeAspect="1"/>
          </p:cNvPicPr>
          <p:nvPr/>
        </p:nvPicPr>
        <p:blipFill>
          <a:blip r:embed="rId3"/>
          <a:stretch>
            <a:fillRect/>
          </a:stretch>
        </p:blipFill>
        <p:spPr>
          <a:xfrm>
            <a:off x="10682935" y="5129784"/>
            <a:ext cx="548640" cy="548640"/>
          </a:xfrm>
          <a:prstGeom prst="rect">
            <a:avLst/>
          </a:prstGeom>
        </p:spPr>
      </p:pic>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1 · ЧТО ЭТО ЗА СТАТЬЯ</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Место статьи в системе ГрК РФ</a:t>
            </a:r>
            <a:endParaRPr lang="en-US" sz="3000" dirty="0"/>
          </a:p>
        </p:txBody>
      </p:sp>
      <p:sp>
        <p:nvSpPr>
          <p:cNvPr id="5" name="Shape 3"/>
          <p:cNvSpPr/>
          <p:nvPr/>
        </p:nvSpPr>
        <p:spPr>
          <a:xfrm>
            <a:off x="548640" y="1645920"/>
            <a:ext cx="6309360" cy="621792"/>
          </a:xfrm>
          <a:prstGeom prst="roundRect">
            <a:avLst>
              <a:gd name="adj" fmla="val 17647"/>
            </a:avLst>
          </a:prstGeom>
          <a:solidFill>
            <a:srgbClr val="EEF3F0"/>
          </a:solidFill>
          <a:ln w="12700">
            <a:solidFill>
              <a:srgbClr val="EEF3F0"/>
            </a:solidFill>
            <a:prstDash val="solid"/>
          </a:ln>
        </p:spPr>
      </p:sp>
      <p:sp>
        <p:nvSpPr>
          <p:cNvPr id="6" name="Text 4"/>
          <p:cNvSpPr txBox="1"/>
          <p:nvPr/>
        </p:nvSpPr>
        <p:spPr>
          <a:xfrm>
            <a:off x="777240" y="1645920"/>
            <a:ext cx="5943600" cy="621792"/>
          </a:xfrm>
          <a:prstGeom prst="rect">
            <a:avLst/>
          </a:prstGeom>
          <a:noFill/>
          <a:ln/>
        </p:spPr>
        <p:txBody>
          <a:bodyPr wrap="square" lIns="0" tIns="0" rIns="0" bIns="0" rtlCol="0" anchor="ctr"/>
          <a:lstStyle/>
          <a:p>
            <a:pPr indent="0" marL="0">
              <a:buNone/>
            </a:pPr>
            <a:r>
              <a:rPr lang="en-US" sz="1500" dirty="0">
                <a:solidFill>
                  <a:srgbClr val="163A33"/>
                </a:solidFill>
                <a:latin typeface="Calibri" pitchFamily="34" charset="0"/>
                <a:ea typeface="Calibri" pitchFamily="34" charset="-122"/>
                <a:cs typeface="Calibri" pitchFamily="34" charset="-120"/>
              </a:rPr>
              <a:t>Градостроительный кодекс РФ от 29.12.2004 № 190-ФЗ</a:t>
            </a:r>
            <a:endParaRPr lang="en-US" sz="1500" dirty="0"/>
          </a:p>
        </p:txBody>
      </p:sp>
      <p:sp>
        <p:nvSpPr>
          <p:cNvPr id="7" name="Shape 5"/>
          <p:cNvSpPr/>
          <p:nvPr/>
        </p:nvSpPr>
        <p:spPr>
          <a:xfrm>
            <a:off x="731520" y="2267712"/>
            <a:ext cx="0" cy="493776"/>
          </a:xfrm>
          <a:prstGeom prst="line">
            <a:avLst/>
          </a:prstGeom>
          <a:noFill/>
          <a:ln w="19050">
            <a:solidFill>
              <a:srgbClr val="C9D8D1"/>
            </a:solidFill>
            <a:prstDash val="solid"/>
          </a:ln>
        </p:spPr>
      </p:sp>
      <p:sp>
        <p:nvSpPr>
          <p:cNvPr id="8" name="Shape 6"/>
          <p:cNvSpPr/>
          <p:nvPr/>
        </p:nvSpPr>
        <p:spPr>
          <a:xfrm>
            <a:off x="731520" y="2761488"/>
            <a:ext cx="164592" cy="0"/>
          </a:xfrm>
          <a:prstGeom prst="line">
            <a:avLst/>
          </a:prstGeom>
          <a:noFill/>
          <a:ln w="19050">
            <a:solidFill>
              <a:srgbClr val="C9D8D1"/>
            </a:solidFill>
            <a:prstDash val="solid"/>
          </a:ln>
        </p:spPr>
      </p:sp>
      <p:sp>
        <p:nvSpPr>
          <p:cNvPr id="9" name="Shape 7"/>
          <p:cNvSpPr/>
          <p:nvPr/>
        </p:nvSpPr>
        <p:spPr>
          <a:xfrm>
            <a:off x="896112" y="2450592"/>
            <a:ext cx="5961888" cy="621792"/>
          </a:xfrm>
          <a:prstGeom prst="roundRect">
            <a:avLst>
              <a:gd name="adj" fmla="val 17647"/>
            </a:avLst>
          </a:prstGeom>
          <a:solidFill>
            <a:srgbClr val="EEF3F0"/>
          </a:solidFill>
          <a:ln w="12700">
            <a:solidFill>
              <a:srgbClr val="EEF3F0"/>
            </a:solidFill>
            <a:prstDash val="solid"/>
          </a:ln>
        </p:spPr>
      </p:sp>
      <p:sp>
        <p:nvSpPr>
          <p:cNvPr id="10" name="Text 8"/>
          <p:cNvSpPr txBox="1"/>
          <p:nvPr/>
        </p:nvSpPr>
        <p:spPr>
          <a:xfrm>
            <a:off x="1124712" y="2450592"/>
            <a:ext cx="5596128" cy="621792"/>
          </a:xfrm>
          <a:prstGeom prst="rect">
            <a:avLst/>
          </a:prstGeom>
          <a:noFill/>
          <a:ln/>
        </p:spPr>
        <p:txBody>
          <a:bodyPr wrap="square" lIns="0" tIns="0" rIns="0" bIns="0" rtlCol="0" anchor="ctr"/>
          <a:lstStyle/>
          <a:p>
            <a:pPr indent="0" marL="0">
              <a:buNone/>
            </a:pPr>
            <a:r>
              <a:rPr lang="en-US" sz="1500" dirty="0">
                <a:solidFill>
                  <a:srgbClr val="163A33"/>
                </a:solidFill>
                <a:latin typeface="Calibri" pitchFamily="34" charset="0"/>
                <a:ea typeface="Calibri" pitchFamily="34" charset="-122"/>
                <a:cs typeface="Calibri" pitchFamily="34" charset="-120"/>
              </a:rPr>
              <a:t>Глава 4 — градостроительное зонирование</a:t>
            </a:r>
            <a:endParaRPr lang="en-US" sz="1500" dirty="0"/>
          </a:p>
        </p:txBody>
      </p:sp>
      <p:sp>
        <p:nvSpPr>
          <p:cNvPr id="11" name="Shape 9"/>
          <p:cNvSpPr/>
          <p:nvPr/>
        </p:nvSpPr>
        <p:spPr>
          <a:xfrm>
            <a:off x="1078992" y="3072384"/>
            <a:ext cx="0" cy="493776"/>
          </a:xfrm>
          <a:prstGeom prst="line">
            <a:avLst/>
          </a:prstGeom>
          <a:noFill/>
          <a:ln w="19050">
            <a:solidFill>
              <a:srgbClr val="C9D8D1"/>
            </a:solidFill>
            <a:prstDash val="solid"/>
          </a:ln>
        </p:spPr>
      </p:sp>
      <p:sp>
        <p:nvSpPr>
          <p:cNvPr id="12" name="Shape 10"/>
          <p:cNvSpPr/>
          <p:nvPr/>
        </p:nvSpPr>
        <p:spPr>
          <a:xfrm>
            <a:off x="1078992" y="3566160"/>
            <a:ext cx="164592" cy="0"/>
          </a:xfrm>
          <a:prstGeom prst="line">
            <a:avLst/>
          </a:prstGeom>
          <a:noFill/>
          <a:ln w="19050">
            <a:solidFill>
              <a:srgbClr val="C9D8D1"/>
            </a:solidFill>
            <a:prstDash val="solid"/>
          </a:ln>
        </p:spPr>
      </p:sp>
      <p:sp>
        <p:nvSpPr>
          <p:cNvPr id="13" name="Shape 11"/>
          <p:cNvSpPr/>
          <p:nvPr/>
        </p:nvSpPr>
        <p:spPr>
          <a:xfrm>
            <a:off x="1243584" y="3255264"/>
            <a:ext cx="5614416" cy="621792"/>
          </a:xfrm>
          <a:prstGeom prst="roundRect">
            <a:avLst>
              <a:gd name="adj" fmla="val 17647"/>
            </a:avLst>
          </a:prstGeom>
          <a:solidFill>
            <a:srgbClr val="EEF3F0"/>
          </a:solidFill>
          <a:ln w="12700">
            <a:solidFill>
              <a:srgbClr val="EEF3F0"/>
            </a:solidFill>
            <a:prstDash val="solid"/>
          </a:ln>
        </p:spPr>
      </p:sp>
      <p:sp>
        <p:nvSpPr>
          <p:cNvPr id="14" name="Text 12"/>
          <p:cNvSpPr txBox="1"/>
          <p:nvPr/>
        </p:nvSpPr>
        <p:spPr>
          <a:xfrm>
            <a:off x="1472184" y="3255264"/>
            <a:ext cx="5248656" cy="621792"/>
          </a:xfrm>
          <a:prstGeom prst="rect">
            <a:avLst/>
          </a:prstGeom>
          <a:noFill/>
          <a:ln/>
        </p:spPr>
        <p:txBody>
          <a:bodyPr wrap="square" lIns="0" tIns="0" rIns="0" bIns="0" rtlCol="0" anchor="ctr"/>
          <a:lstStyle/>
          <a:p>
            <a:pPr indent="0" marL="0">
              <a:buNone/>
            </a:pPr>
            <a:r>
              <a:rPr lang="en-US" sz="1500" dirty="0">
                <a:solidFill>
                  <a:srgbClr val="163A33"/>
                </a:solidFill>
                <a:latin typeface="Calibri" pitchFamily="34" charset="0"/>
                <a:ea typeface="Calibri" pitchFamily="34" charset="-122"/>
                <a:cs typeface="Calibri" pitchFamily="34" charset="-120"/>
              </a:rPr>
              <a:t>Ст. 37 — виды использования: основные, условно разрешённые, вспомогательные</a:t>
            </a:r>
            <a:endParaRPr lang="en-US" sz="1500" dirty="0"/>
          </a:p>
        </p:txBody>
      </p:sp>
      <p:sp>
        <p:nvSpPr>
          <p:cNvPr id="15" name="Shape 13"/>
          <p:cNvSpPr/>
          <p:nvPr/>
        </p:nvSpPr>
        <p:spPr>
          <a:xfrm>
            <a:off x="1426464" y="3877056"/>
            <a:ext cx="0" cy="493776"/>
          </a:xfrm>
          <a:prstGeom prst="line">
            <a:avLst/>
          </a:prstGeom>
          <a:noFill/>
          <a:ln w="19050">
            <a:solidFill>
              <a:srgbClr val="C9D8D1"/>
            </a:solidFill>
            <a:prstDash val="solid"/>
          </a:ln>
        </p:spPr>
      </p:sp>
      <p:sp>
        <p:nvSpPr>
          <p:cNvPr id="16" name="Shape 14"/>
          <p:cNvSpPr/>
          <p:nvPr/>
        </p:nvSpPr>
        <p:spPr>
          <a:xfrm>
            <a:off x="1426464" y="4370832"/>
            <a:ext cx="164592" cy="0"/>
          </a:xfrm>
          <a:prstGeom prst="line">
            <a:avLst/>
          </a:prstGeom>
          <a:noFill/>
          <a:ln w="19050">
            <a:solidFill>
              <a:srgbClr val="C9D8D1"/>
            </a:solidFill>
            <a:prstDash val="solid"/>
          </a:ln>
        </p:spPr>
      </p:sp>
      <p:sp>
        <p:nvSpPr>
          <p:cNvPr id="17" name="Shape 15"/>
          <p:cNvSpPr/>
          <p:nvPr/>
        </p:nvSpPr>
        <p:spPr>
          <a:xfrm>
            <a:off x="1591056" y="4059936"/>
            <a:ext cx="5266944" cy="621792"/>
          </a:xfrm>
          <a:prstGeom prst="roundRect">
            <a:avLst>
              <a:gd name="adj" fmla="val 17647"/>
            </a:avLst>
          </a:prstGeom>
          <a:solidFill>
            <a:srgbClr val="163A33"/>
          </a:solidFill>
          <a:ln w="12700">
            <a:solidFill>
              <a:srgbClr val="163A33"/>
            </a:solidFill>
            <a:prstDash val="solid"/>
          </a:ln>
        </p:spPr>
      </p:sp>
      <p:sp>
        <p:nvSpPr>
          <p:cNvPr id="18" name="Text 16"/>
          <p:cNvSpPr txBox="1"/>
          <p:nvPr/>
        </p:nvSpPr>
        <p:spPr>
          <a:xfrm>
            <a:off x="1819656" y="4059936"/>
            <a:ext cx="4901184" cy="62179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Ст. 39 — как получить разрешение на условно разрешённый вид</a:t>
            </a:r>
            <a:endParaRPr lang="en-US" sz="1500" dirty="0"/>
          </a:p>
        </p:txBody>
      </p:sp>
      <p:sp>
        <p:nvSpPr>
          <p:cNvPr id="19" name="Shape 17"/>
          <p:cNvSpPr/>
          <p:nvPr/>
        </p:nvSpPr>
        <p:spPr>
          <a:xfrm>
            <a:off x="548640" y="4956048"/>
            <a:ext cx="6537960" cy="1216152"/>
          </a:xfrm>
          <a:prstGeom prst="roundRect">
            <a:avLst>
              <a:gd name="adj" fmla="val 9023"/>
            </a:avLst>
          </a:prstGeom>
          <a:solidFill>
            <a:srgbClr val="FBEADF"/>
          </a:solidFill>
          <a:ln w="12700">
            <a:solidFill>
              <a:srgbClr val="FBEADF"/>
            </a:solidFill>
            <a:prstDash val="solid"/>
          </a:ln>
        </p:spPr>
      </p:sp>
      <p:sp>
        <p:nvSpPr>
          <p:cNvPr id="20" name="Text 18"/>
          <p:cNvSpPr txBox="1"/>
          <p:nvPr/>
        </p:nvSpPr>
        <p:spPr>
          <a:xfrm>
            <a:off x="777240" y="5065776"/>
            <a:ext cx="6080760" cy="996696"/>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Условно разрешённый вид регламент допускает, но только по отдельному разрешению после обсуждения с жителями. Например, магазин в зоне жилой застройки, если правила землепользования отнесли его к таким видам.</a:t>
            </a:r>
            <a:endParaRPr lang="en-US" sz="1500" dirty="0"/>
          </a:p>
        </p:txBody>
      </p:sp>
      <p:sp>
        <p:nvSpPr>
          <p:cNvPr id="21" name="Shape 19"/>
          <p:cNvSpPr/>
          <p:nvPr/>
        </p:nvSpPr>
        <p:spPr>
          <a:xfrm>
            <a:off x="7452360" y="1645920"/>
            <a:ext cx="4190695" cy="1371600"/>
          </a:xfrm>
          <a:prstGeom prst="roundRect">
            <a:avLst>
              <a:gd name="adj" fmla="val 8000"/>
            </a:avLst>
          </a:prstGeom>
          <a:solidFill>
            <a:srgbClr val="EEF3F0"/>
          </a:solidFill>
          <a:ln w="12700">
            <a:solidFill>
              <a:srgbClr val="EEF3F0"/>
            </a:solidFill>
            <a:prstDash val="solid"/>
          </a:ln>
        </p:spPr>
      </p:sp>
      <p:sp>
        <p:nvSpPr>
          <p:cNvPr id="22" name="Text 20"/>
          <p:cNvSpPr txBox="1"/>
          <p:nvPr/>
        </p:nvSpPr>
        <p:spPr>
          <a:xfrm>
            <a:off x="7635240" y="1810512"/>
            <a:ext cx="1508760" cy="685800"/>
          </a:xfrm>
          <a:prstGeom prst="rect">
            <a:avLst/>
          </a:prstGeom>
          <a:noFill/>
          <a:ln/>
        </p:spPr>
        <p:txBody>
          <a:bodyPr wrap="square" lIns="0" tIns="0" rIns="0" bIns="0" rtlCol="0" anchor="ctr"/>
          <a:lstStyle/>
          <a:p>
            <a:pPr algn="ctr" indent="0" marL="0">
              <a:buNone/>
            </a:pPr>
            <a:r>
              <a:rPr lang="en-US" sz="3600" b="1" dirty="0">
                <a:solidFill>
                  <a:srgbClr val="D9692E"/>
                </a:solidFill>
                <a:latin typeface="Cambria" pitchFamily="34" charset="0"/>
                <a:ea typeface="Cambria" pitchFamily="34" charset="-122"/>
                <a:cs typeface="Cambria" pitchFamily="34" charset="-120"/>
              </a:rPr>
              <a:t>3</a:t>
            </a:r>
            <a:endParaRPr lang="en-US" sz="3600" dirty="0"/>
          </a:p>
        </p:txBody>
      </p:sp>
      <p:sp>
        <p:nvSpPr>
          <p:cNvPr id="23" name="Text 21"/>
          <p:cNvSpPr txBox="1"/>
          <p:nvPr/>
        </p:nvSpPr>
        <p:spPr>
          <a:xfrm>
            <a:off x="7635240" y="2487168"/>
            <a:ext cx="1508760" cy="329184"/>
          </a:xfrm>
          <a:prstGeom prst="rect">
            <a:avLst/>
          </a:prstGeom>
          <a:noFill/>
          <a:ln/>
        </p:spPr>
        <p:txBody>
          <a:bodyPr wrap="square" lIns="0" tIns="0" rIns="0" bIns="0" rtlCol="0" anchor="ctr"/>
          <a:lstStyle/>
          <a:p>
            <a:pPr algn="ctr" indent="0" marL="0">
              <a:buNone/>
            </a:pPr>
            <a:r>
              <a:rPr lang="en-US" sz="1300" b="1" dirty="0">
                <a:solidFill>
                  <a:srgbClr val="163A33"/>
                </a:solidFill>
                <a:latin typeface="Calibri" pitchFamily="34" charset="0"/>
                <a:ea typeface="Calibri" pitchFamily="34" charset="-122"/>
                <a:cs typeface="Calibri" pitchFamily="34" charset="-120"/>
              </a:rPr>
              <a:t>дня</a:t>
            </a:r>
            <a:endParaRPr lang="en-US" sz="1300" dirty="0"/>
          </a:p>
        </p:txBody>
      </p:sp>
      <p:sp>
        <p:nvSpPr>
          <p:cNvPr id="24" name="Text 22"/>
          <p:cNvSpPr txBox="1"/>
          <p:nvPr/>
        </p:nvSpPr>
        <p:spPr>
          <a:xfrm>
            <a:off x="9281160" y="1783080"/>
            <a:ext cx="2179015" cy="109728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на решение главы местной администрации после рекомендаций комиссии (ч. 9)</a:t>
            </a:r>
            <a:endParaRPr lang="en-US" sz="1500" dirty="0"/>
          </a:p>
        </p:txBody>
      </p:sp>
      <p:sp>
        <p:nvSpPr>
          <p:cNvPr id="25" name="Shape 23"/>
          <p:cNvSpPr/>
          <p:nvPr/>
        </p:nvSpPr>
        <p:spPr>
          <a:xfrm>
            <a:off x="7452360" y="3218688"/>
            <a:ext cx="4190695" cy="1371600"/>
          </a:xfrm>
          <a:prstGeom prst="roundRect">
            <a:avLst>
              <a:gd name="adj" fmla="val 8000"/>
            </a:avLst>
          </a:prstGeom>
          <a:solidFill>
            <a:srgbClr val="EEF3F0"/>
          </a:solidFill>
          <a:ln w="12700">
            <a:solidFill>
              <a:srgbClr val="EEF3F0"/>
            </a:solidFill>
            <a:prstDash val="solid"/>
          </a:ln>
        </p:spPr>
      </p:sp>
      <p:sp>
        <p:nvSpPr>
          <p:cNvPr id="26" name="Text 24"/>
          <p:cNvSpPr txBox="1"/>
          <p:nvPr/>
        </p:nvSpPr>
        <p:spPr>
          <a:xfrm>
            <a:off x="7635240" y="3383280"/>
            <a:ext cx="1508760" cy="685800"/>
          </a:xfrm>
          <a:prstGeom prst="rect">
            <a:avLst/>
          </a:prstGeom>
          <a:noFill/>
          <a:ln/>
        </p:spPr>
        <p:txBody>
          <a:bodyPr wrap="square" lIns="0" tIns="0" rIns="0" bIns="0" rtlCol="0" anchor="ctr"/>
          <a:lstStyle/>
          <a:p>
            <a:pPr algn="ctr" indent="0" marL="0">
              <a:buNone/>
            </a:pPr>
            <a:r>
              <a:rPr lang="en-US" sz="3600" b="1" dirty="0">
                <a:solidFill>
                  <a:srgbClr val="D9692E"/>
                </a:solidFill>
                <a:latin typeface="Cambria" pitchFamily="34" charset="0"/>
                <a:ea typeface="Cambria" pitchFamily="34" charset="-122"/>
                <a:cs typeface="Cambria" pitchFamily="34" charset="-120"/>
              </a:rPr>
              <a:t>≤ 1</a:t>
            </a:r>
            <a:endParaRPr lang="en-US" sz="3600" dirty="0"/>
          </a:p>
        </p:txBody>
      </p:sp>
      <p:sp>
        <p:nvSpPr>
          <p:cNvPr id="27" name="Text 25"/>
          <p:cNvSpPr txBox="1"/>
          <p:nvPr/>
        </p:nvSpPr>
        <p:spPr>
          <a:xfrm>
            <a:off x="7635240" y="4059936"/>
            <a:ext cx="1508760" cy="329184"/>
          </a:xfrm>
          <a:prstGeom prst="rect">
            <a:avLst/>
          </a:prstGeom>
          <a:noFill/>
          <a:ln/>
        </p:spPr>
        <p:txBody>
          <a:bodyPr wrap="square" lIns="0" tIns="0" rIns="0" bIns="0" rtlCol="0" anchor="ctr"/>
          <a:lstStyle/>
          <a:p>
            <a:pPr algn="ctr" indent="0" marL="0">
              <a:buNone/>
            </a:pPr>
            <a:r>
              <a:rPr lang="en-US" sz="1300" b="1" dirty="0">
                <a:solidFill>
                  <a:srgbClr val="163A33"/>
                </a:solidFill>
                <a:latin typeface="Calibri" pitchFamily="34" charset="0"/>
                <a:ea typeface="Calibri" pitchFamily="34" charset="-122"/>
                <a:cs typeface="Calibri" pitchFamily="34" charset="-120"/>
              </a:rPr>
              <a:t>месяц</a:t>
            </a:r>
            <a:endParaRPr lang="en-US" sz="1300" dirty="0"/>
          </a:p>
        </p:txBody>
      </p:sp>
      <p:sp>
        <p:nvSpPr>
          <p:cNvPr id="28" name="Text 26"/>
          <p:cNvSpPr txBox="1"/>
          <p:nvPr/>
        </p:nvSpPr>
        <p:spPr>
          <a:xfrm>
            <a:off x="9281160" y="3355848"/>
            <a:ext cx="2179015" cy="109728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длятся общественные обсуждения или публичные слушания (ч. 7)</a:t>
            </a:r>
            <a:endParaRPr lang="en-US" sz="1500" dirty="0"/>
          </a:p>
        </p:txBody>
      </p:sp>
      <p:sp>
        <p:nvSpPr>
          <p:cNvPr id="29" name="Shape 27"/>
          <p:cNvSpPr/>
          <p:nvPr/>
        </p:nvSpPr>
        <p:spPr>
          <a:xfrm>
            <a:off x="7452360" y="4791456"/>
            <a:ext cx="4190695" cy="1371600"/>
          </a:xfrm>
          <a:prstGeom prst="roundRect">
            <a:avLst>
              <a:gd name="adj" fmla="val 8000"/>
            </a:avLst>
          </a:prstGeom>
          <a:solidFill>
            <a:srgbClr val="EEF3F0"/>
          </a:solidFill>
          <a:ln w="12700">
            <a:solidFill>
              <a:srgbClr val="EEF3F0"/>
            </a:solidFill>
            <a:prstDash val="solid"/>
          </a:ln>
        </p:spPr>
      </p:sp>
      <p:sp>
        <p:nvSpPr>
          <p:cNvPr id="30" name="Text 28"/>
          <p:cNvSpPr txBox="1"/>
          <p:nvPr/>
        </p:nvSpPr>
        <p:spPr>
          <a:xfrm>
            <a:off x="7635240" y="4956048"/>
            <a:ext cx="1508760" cy="685800"/>
          </a:xfrm>
          <a:prstGeom prst="rect">
            <a:avLst/>
          </a:prstGeom>
          <a:noFill/>
          <a:ln/>
        </p:spPr>
        <p:txBody>
          <a:bodyPr wrap="square" lIns="0" tIns="0" rIns="0" bIns="0" rtlCol="0" anchor="ctr"/>
          <a:lstStyle/>
          <a:p>
            <a:pPr algn="ctr" indent="0" marL="0">
              <a:buNone/>
            </a:pPr>
            <a:r>
              <a:rPr lang="en-US" sz="3600" b="1" dirty="0">
                <a:solidFill>
                  <a:srgbClr val="D9692E"/>
                </a:solidFill>
                <a:latin typeface="Cambria" pitchFamily="34" charset="0"/>
                <a:ea typeface="Cambria" pitchFamily="34" charset="-122"/>
                <a:cs typeface="Cambria" pitchFamily="34" charset="-120"/>
              </a:rPr>
              <a:t>7</a:t>
            </a:r>
            <a:endParaRPr lang="en-US" sz="3600" dirty="0"/>
          </a:p>
        </p:txBody>
      </p:sp>
      <p:sp>
        <p:nvSpPr>
          <p:cNvPr id="31" name="Text 29"/>
          <p:cNvSpPr txBox="1"/>
          <p:nvPr/>
        </p:nvSpPr>
        <p:spPr>
          <a:xfrm>
            <a:off x="7635240" y="5632704"/>
            <a:ext cx="1508760" cy="329184"/>
          </a:xfrm>
          <a:prstGeom prst="rect">
            <a:avLst/>
          </a:prstGeom>
          <a:noFill/>
          <a:ln/>
        </p:spPr>
        <p:txBody>
          <a:bodyPr wrap="square" lIns="0" tIns="0" rIns="0" bIns="0" rtlCol="0" anchor="ctr"/>
          <a:lstStyle/>
          <a:p>
            <a:pPr algn="ctr" indent="0" marL="0">
              <a:buNone/>
            </a:pPr>
            <a:r>
              <a:rPr lang="en-US" sz="1300" b="1" dirty="0">
                <a:solidFill>
                  <a:srgbClr val="163A33"/>
                </a:solidFill>
                <a:latin typeface="Calibri" pitchFamily="34" charset="0"/>
                <a:ea typeface="Calibri" pitchFamily="34" charset="-122"/>
                <a:cs typeface="Calibri" pitchFamily="34" charset="-120"/>
              </a:rPr>
              <a:t>рабочих дней</a:t>
            </a:r>
            <a:endParaRPr lang="en-US" sz="1300" dirty="0"/>
          </a:p>
        </p:txBody>
      </p:sp>
      <p:sp>
        <p:nvSpPr>
          <p:cNvPr id="32" name="Text 30"/>
          <p:cNvSpPr txBox="1"/>
          <p:nvPr/>
        </p:nvSpPr>
        <p:spPr>
          <a:xfrm>
            <a:off x="9281160" y="4928616"/>
            <a:ext cx="2179015" cy="109728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чтобы оповестить правообладателей соседних участков (ч. 4)</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1 · ЧТО ЭТО ЗА СТАТЬЯ</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Части статьи: процедура шаг за шагом</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143000"/>
                <a:gridCol w="9951415"/>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Часть</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163A33"/>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Что установлено</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163A33"/>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Заинтересованное физическое или юридическое лицо подаёт заявление в комиссию — в том числе электронно</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Проект решения выносится на общественные обсуждения или публичные слушания; участвуют жители территориальной зоны, а при риске вреда для среды — правообладатели затронутых участков</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Правообладателей соседних участков и объектов оповещают не позднее 7 рабочих дней со дня заявления</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7, 10</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Срок обсуждений — не более месяца; расходы на них несёт заявитель (ч. 5 и 6 утратили силу в 2017 году)</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8–9</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Комиссия готовит рекомендации с указанием причин, глава администрации за 3 дня принимает решение; решение публикуется</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11, 11.1</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Без обсуждений — если вид уже включён в регламент по инициативе заявителя; запрет — пока на участке не снесена выявленная самовольная постройка</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FFFFFF"/>
                    </a:solidFill>
                  </a:tcPr>
                </a:tc>
              </a:tr>
              <a:tr h="585216">
                <a:tc>
                  <a:txBody>
                    <a:bodyPr/>
                    <a:lstStyle/>
                    <a:p>
                      <a:pPr algn="ctr" indent="0" marL="0">
                        <a:buNone/>
                      </a:pPr>
                      <a:r>
                        <a:rPr lang="en-US" sz="1400" b="1" dirty="0">
                          <a:solidFill>
                            <a:srgbClr val="D9692E"/>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c>
                  <a:txBody>
                    <a:bodyPr/>
                    <a:lstStyle/>
                    <a:p>
                      <a:pPr indent="0" marL="0">
                        <a:buNone/>
                      </a:pPr>
                      <a:r>
                        <a:rPr lang="en-US" sz="1400" dirty="0">
                          <a:solidFill>
                            <a:srgbClr val="1B2421"/>
                          </a:solidFill>
                          <a:latin typeface="Calibri" pitchFamily="34" charset="0"/>
                          <a:ea typeface="Calibri" pitchFamily="34" charset="-122"/>
                          <a:cs typeface="Calibri" pitchFamily="34" charset="-120"/>
                        </a:rPr>
                        <a:t>Решение о разрешении или об отказе можно оспорить в суде</a:t>
                      </a:r>
                      <a:endParaRPr lang="en-US" sz="1400" dirty="0">
                        <a:latin typeface="Calibri" charset="0"/>
                        <a:ea typeface="Calibri" charset="0"/>
                        <a:cs typeface="Calibri" charset="0"/>
                      </a:endParaRPr>
                    </a:p>
                  </a:txBody>
                  <a:tcPr marL="128016" marR="128016" marT="45720" marB="45720" anchor="ctr">
                    <a:lnL w="9525" cap="flat" cmpd="sng" algn="ctr">
                      <a:solidFill>
                        <a:srgbClr val="C9D8D1"/>
                      </a:solidFill>
                      <a:prstDash val="solid"/>
                      <a:round/>
                      <a:headEnd type="none" w="med" len="med"/>
                      <a:tailEnd type="none" w="med" len="med"/>
                    </a:lnL>
                    <a:lnR w="9525" cap="flat" cmpd="sng" algn="ctr">
                      <a:solidFill>
                        <a:srgbClr val="C9D8D1"/>
                      </a:solidFill>
                      <a:prstDash val="solid"/>
                      <a:round/>
                      <a:headEnd type="none" w="med" len="med"/>
                      <a:tailEnd type="none" w="med" len="med"/>
                    </a:lnR>
                    <a:lnT w="9525" cap="flat" cmpd="sng" algn="ctr">
                      <a:solidFill>
                        <a:srgbClr val="C9D8D1"/>
                      </a:solidFill>
                      <a:prstDash val="solid"/>
                      <a:round/>
                      <a:headEnd type="none" w="med" len="med"/>
                      <a:tailEnd type="none" w="med" len="med"/>
                    </a:lnT>
                    <a:lnB w="9525" cap="flat" cmpd="sng" algn="ctr">
                      <a:solidFill>
                        <a:srgbClr val="C9D8D1"/>
                      </a:solidFill>
                      <a:prstDash val="solid"/>
                      <a:round/>
                      <a:headEnd type="none" w="med" len="med"/>
                      <a:tailEnd type="none" w="med" len="med"/>
                    </a:lnB>
                    <a:solidFill>
                      <a:srgbClr val="EEF3F0"/>
                    </a:solidFill>
                  </a:tcPr>
                </a:tc>
              </a:tr>
            </a:tbl>
          </a:graphicData>
        </a:graphic>
      </p:graphicFrame>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1 · ЧТО ЭТО ЗА СТАТЬЯ</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Кто участвует и кто принимает решение</a:t>
            </a:r>
            <a:endParaRPr lang="en-US" sz="3000" dirty="0"/>
          </a:p>
        </p:txBody>
      </p:sp>
      <p:sp>
        <p:nvSpPr>
          <p:cNvPr id="5" name="Shape 3"/>
          <p:cNvSpPr/>
          <p:nvPr/>
        </p:nvSpPr>
        <p:spPr>
          <a:xfrm>
            <a:off x="548640" y="1691640"/>
            <a:ext cx="1940905" cy="2788920"/>
          </a:xfrm>
          <a:prstGeom prst="roundRect">
            <a:avLst>
              <a:gd name="adj" fmla="val 5653"/>
            </a:avLst>
          </a:prstGeom>
          <a:solidFill>
            <a:srgbClr val="EEF3F0"/>
          </a:solidFill>
          <a:ln w="12700">
            <a:solidFill>
              <a:srgbClr val="EEF3F0"/>
            </a:solidFill>
            <a:prstDash val="solid"/>
          </a:ln>
        </p:spPr>
      </p:sp>
      <p:sp>
        <p:nvSpPr>
          <p:cNvPr id="6" name="Shape 4"/>
          <p:cNvSpPr/>
          <p:nvPr/>
        </p:nvSpPr>
        <p:spPr>
          <a:xfrm>
            <a:off x="749808" y="1920240"/>
            <a:ext cx="640080" cy="640080"/>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903427" y="2073859"/>
            <a:ext cx="332842" cy="332842"/>
          </a:xfrm>
          <a:prstGeom prst="rect">
            <a:avLst/>
          </a:prstGeom>
        </p:spPr>
      </p:pic>
      <p:sp>
        <p:nvSpPr>
          <p:cNvPr id="8" name="Text 5"/>
          <p:cNvSpPr txBox="1"/>
          <p:nvPr/>
        </p:nvSpPr>
        <p:spPr>
          <a:xfrm>
            <a:off x="1508760" y="1920240"/>
            <a:ext cx="889345" cy="640080"/>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ШАГ 1</a:t>
            </a:r>
            <a:endParaRPr lang="en-US" sz="1200" dirty="0"/>
          </a:p>
        </p:txBody>
      </p:sp>
      <p:sp>
        <p:nvSpPr>
          <p:cNvPr id="9" name="Text 6"/>
          <p:cNvSpPr txBox="1"/>
          <p:nvPr/>
        </p:nvSpPr>
        <p:spPr>
          <a:xfrm>
            <a:off x="749808" y="2697480"/>
            <a:ext cx="1575145" cy="54864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Заявитель</a:t>
            </a:r>
            <a:endParaRPr lang="en-US" sz="1700" dirty="0"/>
          </a:p>
        </p:txBody>
      </p:sp>
      <p:sp>
        <p:nvSpPr>
          <p:cNvPr id="10" name="Text 7"/>
          <p:cNvSpPr txBox="1"/>
          <p:nvPr/>
        </p:nvSpPr>
        <p:spPr>
          <a:xfrm>
            <a:off x="749808" y="3291840"/>
            <a:ext cx="1575145" cy="1097280"/>
          </a:xfrm>
          <a:prstGeom prst="rect">
            <a:avLst/>
          </a:prstGeom>
          <a:noFill/>
          <a:ln/>
        </p:spPr>
        <p:txBody>
          <a:bodyPr wrap="square" lIns="0" tIns="0" rIns="0" bIns="0" rtlCol="0" anchor="t"/>
          <a:lstStyle/>
          <a:p>
            <a:pPr indent="0" marL="0">
              <a:buNone/>
            </a:pPr>
            <a:r>
              <a:rPr lang="en-US" sz="1400" dirty="0">
                <a:solidFill>
                  <a:srgbClr val="1B2421"/>
                </a:solidFill>
                <a:latin typeface="Calibri" pitchFamily="34" charset="0"/>
                <a:ea typeface="Calibri" pitchFamily="34" charset="-122"/>
                <a:cs typeface="Calibri" pitchFamily="34" charset="-120"/>
              </a:rPr>
              <a:t>Физическое или юридическое лицо подаёт заявление в комиссию</a:t>
            </a:r>
            <a:endParaRPr lang="en-US" sz="1400" dirty="0"/>
          </a:p>
        </p:txBody>
      </p:sp>
      <p:sp>
        <p:nvSpPr>
          <p:cNvPr id="11" name="Shape 8"/>
          <p:cNvSpPr/>
          <p:nvPr/>
        </p:nvSpPr>
        <p:spPr>
          <a:xfrm>
            <a:off x="2553553" y="2958084"/>
            <a:ext cx="219456" cy="256032"/>
          </a:xfrm>
          <a:prstGeom prst="rightArrow">
            <a:avLst/>
          </a:prstGeom>
          <a:solidFill>
            <a:srgbClr val="D9692E"/>
          </a:solidFill>
          <a:ln w="12700">
            <a:solidFill>
              <a:srgbClr val="D9692E"/>
            </a:solidFill>
            <a:prstDash val="solid"/>
          </a:ln>
        </p:spPr>
      </p:sp>
      <p:sp>
        <p:nvSpPr>
          <p:cNvPr id="12" name="Shape 9"/>
          <p:cNvSpPr/>
          <p:nvPr/>
        </p:nvSpPr>
        <p:spPr>
          <a:xfrm>
            <a:off x="2837017" y="1691640"/>
            <a:ext cx="1940905" cy="2788920"/>
          </a:xfrm>
          <a:prstGeom prst="roundRect">
            <a:avLst>
              <a:gd name="adj" fmla="val 5653"/>
            </a:avLst>
          </a:prstGeom>
          <a:solidFill>
            <a:srgbClr val="EEF3F0"/>
          </a:solidFill>
          <a:ln w="12700">
            <a:solidFill>
              <a:srgbClr val="EEF3F0"/>
            </a:solidFill>
            <a:prstDash val="solid"/>
          </a:ln>
        </p:spPr>
      </p:sp>
      <p:sp>
        <p:nvSpPr>
          <p:cNvPr id="13" name="Shape 10"/>
          <p:cNvSpPr/>
          <p:nvPr/>
        </p:nvSpPr>
        <p:spPr>
          <a:xfrm>
            <a:off x="3038185" y="1920240"/>
            <a:ext cx="640080" cy="640080"/>
          </a:xfrm>
          <a:prstGeom prst="roundRect">
            <a:avLst>
              <a:gd name="adj" fmla="val 18000"/>
            </a:avLst>
          </a:prstGeom>
          <a:solidFill>
            <a:srgbClr val="163A33"/>
          </a:solidFill>
          <a:ln w="12700">
            <a:solidFill>
              <a:srgbClr val="163A33"/>
            </a:solidFill>
            <a:prstDash val="solid"/>
          </a:ln>
        </p:spPr>
      </p:sp>
      <p:pic>
        <p:nvPicPr>
          <p:cNvPr id="14" name="Image 1" descr="preencoded.png">    </p:cNvPr>
          <p:cNvPicPr>
            <a:picLocks noChangeAspect="1"/>
          </p:cNvPicPr>
          <p:nvPr/>
        </p:nvPicPr>
        <p:blipFill>
          <a:blip r:embed="rId2"/>
          <a:stretch>
            <a:fillRect/>
          </a:stretch>
        </p:blipFill>
        <p:spPr>
          <a:xfrm>
            <a:off x="3191805" y="2073859"/>
            <a:ext cx="332842" cy="332842"/>
          </a:xfrm>
          <a:prstGeom prst="rect">
            <a:avLst/>
          </a:prstGeom>
        </p:spPr>
      </p:pic>
      <p:sp>
        <p:nvSpPr>
          <p:cNvPr id="15" name="Text 11"/>
          <p:cNvSpPr txBox="1"/>
          <p:nvPr/>
        </p:nvSpPr>
        <p:spPr>
          <a:xfrm>
            <a:off x="3797137" y="1920240"/>
            <a:ext cx="889345" cy="640080"/>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ШАГ 2</a:t>
            </a:r>
            <a:endParaRPr lang="en-US" sz="1200" dirty="0"/>
          </a:p>
        </p:txBody>
      </p:sp>
      <p:sp>
        <p:nvSpPr>
          <p:cNvPr id="16" name="Text 12"/>
          <p:cNvSpPr txBox="1"/>
          <p:nvPr/>
        </p:nvSpPr>
        <p:spPr>
          <a:xfrm>
            <a:off x="3038185" y="2697480"/>
            <a:ext cx="1575145" cy="54864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Комиссия</a:t>
            </a:r>
            <a:endParaRPr lang="en-US" sz="1700" dirty="0"/>
          </a:p>
        </p:txBody>
      </p:sp>
      <p:sp>
        <p:nvSpPr>
          <p:cNvPr id="17" name="Text 13"/>
          <p:cNvSpPr txBox="1"/>
          <p:nvPr/>
        </p:nvSpPr>
        <p:spPr>
          <a:xfrm>
            <a:off x="3038185" y="3291840"/>
            <a:ext cx="1575145" cy="1097280"/>
          </a:xfrm>
          <a:prstGeom prst="rect">
            <a:avLst/>
          </a:prstGeom>
          <a:noFill/>
          <a:ln/>
        </p:spPr>
        <p:txBody>
          <a:bodyPr wrap="square" lIns="0" tIns="0" rIns="0" bIns="0" rtlCol="0" anchor="t"/>
          <a:lstStyle/>
          <a:p>
            <a:pPr indent="0" marL="0">
              <a:buNone/>
            </a:pPr>
            <a:r>
              <a:rPr lang="en-US" sz="1400" dirty="0">
                <a:solidFill>
                  <a:srgbClr val="1B2421"/>
                </a:solidFill>
                <a:latin typeface="Calibri" pitchFamily="34" charset="0"/>
                <a:ea typeface="Calibri" pitchFamily="34" charset="-122"/>
                <a:cs typeface="Calibri" pitchFamily="34" charset="-120"/>
              </a:rPr>
              <a:t>Организует общественные обсуждения или публичные слушания</a:t>
            </a:r>
            <a:endParaRPr lang="en-US" sz="1400" dirty="0"/>
          </a:p>
        </p:txBody>
      </p:sp>
      <p:sp>
        <p:nvSpPr>
          <p:cNvPr id="18" name="Shape 14"/>
          <p:cNvSpPr/>
          <p:nvPr/>
        </p:nvSpPr>
        <p:spPr>
          <a:xfrm>
            <a:off x="4841931" y="2958084"/>
            <a:ext cx="219456" cy="256032"/>
          </a:xfrm>
          <a:prstGeom prst="rightArrow">
            <a:avLst/>
          </a:prstGeom>
          <a:solidFill>
            <a:srgbClr val="D9692E"/>
          </a:solidFill>
          <a:ln w="12700">
            <a:solidFill>
              <a:srgbClr val="D9692E"/>
            </a:solidFill>
            <a:prstDash val="solid"/>
          </a:ln>
        </p:spPr>
      </p:sp>
      <p:sp>
        <p:nvSpPr>
          <p:cNvPr id="19" name="Shape 15"/>
          <p:cNvSpPr/>
          <p:nvPr/>
        </p:nvSpPr>
        <p:spPr>
          <a:xfrm>
            <a:off x="5125395" y="1691640"/>
            <a:ext cx="1940905" cy="2788920"/>
          </a:xfrm>
          <a:prstGeom prst="roundRect">
            <a:avLst>
              <a:gd name="adj" fmla="val 5653"/>
            </a:avLst>
          </a:prstGeom>
          <a:solidFill>
            <a:srgbClr val="EEF3F0"/>
          </a:solidFill>
          <a:ln w="12700">
            <a:solidFill>
              <a:srgbClr val="EEF3F0"/>
            </a:solidFill>
            <a:prstDash val="solid"/>
          </a:ln>
        </p:spPr>
      </p:sp>
      <p:sp>
        <p:nvSpPr>
          <p:cNvPr id="20" name="Shape 16"/>
          <p:cNvSpPr/>
          <p:nvPr/>
        </p:nvSpPr>
        <p:spPr>
          <a:xfrm>
            <a:off x="5326563" y="1920240"/>
            <a:ext cx="640080" cy="640080"/>
          </a:xfrm>
          <a:prstGeom prst="roundRect">
            <a:avLst>
              <a:gd name="adj" fmla="val 18000"/>
            </a:avLst>
          </a:prstGeom>
          <a:solidFill>
            <a:srgbClr val="163A33"/>
          </a:solidFill>
          <a:ln w="12700">
            <a:solidFill>
              <a:srgbClr val="163A33"/>
            </a:solidFill>
            <a:prstDash val="solid"/>
          </a:ln>
        </p:spPr>
      </p:sp>
      <p:pic>
        <p:nvPicPr>
          <p:cNvPr id="21" name="Image 2" descr="preencoded.png">    </p:cNvPr>
          <p:cNvPicPr>
            <a:picLocks noChangeAspect="1"/>
          </p:cNvPicPr>
          <p:nvPr/>
        </p:nvPicPr>
        <p:blipFill>
          <a:blip r:embed="rId3"/>
          <a:stretch>
            <a:fillRect/>
          </a:stretch>
        </p:blipFill>
        <p:spPr>
          <a:xfrm>
            <a:off x="5480182" y="2073859"/>
            <a:ext cx="332842" cy="332842"/>
          </a:xfrm>
          <a:prstGeom prst="rect">
            <a:avLst/>
          </a:prstGeom>
        </p:spPr>
      </p:pic>
      <p:sp>
        <p:nvSpPr>
          <p:cNvPr id="22" name="Text 17"/>
          <p:cNvSpPr txBox="1"/>
          <p:nvPr/>
        </p:nvSpPr>
        <p:spPr>
          <a:xfrm>
            <a:off x="6085515" y="1920240"/>
            <a:ext cx="889345" cy="640080"/>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ШАГ 3</a:t>
            </a:r>
            <a:endParaRPr lang="en-US" sz="1200" dirty="0"/>
          </a:p>
        </p:txBody>
      </p:sp>
      <p:sp>
        <p:nvSpPr>
          <p:cNvPr id="23" name="Text 18"/>
          <p:cNvSpPr txBox="1"/>
          <p:nvPr/>
        </p:nvSpPr>
        <p:spPr>
          <a:xfrm>
            <a:off x="5326563" y="2697480"/>
            <a:ext cx="1575145" cy="54864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Жители и соседи</a:t>
            </a:r>
            <a:endParaRPr lang="en-US" sz="1700" dirty="0"/>
          </a:p>
        </p:txBody>
      </p:sp>
      <p:sp>
        <p:nvSpPr>
          <p:cNvPr id="24" name="Text 19"/>
          <p:cNvSpPr txBox="1"/>
          <p:nvPr/>
        </p:nvSpPr>
        <p:spPr>
          <a:xfrm>
            <a:off x="5326563" y="3291840"/>
            <a:ext cx="1575145" cy="1097280"/>
          </a:xfrm>
          <a:prstGeom prst="rect">
            <a:avLst/>
          </a:prstGeom>
          <a:noFill/>
          <a:ln/>
        </p:spPr>
        <p:txBody>
          <a:bodyPr wrap="square" lIns="0" tIns="0" rIns="0" bIns="0" rtlCol="0" anchor="t"/>
          <a:lstStyle/>
          <a:p>
            <a:pPr indent="0" marL="0">
              <a:buNone/>
            </a:pPr>
            <a:r>
              <a:rPr lang="en-US" sz="1400" dirty="0">
                <a:solidFill>
                  <a:srgbClr val="1B2421"/>
                </a:solidFill>
                <a:latin typeface="Calibri" pitchFamily="34" charset="0"/>
                <a:ea typeface="Calibri" pitchFamily="34" charset="-122"/>
                <a:cs typeface="Calibri" pitchFamily="34" charset="-120"/>
              </a:rPr>
              <a:t>Подают предложения и замечания, их вносят в протокол</a:t>
            </a:r>
            <a:endParaRPr lang="en-US" sz="1400" dirty="0"/>
          </a:p>
        </p:txBody>
      </p:sp>
      <p:sp>
        <p:nvSpPr>
          <p:cNvPr id="25" name="Shape 20"/>
          <p:cNvSpPr/>
          <p:nvPr/>
        </p:nvSpPr>
        <p:spPr>
          <a:xfrm>
            <a:off x="7130308" y="2958084"/>
            <a:ext cx="219456" cy="256032"/>
          </a:xfrm>
          <a:prstGeom prst="rightArrow">
            <a:avLst/>
          </a:prstGeom>
          <a:solidFill>
            <a:srgbClr val="D9692E"/>
          </a:solidFill>
          <a:ln w="12700">
            <a:solidFill>
              <a:srgbClr val="D9692E"/>
            </a:solidFill>
            <a:prstDash val="solid"/>
          </a:ln>
        </p:spPr>
      </p:sp>
      <p:sp>
        <p:nvSpPr>
          <p:cNvPr id="26" name="Shape 21"/>
          <p:cNvSpPr/>
          <p:nvPr/>
        </p:nvSpPr>
        <p:spPr>
          <a:xfrm>
            <a:off x="7413772" y="1691640"/>
            <a:ext cx="1940905" cy="2788920"/>
          </a:xfrm>
          <a:prstGeom prst="roundRect">
            <a:avLst>
              <a:gd name="adj" fmla="val 5653"/>
            </a:avLst>
          </a:prstGeom>
          <a:solidFill>
            <a:srgbClr val="EEF3F0"/>
          </a:solidFill>
          <a:ln w="12700">
            <a:solidFill>
              <a:srgbClr val="EEF3F0"/>
            </a:solidFill>
            <a:prstDash val="solid"/>
          </a:ln>
        </p:spPr>
      </p:sp>
      <p:sp>
        <p:nvSpPr>
          <p:cNvPr id="27" name="Shape 22"/>
          <p:cNvSpPr/>
          <p:nvPr/>
        </p:nvSpPr>
        <p:spPr>
          <a:xfrm>
            <a:off x="7614940" y="1920240"/>
            <a:ext cx="640080" cy="640080"/>
          </a:xfrm>
          <a:prstGeom prst="roundRect">
            <a:avLst>
              <a:gd name="adj" fmla="val 18000"/>
            </a:avLst>
          </a:prstGeom>
          <a:solidFill>
            <a:srgbClr val="163A33"/>
          </a:solidFill>
          <a:ln w="12700">
            <a:solidFill>
              <a:srgbClr val="163A33"/>
            </a:solidFill>
            <a:prstDash val="solid"/>
          </a:ln>
        </p:spPr>
      </p:sp>
      <p:pic>
        <p:nvPicPr>
          <p:cNvPr id="28" name="Image 3" descr="preencoded.png">    </p:cNvPr>
          <p:cNvPicPr>
            <a:picLocks noChangeAspect="1"/>
          </p:cNvPicPr>
          <p:nvPr/>
        </p:nvPicPr>
        <p:blipFill>
          <a:blip r:embed="rId4"/>
          <a:stretch>
            <a:fillRect/>
          </a:stretch>
        </p:blipFill>
        <p:spPr>
          <a:xfrm>
            <a:off x="7768560" y="2073859"/>
            <a:ext cx="332842" cy="332842"/>
          </a:xfrm>
          <a:prstGeom prst="rect">
            <a:avLst/>
          </a:prstGeom>
        </p:spPr>
      </p:pic>
      <p:sp>
        <p:nvSpPr>
          <p:cNvPr id="29" name="Text 23"/>
          <p:cNvSpPr txBox="1"/>
          <p:nvPr/>
        </p:nvSpPr>
        <p:spPr>
          <a:xfrm>
            <a:off x="8373892" y="1920240"/>
            <a:ext cx="889345" cy="640080"/>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ШАГ 4</a:t>
            </a:r>
            <a:endParaRPr lang="en-US" sz="1200" dirty="0"/>
          </a:p>
        </p:txBody>
      </p:sp>
      <p:sp>
        <p:nvSpPr>
          <p:cNvPr id="30" name="Text 24"/>
          <p:cNvSpPr txBox="1"/>
          <p:nvPr/>
        </p:nvSpPr>
        <p:spPr>
          <a:xfrm>
            <a:off x="7614940" y="2697480"/>
            <a:ext cx="1575145" cy="54864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Комиссия</a:t>
            </a:r>
            <a:endParaRPr lang="en-US" sz="1700" dirty="0"/>
          </a:p>
        </p:txBody>
      </p:sp>
      <p:sp>
        <p:nvSpPr>
          <p:cNvPr id="31" name="Text 25"/>
          <p:cNvSpPr txBox="1"/>
          <p:nvPr/>
        </p:nvSpPr>
        <p:spPr>
          <a:xfrm>
            <a:off x="7614940" y="3291840"/>
            <a:ext cx="1575145" cy="1097280"/>
          </a:xfrm>
          <a:prstGeom prst="rect">
            <a:avLst/>
          </a:prstGeom>
          <a:noFill/>
          <a:ln/>
        </p:spPr>
        <p:txBody>
          <a:bodyPr wrap="square" lIns="0" tIns="0" rIns="0" bIns="0" rtlCol="0" anchor="t"/>
          <a:lstStyle/>
          <a:p>
            <a:pPr indent="0" marL="0">
              <a:buNone/>
            </a:pPr>
            <a:r>
              <a:rPr lang="en-US" sz="1400" dirty="0">
                <a:solidFill>
                  <a:srgbClr val="1B2421"/>
                </a:solidFill>
                <a:latin typeface="Calibri" pitchFamily="34" charset="0"/>
                <a:ea typeface="Calibri" pitchFamily="34" charset="-122"/>
                <a:cs typeface="Calibri" pitchFamily="34" charset="-120"/>
              </a:rPr>
              <a:t>Готовит рекомендации «за» или «против» с указанием причин</a:t>
            </a:r>
            <a:endParaRPr lang="en-US" sz="1400" dirty="0"/>
          </a:p>
        </p:txBody>
      </p:sp>
      <p:sp>
        <p:nvSpPr>
          <p:cNvPr id="32" name="Shape 26"/>
          <p:cNvSpPr/>
          <p:nvPr/>
        </p:nvSpPr>
        <p:spPr>
          <a:xfrm>
            <a:off x="9418686" y="2958084"/>
            <a:ext cx="219456" cy="256032"/>
          </a:xfrm>
          <a:prstGeom prst="rightArrow">
            <a:avLst/>
          </a:prstGeom>
          <a:solidFill>
            <a:srgbClr val="D9692E"/>
          </a:solidFill>
          <a:ln w="12700">
            <a:solidFill>
              <a:srgbClr val="D9692E"/>
            </a:solidFill>
            <a:prstDash val="solid"/>
          </a:ln>
        </p:spPr>
      </p:sp>
      <p:sp>
        <p:nvSpPr>
          <p:cNvPr id="33" name="Shape 27"/>
          <p:cNvSpPr/>
          <p:nvPr/>
        </p:nvSpPr>
        <p:spPr>
          <a:xfrm>
            <a:off x="9702150" y="1691640"/>
            <a:ext cx="1940905" cy="2788920"/>
          </a:xfrm>
          <a:prstGeom prst="roundRect">
            <a:avLst>
              <a:gd name="adj" fmla="val 5653"/>
            </a:avLst>
          </a:prstGeom>
          <a:solidFill>
            <a:srgbClr val="163A33"/>
          </a:solidFill>
          <a:ln w="12700">
            <a:solidFill>
              <a:srgbClr val="163A33"/>
            </a:solidFill>
            <a:prstDash val="solid"/>
          </a:ln>
        </p:spPr>
      </p:sp>
      <p:sp>
        <p:nvSpPr>
          <p:cNvPr id="34" name="Shape 28"/>
          <p:cNvSpPr/>
          <p:nvPr/>
        </p:nvSpPr>
        <p:spPr>
          <a:xfrm>
            <a:off x="9903318" y="1920240"/>
            <a:ext cx="640080" cy="640080"/>
          </a:xfrm>
          <a:prstGeom prst="roundRect">
            <a:avLst>
              <a:gd name="adj" fmla="val 18000"/>
            </a:avLst>
          </a:prstGeom>
          <a:solidFill>
            <a:srgbClr val="D9692E"/>
          </a:solidFill>
          <a:ln w="12700">
            <a:solidFill>
              <a:srgbClr val="D9692E"/>
            </a:solidFill>
            <a:prstDash val="solid"/>
          </a:ln>
        </p:spPr>
      </p:sp>
      <p:pic>
        <p:nvPicPr>
          <p:cNvPr id="35" name="Image 4" descr="preencoded.png">    </p:cNvPr>
          <p:cNvPicPr>
            <a:picLocks noChangeAspect="1"/>
          </p:cNvPicPr>
          <p:nvPr/>
        </p:nvPicPr>
        <p:blipFill>
          <a:blip r:embed="rId5"/>
          <a:stretch>
            <a:fillRect/>
          </a:stretch>
        </p:blipFill>
        <p:spPr>
          <a:xfrm>
            <a:off x="10056937" y="2073859"/>
            <a:ext cx="332842" cy="332842"/>
          </a:xfrm>
          <a:prstGeom prst="rect">
            <a:avLst/>
          </a:prstGeom>
        </p:spPr>
      </p:pic>
      <p:sp>
        <p:nvSpPr>
          <p:cNvPr id="36" name="Text 29"/>
          <p:cNvSpPr txBox="1"/>
          <p:nvPr/>
        </p:nvSpPr>
        <p:spPr>
          <a:xfrm>
            <a:off x="10662270" y="1920240"/>
            <a:ext cx="889345" cy="640080"/>
          </a:xfrm>
          <a:prstGeom prst="rect">
            <a:avLst/>
          </a:prstGeom>
          <a:noFill/>
          <a:ln/>
        </p:spPr>
        <p:txBody>
          <a:bodyPr wrap="square" lIns="0" tIns="0" rIns="0" bIns="0" rtlCol="0" anchor="ctr"/>
          <a:lstStyle/>
          <a:p>
            <a:pPr indent="0" marL="0">
              <a:buNone/>
            </a:pPr>
            <a:r>
              <a:rPr lang="en-US" sz="1200" b="1" spc="200" kern="0" dirty="0">
                <a:solidFill>
                  <a:srgbClr val="8FB9A8"/>
                </a:solidFill>
                <a:latin typeface="Calibri" pitchFamily="34" charset="0"/>
                <a:ea typeface="Calibri" pitchFamily="34" charset="-122"/>
                <a:cs typeface="Calibri" pitchFamily="34" charset="-120"/>
              </a:rPr>
              <a:t>ШАГ 5</a:t>
            </a:r>
            <a:endParaRPr lang="en-US" sz="1200" dirty="0"/>
          </a:p>
        </p:txBody>
      </p:sp>
      <p:sp>
        <p:nvSpPr>
          <p:cNvPr id="37" name="Text 30"/>
          <p:cNvSpPr txBox="1"/>
          <p:nvPr/>
        </p:nvSpPr>
        <p:spPr>
          <a:xfrm>
            <a:off x="9903318" y="2697480"/>
            <a:ext cx="1575145"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Глава администрации</a:t>
            </a:r>
            <a:endParaRPr lang="en-US" sz="1700" dirty="0"/>
          </a:p>
        </p:txBody>
      </p:sp>
      <p:sp>
        <p:nvSpPr>
          <p:cNvPr id="38" name="Text 31"/>
          <p:cNvSpPr txBox="1"/>
          <p:nvPr/>
        </p:nvSpPr>
        <p:spPr>
          <a:xfrm>
            <a:off x="9903318" y="3291840"/>
            <a:ext cx="1575145" cy="1097280"/>
          </a:xfrm>
          <a:prstGeom prst="rect">
            <a:avLst/>
          </a:prstGeom>
          <a:noFill/>
          <a:ln/>
        </p:spPr>
        <p:txBody>
          <a:bodyPr wrap="square" lIns="0" tIns="0" rIns="0" bIns="0" rtlCol="0" anchor="t"/>
          <a:lstStyle/>
          <a:p>
            <a:pPr indent="0" marL="0">
              <a:buNone/>
            </a:pPr>
            <a:r>
              <a:rPr lang="en-US" sz="1400" dirty="0">
                <a:solidFill>
                  <a:srgbClr val="D3E3DB"/>
                </a:solidFill>
                <a:latin typeface="Calibri" pitchFamily="34" charset="0"/>
                <a:ea typeface="Calibri" pitchFamily="34" charset="-122"/>
                <a:cs typeface="Calibri" pitchFamily="34" charset="-120"/>
              </a:rPr>
              <a:t>За 3 дня принимает решение; его можно оспорить в суде</a:t>
            </a:r>
            <a:endParaRPr lang="en-US" sz="1400" dirty="0"/>
          </a:p>
        </p:txBody>
      </p:sp>
      <p:sp>
        <p:nvSpPr>
          <p:cNvPr id="39" name="Shape 32"/>
          <p:cNvSpPr/>
          <p:nvPr/>
        </p:nvSpPr>
        <p:spPr>
          <a:xfrm>
            <a:off x="548640" y="4754880"/>
            <a:ext cx="11094415" cy="1280160"/>
          </a:xfrm>
          <a:prstGeom prst="roundRect">
            <a:avLst>
              <a:gd name="adj" fmla="val 8571"/>
            </a:avLst>
          </a:prstGeom>
          <a:solidFill>
            <a:srgbClr val="FBEADF"/>
          </a:solidFill>
          <a:ln w="12700">
            <a:solidFill>
              <a:srgbClr val="FBEADF"/>
            </a:solidFill>
            <a:prstDash val="solid"/>
          </a:ln>
        </p:spPr>
      </p:sp>
      <p:sp>
        <p:nvSpPr>
          <p:cNvPr id="40" name="Shape 33"/>
          <p:cNvSpPr/>
          <p:nvPr/>
        </p:nvSpPr>
        <p:spPr>
          <a:xfrm>
            <a:off x="822960" y="5029200"/>
            <a:ext cx="731520" cy="731520"/>
          </a:xfrm>
          <a:prstGeom prst="roundRect">
            <a:avLst>
              <a:gd name="adj" fmla="val 18000"/>
            </a:avLst>
          </a:prstGeom>
          <a:solidFill>
            <a:srgbClr val="D9692E"/>
          </a:solidFill>
          <a:ln w="12700">
            <a:solidFill>
              <a:srgbClr val="D9692E"/>
            </a:solidFill>
            <a:prstDash val="solid"/>
          </a:ln>
        </p:spPr>
      </p:sp>
      <p:pic>
        <p:nvPicPr>
          <p:cNvPr id="41" name="Image 5" descr="preencoded.png">    </p:cNvPr>
          <p:cNvPicPr>
            <a:picLocks noChangeAspect="1"/>
          </p:cNvPicPr>
          <p:nvPr/>
        </p:nvPicPr>
        <p:blipFill>
          <a:blip r:embed="rId6"/>
          <a:stretch>
            <a:fillRect/>
          </a:stretch>
        </p:blipFill>
        <p:spPr>
          <a:xfrm>
            <a:off x="998525" y="5204765"/>
            <a:ext cx="380390" cy="380390"/>
          </a:xfrm>
          <a:prstGeom prst="rect">
            <a:avLst/>
          </a:prstGeom>
        </p:spPr>
      </p:pic>
      <p:sp>
        <p:nvSpPr>
          <p:cNvPr id="42" name="Text 34"/>
          <p:cNvSpPr txBox="1"/>
          <p:nvPr/>
        </p:nvSpPr>
        <p:spPr>
          <a:xfrm>
            <a:off x="1783080" y="4846320"/>
            <a:ext cx="9631375" cy="109728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Мнение жителей и рекомендации комиссии — промежуточные этапы. Последнее слово остаётся за одним должностным лицом.</a:t>
            </a: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2 · ПОЧЕМУ ВЫБРАНА СТАТЬЯ</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Почему выбрана именно эта статья</a:t>
            </a:r>
            <a:endParaRPr lang="en-US" sz="3000" dirty="0"/>
          </a:p>
        </p:txBody>
      </p:sp>
      <p:sp>
        <p:nvSpPr>
          <p:cNvPr id="5" name="Shape 3"/>
          <p:cNvSpPr/>
          <p:nvPr/>
        </p:nvSpPr>
        <p:spPr>
          <a:xfrm>
            <a:off x="548640" y="1737360"/>
            <a:ext cx="3484778" cy="3931920"/>
          </a:xfrm>
          <a:prstGeom prst="roundRect">
            <a:avLst>
              <a:gd name="adj" fmla="val 3149"/>
            </a:avLst>
          </a:prstGeom>
          <a:solidFill>
            <a:srgbClr val="EEF3F0"/>
          </a:solidFill>
          <a:ln w="12700">
            <a:solidFill>
              <a:srgbClr val="EEF3F0"/>
            </a:solidFill>
            <a:prstDash val="solid"/>
          </a:ln>
        </p:spPr>
      </p:sp>
      <p:sp>
        <p:nvSpPr>
          <p:cNvPr id="6" name="Shape 4"/>
          <p:cNvSpPr/>
          <p:nvPr/>
        </p:nvSpPr>
        <p:spPr>
          <a:xfrm>
            <a:off x="868680" y="2084832"/>
            <a:ext cx="868680" cy="868680"/>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1077163" y="2293315"/>
            <a:ext cx="451714" cy="451714"/>
          </a:xfrm>
          <a:prstGeom prst="rect">
            <a:avLst/>
          </a:prstGeom>
        </p:spPr>
      </p:pic>
      <p:sp>
        <p:nvSpPr>
          <p:cNvPr id="8" name="Text 5"/>
          <p:cNvSpPr txBox="1"/>
          <p:nvPr/>
        </p:nvSpPr>
        <p:spPr>
          <a:xfrm>
            <a:off x="868680" y="3200400"/>
            <a:ext cx="2844698" cy="868680"/>
          </a:xfrm>
          <a:prstGeom prst="rect">
            <a:avLst/>
          </a:prstGeom>
          <a:noFill/>
          <a:ln/>
        </p:spPr>
        <p:txBody>
          <a:bodyPr wrap="square" lIns="0" tIns="0" rIns="0" bIns="0" rtlCol="0" anchor="t"/>
          <a:lstStyle/>
          <a:p>
            <a:pPr indent="0" marL="0">
              <a:buNone/>
            </a:pPr>
            <a:r>
              <a:rPr lang="en-US" sz="2000" b="1" dirty="0">
                <a:solidFill>
                  <a:srgbClr val="163A33"/>
                </a:solidFill>
                <a:latin typeface="Calibri" pitchFamily="34" charset="0"/>
                <a:ea typeface="Calibri" pitchFamily="34" charset="-122"/>
                <a:cs typeface="Calibri" pitchFamily="34" charset="-120"/>
              </a:rPr>
              <a:t>Практическая значимость</a:t>
            </a:r>
            <a:endParaRPr lang="en-US" sz="2000" dirty="0"/>
          </a:p>
        </p:txBody>
      </p:sp>
      <p:sp>
        <p:nvSpPr>
          <p:cNvPr id="9" name="Text 6"/>
          <p:cNvSpPr txBox="1"/>
          <p:nvPr/>
        </p:nvSpPr>
        <p:spPr>
          <a:xfrm>
            <a:off x="868680" y="4114800"/>
            <a:ext cx="2844698" cy="141732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Через эту процедуру проходят магазины, кафе, гостиницы и другие объекты, которые регламент допускает только по разрешению</a:t>
            </a:r>
            <a:endParaRPr lang="en-US" sz="1600" dirty="0"/>
          </a:p>
        </p:txBody>
      </p:sp>
      <p:sp>
        <p:nvSpPr>
          <p:cNvPr id="10" name="Shape 7"/>
          <p:cNvSpPr/>
          <p:nvPr/>
        </p:nvSpPr>
        <p:spPr>
          <a:xfrm>
            <a:off x="4353458" y="1737360"/>
            <a:ext cx="3484778" cy="3931920"/>
          </a:xfrm>
          <a:prstGeom prst="roundRect">
            <a:avLst>
              <a:gd name="adj" fmla="val 3149"/>
            </a:avLst>
          </a:prstGeom>
          <a:solidFill>
            <a:srgbClr val="EEF3F0"/>
          </a:solidFill>
          <a:ln w="12700">
            <a:solidFill>
              <a:srgbClr val="EEF3F0"/>
            </a:solidFill>
            <a:prstDash val="solid"/>
          </a:ln>
        </p:spPr>
      </p:sp>
      <p:sp>
        <p:nvSpPr>
          <p:cNvPr id="11" name="Shape 8"/>
          <p:cNvSpPr/>
          <p:nvPr/>
        </p:nvSpPr>
        <p:spPr>
          <a:xfrm>
            <a:off x="4673498" y="2084832"/>
            <a:ext cx="868680" cy="868680"/>
          </a:xfrm>
          <a:prstGeom prst="roundRect">
            <a:avLst>
              <a:gd name="adj" fmla="val 18000"/>
            </a:avLst>
          </a:prstGeom>
          <a:solidFill>
            <a:srgbClr val="163A33"/>
          </a:solidFill>
          <a:ln w="12700">
            <a:solidFill>
              <a:srgbClr val="163A33"/>
            </a:solidFill>
            <a:prstDash val="solid"/>
          </a:ln>
        </p:spPr>
      </p:sp>
      <p:pic>
        <p:nvPicPr>
          <p:cNvPr id="12" name="Image 1" descr="preencoded.png">    </p:cNvPr>
          <p:cNvPicPr>
            <a:picLocks noChangeAspect="1"/>
          </p:cNvPicPr>
          <p:nvPr/>
        </p:nvPicPr>
        <p:blipFill>
          <a:blip r:embed="rId2"/>
          <a:stretch>
            <a:fillRect/>
          </a:stretch>
        </p:blipFill>
        <p:spPr>
          <a:xfrm>
            <a:off x="4881982" y="2293315"/>
            <a:ext cx="451714" cy="451714"/>
          </a:xfrm>
          <a:prstGeom prst="rect">
            <a:avLst/>
          </a:prstGeom>
        </p:spPr>
      </p:pic>
      <p:sp>
        <p:nvSpPr>
          <p:cNvPr id="13" name="Text 9"/>
          <p:cNvSpPr txBox="1"/>
          <p:nvPr/>
        </p:nvSpPr>
        <p:spPr>
          <a:xfrm>
            <a:off x="4673498" y="3200400"/>
            <a:ext cx="2844698" cy="868680"/>
          </a:xfrm>
          <a:prstGeom prst="rect">
            <a:avLst/>
          </a:prstGeom>
          <a:noFill/>
          <a:ln/>
        </p:spPr>
        <p:txBody>
          <a:bodyPr wrap="square" lIns="0" tIns="0" rIns="0" bIns="0" rtlCol="0" anchor="t"/>
          <a:lstStyle/>
          <a:p>
            <a:pPr indent="0" marL="0">
              <a:buNone/>
            </a:pPr>
            <a:r>
              <a:rPr lang="en-US" sz="2000" b="1" dirty="0">
                <a:solidFill>
                  <a:srgbClr val="163A33"/>
                </a:solidFill>
                <a:latin typeface="Calibri" pitchFamily="34" charset="0"/>
                <a:ea typeface="Calibri" pitchFamily="34" charset="-122"/>
                <a:cs typeface="Calibri" pitchFamily="34" charset="-120"/>
              </a:rPr>
              <a:t>Баланс частных и публичных интересов</a:t>
            </a:r>
            <a:endParaRPr lang="en-US" sz="2000" dirty="0"/>
          </a:p>
        </p:txBody>
      </p:sp>
      <p:sp>
        <p:nvSpPr>
          <p:cNvPr id="14" name="Text 10"/>
          <p:cNvSpPr txBox="1"/>
          <p:nvPr/>
        </p:nvSpPr>
        <p:spPr>
          <a:xfrm>
            <a:off x="4673498" y="4114800"/>
            <a:ext cx="2844698" cy="141732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Сталкиваются интересы правообладателя, который хочет использовать участок, и соседей, которые живут рядом</a:t>
            </a:r>
            <a:endParaRPr lang="en-US" sz="1600" dirty="0"/>
          </a:p>
        </p:txBody>
      </p:sp>
      <p:sp>
        <p:nvSpPr>
          <p:cNvPr id="15" name="Shape 11"/>
          <p:cNvSpPr/>
          <p:nvPr/>
        </p:nvSpPr>
        <p:spPr>
          <a:xfrm>
            <a:off x="8158277" y="1737360"/>
            <a:ext cx="3484778" cy="3931920"/>
          </a:xfrm>
          <a:prstGeom prst="roundRect">
            <a:avLst>
              <a:gd name="adj" fmla="val 3149"/>
            </a:avLst>
          </a:prstGeom>
          <a:solidFill>
            <a:srgbClr val="FBEADF"/>
          </a:solidFill>
          <a:ln w="12700">
            <a:solidFill>
              <a:srgbClr val="FBEADF"/>
            </a:solidFill>
            <a:prstDash val="solid"/>
          </a:ln>
        </p:spPr>
      </p:sp>
      <p:sp>
        <p:nvSpPr>
          <p:cNvPr id="16" name="Shape 12"/>
          <p:cNvSpPr/>
          <p:nvPr/>
        </p:nvSpPr>
        <p:spPr>
          <a:xfrm>
            <a:off x="8478317" y="2084832"/>
            <a:ext cx="868680" cy="868680"/>
          </a:xfrm>
          <a:prstGeom prst="roundRect">
            <a:avLst>
              <a:gd name="adj" fmla="val 18000"/>
            </a:avLst>
          </a:prstGeom>
          <a:solidFill>
            <a:srgbClr val="D9692E"/>
          </a:solidFill>
          <a:ln w="12700">
            <a:solidFill>
              <a:srgbClr val="D9692E"/>
            </a:solidFill>
            <a:prstDash val="solid"/>
          </a:ln>
        </p:spPr>
      </p:sp>
      <p:pic>
        <p:nvPicPr>
          <p:cNvPr id="17" name="Image 2" descr="preencoded.png">    </p:cNvPr>
          <p:cNvPicPr>
            <a:picLocks noChangeAspect="1"/>
          </p:cNvPicPr>
          <p:nvPr/>
        </p:nvPicPr>
        <p:blipFill>
          <a:blip r:embed="rId3"/>
          <a:stretch>
            <a:fillRect/>
          </a:stretch>
        </p:blipFill>
        <p:spPr>
          <a:xfrm>
            <a:off x="8686800" y="2293315"/>
            <a:ext cx="451714" cy="451714"/>
          </a:xfrm>
          <a:prstGeom prst="rect">
            <a:avLst/>
          </a:prstGeom>
        </p:spPr>
      </p:pic>
      <p:sp>
        <p:nvSpPr>
          <p:cNvPr id="18" name="Text 13"/>
          <p:cNvSpPr txBox="1"/>
          <p:nvPr/>
        </p:nvSpPr>
        <p:spPr>
          <a:xfrm>
            <a:off x="8478317" y="3200400"/>
            <a:ext cx="2844698" cy="868680"/>
          </a:xfrm>
          <a:prstGeom prst="rect">
            <a:avLst/>
          </a:prstGeom>
          <a:noFill/>
          <a:ln/>
        </p:spPr>
        <p:txBody>
          <a:bodyPr wrap="square" lIns="0" tIns="0" rIns="0" bIns="0" rtlCol="0" anchor="t"/>
          <a:lstStyle/>
          <a:p>
            <a:pPr indent="0" marL="0">
              <a:buNone/>
            </a:pPr>
            <a:r>
              <a:rPr lang="en-US" sz="2000" b="1" dirty="0">
                <a:solidFill>
                  <a:srgbClr val="163A33"/>
                </a:solidFill>
                <a:latin typeface="Calibri" pitchFamily="34" charset="0"/>
                <a:ea typeface="Calibri" pitchFamily="34" charset="-122"/>
                <a:cs typeface="Calibri" pitchFamily="34" charset="-120"/>
              </a:rPr>
              <a:t>Антикоррупционный ракурс</a:t>
            </a:r>
            <a:endParaRPr lang="en-US" sz="2000" dirty="0"/>
          </a:p>
        </p:txBody>
      </p:sp>
      <p:sp>
        <p:nvSpPr>
          <p:cNvPr id="19" name="Text 14"/>
          <p:cNvSpPr txBox="1"/>
          <p:nvPr/>
        </p:nvSpPr>
        <p:spPr>
          <a:xfrm>
            <a:off x="8478317" y="4114800"/>
            <a:ext cx="2844698" cy="141732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Решение принимает одно должностное лицо без закрытого перечня оснований — учебный пример «широты дискреционных полномочий»</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2 · СЛОЖНОСТЬ 1</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Широкое усмотрение главы администрации</a:t>
            </a:r>
            <a:endParaRPr lang="en-US" sz="3000" dirty="0"/>
          </a:p>
        </p:txBody>
      </p:sp>
      <p:sp>
        <p:nvSpPr>
          <p:cNvPr id="5" name="Shape 3"/>
          <p:cNvSpPr/>
          <p:nvPr/>
        </p:nvSpPr>
        <p:spPr>
          <a:xfrm>
            <a:off x="548640" y="1645920"/>
            <a:ext cx="11094415" cy="1481328"/>
          </a:xfrm>
          <a:prstGeom prst="roundRect">
            <a:avLst>
              <a:gd name="adj" fmla="val 7407"/>
            </a:avLst>
          </a:prstGeom>
          <a:solidFill>
            <a:srgbClr val="163A33"/>
          </a:solidFill>
          <a:ln w="12700">
            <a:solidFill>
              <a:srgbClr val="163A33"/>
            </a:solidFill>
            <a:prstDash val="solid"/>
          </a:ln>
        </p:spPr>
      </p:sp>
      <p:sp>
        <p:nvSpPr>
          <p:cNvPr id="6" name="Text 4"/>
          <p:cNvSpPr txBox="1"/>
          <p:nvPr/>
        </p:nvSpPr>
        <p:spPr>
          <a:xfrm>
            <a:off x="822960" y="1627632"/>
            <a:ext cx="731520" cy="914400"/>
          </a:xfrm>
          <a:prstGeom prst="rect">
            <a:avLst/>
          </a:prstGeom>
          <a:noFill/>
          <a:ln/>
        </p:spPr>
        <p:txBody>
          <a:bodyPr wrap="square" lIns="0" tIns="0" rIns="0" bIns="0" rtlCol="0" anchor="t"/>
          <a:lstStyle/>
          <a:p>
            <a:pPr indent="0" marL="0">
              <a:buNone/>
            </a:pPr>
            <a:r>
              <a:rPr lang="en-US" sz="7200" b="1" dirty="0">
                <a:solidFill>
                  <a:srgbClr val="D9692E"/>
                </a:solidFill>
                <a:latin typeface="Cambria" pitchFamily="34" charset="0"/>
                <a:ea typeface="Cambria" pitchFamily="34" charset="-122"/>
                <a:cs typeface="Cambria" pitchFamily="34" charset="-120"/>
              </a:rPr>
              <a:t>“</a:t>
            </a:r>
            <a:endParaRPr lang="en-US" sz="7200" dirty="0"/>
          </a:p>
        </p:txBody>
      </p:sp>
      <p:sp>
        <p:nvSpPr>
          <p:cNvPr id="7" name="Text 5"/>
          <p:cNvSpPr txBox="1"/>
          <p:nvPr/>
        </p:nvSpPr>
        <p:spPr>
          <a:xfrm>
            <a:off x="1600200" y="1783080"/>
            <a:ext cx="9722815" cy="86868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«…глава местной администрации … принимает решение о предоставлении разрешения на условно разрешенный вид использования или об отказе в предоставлении такого разрешения»</a:t>
            </a:r>
            <a:endParaRPr lang="en-US" sz="1800" dirty="0"/>
          </a:p>
        </p:txBody>
      </p:sp>
      <p:sp>
        <p:nvSpPr>
          <p:cNvPr id="8" name="Text 6"/>
          <p:cNvSpPr txBox="1"/>
          <p:nvPr/>
        </p:nvSpPr>
        <p:spPr>
          <a:xfrm>
            <a:off x="1600200" y="2670048"/>
            <a:ext cx="9722815" cy="329184"/>
          </a:xfrm>
          <a:prstGeom prst="rect">
            <a:avLst/>
          </a:prstGeom>
          <a:noFill/>
          <a:ln/>
        </p:spPr>
        <p:txBody>
          <a:bodyPr wrap="square" lIns="0" tIns="0" rIns="0" bIns="0" rtlCol="0" anchor="ctr"/>
          <a:lstStyle/>
          <a:p>
            <a:pPr indent="0" marL="0">
              <a:buNone/>
            </a:pPr>
            <a:r>
              <a:rPr lang="en-US" sz="1300" b="1" dirty="0">
                <a:solidFill>
                  <a:srgbClr val="8FB9A8"/>
                </a:solidFill>
                <a:latin typeface="Calibri" pitchFamily="34" charset="0"/>
                <a:ea typeface="Calibri" pitchFamily="34" charset="-122"/>
                <a:cs typeface="Calibri" pitchFamily="34" charset="-120"/>
              </a:rPr>
              <a:t>— ч. 9 ст. 39 ГрК РФ</a:t>
            </a:r>
            <a:endParaRPr lang="en-US" sz="1300" dirty="0"/>
          </a:p>
        </p:txBody>
      </p:sp>
      <p:sp>
        <p:nvSpPr>
          <p:cNvPr id="9" name="Shape 7"/>
          <p:cNvSpPr/>
          <p:nvPr/>
        </p:nvSpPr>
        <p:spPr>
          <a:xfrm>
            <a:off x="548640" y="3493008"/>
            <a:ext cx="530352" cy="530352"/>
          </a:xfrm>
          <a:prstGeom prst="roundRect">
            <a:avLst>
              <a:gd name="adj" fmla="val 18000"/>
            </a:avLst>
          </a:prstGeom>
          <a:solidFill>
            <a:srgbClr val="D9692E"/>
          </a:solidFill>
          <a:ln w="12700">
            <a:solidFill>
              <a:srgbClr val="D9692E"/>
            </a:solidFill>
            <a:prstDash val="solid"/>
          </a:ln>
        </p:spPr>
      </p:sp>
      <p:sp>
        <p:nvSpPr>
          <p:cNvPr id="10" name="Text 8"/>
          <p:cNvSpPr txBox="1"/>
          <p:nvPr/>
        </p:nvSpPr>
        <p:spPr>
          <a:xfrm>
            <a:off x="548640" y="3493008"/>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1" name="Text 9"/>
          <p:cNvSpPr txBox="1"/>
          <p:nvPr/>
        </p:nvSpPr>
        <p:spPr>
          <a:xfrm>
            <a:off x="1325880" y="3383280"/>
            <a:ext cx="10271455" cy="82296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Закон не называет оснований для отказа (кроме самовольной постройки, ч. 11.1) — выбор между «да» и «нет» остаётся на усмотрении главы</a:t>
            </a:r>
            <a:endParaRPr lang="en-US" sz="1500" dirty="0"/>
          </a:p>
        </p:txBody>
      </p:sp>
      <p:sp>
        <p:nvSpPr>
          <p:cNvPr id="12" name="Shape 10"/>
          <p:cNvSpPr/>
          <p:nvPr/>
        </p:nvSpPr>
        <p:spPr>
          <a:xfrm>
            <a:off x="548640" y="4389120"/>
            <a:ext cx="530352" cy="530352"/>
          </a:xfrm>
          <a:prstGeom prst="roundRect">
            <a:avLst>
              <a:gd name="adj" fmla="val 18000"/>
            </a:avLst>
          </a:prstGeom>
          <a:solidFill>
            <a:srgbClr val="D9692E"/>
          </a:solidFill>
          <a:ln w="12700">
            <a:solidFill>
              <a:srgbClr val="D9692E"/>
            </a:solidFill>
            <a:prstDash val="solid"/>
          </a:ln>
        </p:spPr>
      </p:sp>
      <p:sp>
        <p:nvSpPr>
          <p:cNvPr id="13" name="Text 11"/>
          <p:cNvSpPr txBox="1"/>
          <p:nvPr/>
        </p:nvSpPr>
        <p:spPr>
          <a:xfrm>
            <a:off x="548640" y="4389120"/>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1325880" y="4279392"/>
            <a:ext cx="10271455" cy="82296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Методика антикоррупционной экспертизы (Постановление Правительства РФ от 26.02.2010 № 96): отсутствие или неопределённость оснований принятия решения — «широта дискреционных полномочий», коррупциогенный фактор</a:t>
            </a:r>
            <a:endParaRPr lang="en-US" sz="1500" dirty="0"/>
          </a:p>
        </p:txBody>
      </p:sp>
      <p:sp>
        <p:nvSpPr>
          <p:cNvPr id="15" name="Shape 13"/>
          <p:cNvSpPr/>
          <p:nvPr/>
        </p:nvSpPr>
        <p:spPr>
          <a:xfrm>
            <a:off x="548640" y="5285232"/>
            <a:ext cx="530352" cy="530352"/>
          </a:xfrm>
          <a:prstGeom prst="roundRect">
            <a:avLst>
              <a:gd name="adj" fmla="val 18000"/>
            </a:avLst>
          </a:prstGeom>
          <a:solidFill>
            <a:srgbClr val="D9692E"/>
          </a:solidFill>
          <a:ln w="12700">
            <a:solidFill>
              <a:srgbClr val="D9692E"/>
            </a:solidFill>
            <a:prstDash val="solid"/>
          </a:ln>
        </p:spPr>
      </p:sp>
      <p:sp>
        <p:nvSpPr>
          <p:cNvPr id="16" name="Text 14"/>
          <p:cNvSpPr txBox="1"/>
          <p:nvPr/>
        </p:nvSpPr>
        <p:spPr>
          <a:xfrm>
            <a:off x="548640" y="52852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1325880" y="5175504"/>
            <a:ext cx="10271455" cy="822960"/>
          </a:xfrm>
          <a:prstGeom prst="rect">
            <a:avLst/>
          </a:prstGeom>
          <a:noFill/>
          <a:ln/>
        </p:spPr>
        <p:txBody>
          <a:bodyPr wrap="square" lIns="0" tIns="0" rIns="0" bIns="0" rtlCol="0" anchor="ctr"/>
          <a:lstStyle/>
          <a:p>
            <a:pPr indent="0" marL="0">
              <a:buNone/>
            </a:pPr>
            <a:r>
              <a:rPr lang="en-US" sz="1500" dirty="0">
                <a:solidFill>
                  <a:srgbClr val="1B2421"/>
                </a:solidFill>
                <a:latin typeface="Calibri" pitchFamily="34" charset="0"/>
                <a:ea typeface="Calibri" pitchFamily="34" charset="-122"/>
                <a:cs typeface="Calibri" pitchFamily="34" charset="-120"/>
              </a:rPr>
              <a:t>Пробел заполняют муниципальные регламенты: в деле № А17-10818/2020 основание для отказа добавили в регламент уже после подачи заявления — суды признали отказ незаконным</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2 · СЛОЖНОСТЬ 2</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Слушания: защита или формальность</a:t>
            </a:r>
            <a:endParaRPr lang="en-US" sz="3000" dirty="0"/>
          </a:p>
        </p:txBody>
      </p:sp>
      <p:sp>
        <p:nvSpPr>
          <p:cNvPr id="5" name="Shape 3"/>
          <p:cNvSpPr/>
          <p:nvPr/>
        </p:nvSpPr>
        <p:spPr>
          <a:xfrm>
            <a:off x="548640" y="1691640"/>
            <a:ext cx="5387188" cy="3337560"/>
          </a:xfrm>
          <a:prstGeom prst="roundRect">
            <a:avLst>
              <a:gd name="adj" fmla="val 3288"/>
            </a:avLst>
          </a:prstGeom>
          <a:solidFill>
            <a:srgbClr val="EEF3F0"/>
          </a:solidFill>
          <a:ln w="12700">
            <a:solidFill>
              <a:srgbClr val="EEF3F0"/>
            </a:solidFill>
            <a:prstDash val="solid"/>
          </a:ln>
        </p:spPr>
      </p:sp>
      <p:sp>
        <p:nvSpPr>
          <p:cNvPr id="6" name="Shape 4"/>
          <p:cNvSpPr/>
          <p:nvPr/>
        </p:nvSpPr>
        <p:spPr>
          <a:xfrm>
            <a:off x="822960" y="1947672"/>
            <a:ext cx="685800" cy="685800"/>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987552" y="2112264"/>
            <a:ext cx="356616" cy="356616"/>
          </a:xfrm>
          <a:prstGeom prst="rect">
            <a:avLst/>
          </a:prstGeom>
        </p:spPr>
      </p:pic>
      <p:sp>
        <p:nvSpPr>
          <p:cNvPr id="8" name="Text 5"/>
          <p:cNvSpPr txBox="1"/>
          <p:nvPr/>
        </p:nvSpPr>
        <p:spPr>
          <a:xfrm>
            <a:off x="1691640" y="1947672"/>
            <a:ext cx="4015588" cy="685800"/>
          </a:xfrm>
          <a:prstGeom prst="rect">
            <a:avLst/>
          </a:prstGeom>
          <a:noFill/>
          <a:ln/>
        </p:spPr>
        <p:txBody>
          <a:bodyPr wrap="square" lIns="0" tIns="0" rIns="0" bIns="0" rtlCol="0" anchor="ctr"/>
          <a:lstStyle/>
          <a:p>
            <a:pPr indent="0" marL="0">
              <a:buNone/>
            </a:pPr>
            <a:r>
              <a:rPr lang="en-US" sz="2000" b="1" dirty="0">
                <a:solidFill>
                  <a:srgbClr val="163A33"/>
                </a:solidFill>
                <a:latin typeface="Calibri" pitchFamily="34" charset="0"/>
                <a:ea typeface="Calibri" pitchFamily="34" charset="-122"/>
                <a:cs typeface="Calibri" pitchFamily="34" charset="-120"/>
              </a:rPr>
              <a:t>Риск для заявителя</a:t>
            </a:r>
            <a:endParaRPr lang="en-US" sz="2000" dirty="0"/>
          </a:p>
        </p:txBody>
      </p:sp>
      <p:sp>
        <p:nvSpPr>
          <p:cNvPr id="9" name="Shape 6"/>
          <p:cNvSpPr/>
          <p:nvPr/>
        </p:nvSpPr>
        <p:spPr>
          <a:xfrm>
            <a:off x="868680" y="2999232"/>
            <a:ext cx="118872" cy="118872"/>
          </a:xfrm>
          <a:prstGeom prst="rect">
            <a:avLst/>
          </a:prstGeom>
          <a:solidFill>
            <a:srgbClr val="D9692E"/>
          </a:solidFill>
          <a:ln w="12700">
            <a:solidFill>
              <a:srgbClr val="D9692E"/>
            </a:solidFill>
            <a:prstDash val="solid"/>
          </a:ln>
        </p:spPr>
      </p:sp>
      <p:sp>
        <p:nvSpPr>
          <p:cNvPr id="10" name="Text 7"/>
          <p:cNvSpPr txBox="1"/>
          <p:nvPr/>
        </p:nvSpPr>
        <p:spPr>
          <a:xfrm>
            <a:off x="1143000" y="2880360"/>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Расходы на обсуждения несёт он сам (ч. 10)</a:t>
            </a:r>
            <a:endParaRPr lang="en-US" sz="1500" dirty="0"/>
          </a:p>
        </p:txBody>
      </p:sp>
      <p:sp>
        <p:nvSpPr>
          <p:cNvPr id="11" name="Shape 8"/>
          <p:cNvSpPr/>
          <p:nvPr/>
        </p:nvSpPr>
        <p:spPr>
          <a:xfrm>
            <a:off x="868680" y="3694176"/>
            <a:ext cx="118872" cy="118872"/>
          </a:xfrm>
          <a:prstGeom prst="rect">
            <a:avLst/>
          </a:prstGeom>
          <a:solidFill>
            <a:srgbClr val="D9692E"/>
          </a:solidFill>
          <a:ln w="12700">
            <a:solidFill>
              <a:srgbClr val="D9692E"/>
            </a:solidFill>
            <a:prstDash val="solid"/>
          </a:ln>
        </p:spPr>
      </p:sp>
      <p:sp>
        <p:nvSpPr>
          <p:cNvPr id="12" name="Text 9"/>
          <p:cNvSpPr txBox="1"/>
          <p:nvPr/>
        </p:nvSpPr>
        <p:spPr>
          <a:xfrm>
            <a:off x="1143000" y="3575304"/>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Положительные итоги не гарантируют разрешения</a:t>
            </a:r>
            <a:endParaRPr lang="en-US" sz="1500" dirty="0"/>
          </a:p>
        </p:txBody>
      </p:sp>
      <p:sp>
        <p:nvSpPr>
          <p:cNvPr id="13" name="Shape 10"/>
          <p:cNvSpPr/>
          <p:nvPr/>
        </p:nvSpPr>
        <p:spPr>
          <a:xfrm>
            <a:off x="868680" y="4389120"/>
            <a:ext cx="118872" cy="118872"/>
          </a:xfrm>
          <a:prstGeom prst="rect">
            <a:avLst/>
          </a:prstGeom>
          <a:solidFill>
            <a:srgbClr val="D9692E"/>
          </a:solidFill>
          <a:ln w="12700">
            <a:solidFill>
              <a:srgbClr val="D9692E"/>
            </a:solidFill>
            <a:prstDash val="solid"/>
          </a:ln>
        </p:spPr>
      </p:sp>
      <p:sp>
        <p:nvSpPr>
          <p:cNvPr id="14" name="Text 11"/>
          <p:cNvSpPr txBox="1"/>
          <p:nvPr/>
        </p:nvSpPr>
        <p:spPr>
          <a:xfrm>
            <a:off x="1143000" y="4270248"/>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Возражения — удобный повод для отказа, даже если возражали люди, живущие в другом районе</a:t>
            </a:r>
            <a:endParaRPr lang="en-US" sz="1500" dirty="0"/>
          </a:p>
        </p:txBody>
      </p:sp>
      <p:sp>
        <p:nvSpPr>
          <p:cNvPr id="15" name="Shape 12"/>
          <p:cNvSpPr/>
          <p:nvPr/>
        </p:nvSpPr>
        <p:spPr>
          <a:xfrm>
            <a:off x="6255868" y="1691640"/>
            <a:ext cx="5387188" cy="3337560"/>
          </a:xfrm>
          <a:prstGeom prst="roundRect">
            <a:avLst>
              <a:gd name="adj" fmla="val 3288"/>
            </a:avLst>
          </a:prstGeom>
          <a:solidFill>
            <a:srgbClr val="EEF3F0"/>
          </a:solidFill>
          <a:ln w="12700">
            <a:solidFill>
              <a:srgbClr val="EEF3F0"/>
            </a:solidFill>
            <a:prstDash val="solid"/>
          </a:ln>
        </p:spPr>
      </p:sp>
      <p:sp>
        <p:nvSpPr>
          <p:cNvPr id="16" name="Shape 13"/>
          <p:cNvSpPr/>
          <p:nvPr/>
        </p:nvSpPr>
        <p:spPr>
          <a:xfrm>
            <a:off x="6530188" y="1947672"/>
            <a:ext cx="685800" cy="685800"/>
          </a:xfrm>
          <a:prstGeom prst="roundRect">
            <a:avLst>
              <a:gd name="adj" fmla="val 18000"/>
            </a:avLst>
          </a:prstGeom>
          <a:solidFill>
            <a:srgbClr val="1F4D44"/>
          </a:solidFill>
          <a:ln w="12700">
            <a:solidFill>
              <a:srgbClr val="1F4D44"/>
            </a:solidFill>
            <a:prstDash val="solid"/>
          </a:ln>
        </p:spPr>
      </p:sp>
      <p:pic>
        <p:nvPicPr>
          <p:cNvPr id="17" name="Image 1" descr="preencoded.png">    </p:cNvPr>
          <p:cNvPicPr>
            <a:picLocks noChangeAspect="1"/>
          </p:cNvPicPr>
          <p:nvPr/>
        </p:nvPicPr>
        <p:blipFill>
          <a:blip r:embed="rId2"/>
          <a:stretch>
            <a:fillRect/>
          </a:stretch>
        </p:blipFill>
        <p:spPr>
          <a:xfrm>
            <a:off x="6694780" y="2112264"/>
            <a:ext cx="356616" cy="356616"/>
          </a:xfrm>
          <a:prstGeom prst="rect">
            <a:avLst/>
          </a:prstGeom>
        </p:spPr>
      </p:pic>
      <p:sp>
        <p:nvSpPr>
          <p:cNvPr id="18" name="Text 14"/>
          <p:cNvSpPr txBox="1"/>
          <p:nvPr/>
        </p:nvSpPr>
        <p:spPr>
          <a:xfrm>
            <a:off x="7398868" y="1947672"/>
            <a:ext cx="4015588" cy="685800"/>
          </a:xfrm>
          <a:prstGeom prst="rect">
            <a:avLst/>
          </a:prstGeom>
          <a:noFill/>
          <a:ln/>
        </p:spPr>
        <p:txBody>
          <a:bodyPr wrap="square" lIns="0" tIns="0" rIns="0" bIns="0" rtlCol="0" anchor="ctr"/>
          <a:lstStyle/>
          <a:p>
            <a:pPr indent="0" marL="0">
              <a:buNone/>
            </a:pPr>
            <a:r>
              <a:rPr lang="en-US" sz="2000" b="1" dirty="0">
                <a:solidFill>
                  <a:srgbClr val="163A33"/>
                </a:solidFill>
                <a:latin typeface="Calibri" pitchFamily="34" charset="0"/>
                <a:ea typeface="Calibri" pitchFamily="34" charset="-122"/>
                <a:cs typeface="Calibri" pitchFamily="34" charset="-120"/>
              </a:rPr>
              <a:t>Риск для жителей</a:t>
            </a:r>
            <a:endParaRPr lang="en-US" sz="2000" dirty="0"/>
          </a:p>
        </p:txBody>
      </p:sp>
      <p:sp>
        <p:nvSpPr>
          <p:cNvPr id="19" name="Shape 15"/>
          <p:cNvSpPr/>
          <p:nvPr/>
        </p:nvSpPr>
        <p:spPr>
          <a:xfrm>
            <a:off x="6575908" y="2999232"/>
            <a:ext cx="118872" cy="118872"/>
          </a:xfrm>
          <a:prstGeom prst="rect">
            <a:avLst/>
          </a:prstGeom>
          <a:solidFill>
            <a:srgbClr val="D9692E"/>
          </a:solidFill>
          <a:ln w="12700">
            <a:solidFill>
              <a:srgbClr val="D9692E"/>
            </a:solidFill>
            <a:prstDash val="solid"/>
          </a:ln>
        </p:spPr>
      </p:sp>
      <p:sp>
        <p:nvSpPr>
          <p:cNvPr id="20" name="Text 16"/>
          <p:cNvSpPr txBox="1"/>
          <p:nvPr/>
        </p:nvSpPr>
        <p:spPr>
          <a:xfrm>
            <a:off x="6850228" y="2880360"/>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Итоги обсуждений носят рекомендательный характер (КС РФ, № 931-О-О)</a:t>
            </a:r>
            <a:endParaRPr lang="en-US" sz="1500" dirty="0"/>
          </a:p>
        </p:txBody>
      </p:sp>
      <p:sp>
        <p:nvSpPr>
          <p:cNvPr id="21" name="Shape 17"/>
          <p:cNvSpPr/>
          <p:nvPr/>
        </p:nvSpPr>
        <p:spPr>
          <a:xfrm>
            <a:off x="6575908" y="3694176"/>
            <a:ext cx="118872" cy="118872"/>
          </a:xfrm>
          <a:prstGeom prst="rect">
            <a:avLst/>
          </a:prstGeom>
          <a:solidFill>
            <a:srgbClr val="D9692E"/>
          </a:solidFill>
          <a:ln w="12700">
            <a:solidFill>
              <a:srgbClr val="D9692E"/>
            </a:solidFill>
            <a:prstDash val="solid"/>
          </a:ln>
        </p:spPr>
      </p:sp>
      <p:sp>
        <p:nvSpPr>
          <p:cNvPr id="22" name="Text 18"/>
          <p:cNvSpPr txBox="1"/>
          <p:nvPr/>
        </p:nvSpPr>
        <p:spPr>
          <a:xfrm>
            <a:off x="6850228" y="3575304"/>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Закон не говорит, как поступать, если мнение жителей и решение главы расходятся</a:t>
            </a:r>
            <a:endParaRPr lang="en-US" sz="1500" dirty="0"/>
          </a:p>
        </p:txBody>
      </p:sp>
      <p:sp>
        <p:nvSpPr>
          <p:cNvPr id="23" name="Shape 19"/>
          <p:cNvSpPr/>
          <p:nvPr/>
        </p:nvSpPr>
        <p:spPr>
          <a:xfrm>
            <a:off x="6575908" y="4389120"/>
            <a:ext cx="118872" cy="118872"/>
          </a:xfrm>
          <a:prstGeom prst="rect">
            <a:avLst/>
          </a:prstGeom>
          <a:solidFill>
            <a:srgbClr val="D9692E"/>
          </a:solidFill>
          <a:ln w="12700">
            <a:solidFill>
              <a:srgbClr val="D9692E"/>
            </a:solidFill>
            <a:prstDash val="solid"/>
          </a:ln>
        </p:spPr>
      </p:sp>
      <p:sp>
        <p:nvSpPr>
          <p:cNvPr id="24" name="Text 20"/>
          <p:cNvSpPr txBox="1"/>
          <p:nvPr/>
        </p:nvSpPr>
        <p:spPr>
          <a:xfrm>
            <a:off x="6850228" y="4270248"/>
            <a:ext cx="4518508" cy="658368"/>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Реальный контроль — только суд и прокуратура</a:t>
            </a:r>
            <a:endParaRPr lang="en-US" sz="1500" dirty="0"/>
          </a:p>
        </p:txBody>
      </p:sp>
      <p:sp>
        <p:nvSpPr>
          <p:cNvPr id="25" name="Shape 21"/>
          <p:cNvSpPr/>
          <p:nvPr/>
        </p:nvSpPr>
        <p:spPr>
          <a:xfrm>
            <a:off x="548640" y="5257800"/>
            <a:ext cx="11094415" cy="868680"/>
          </a:xfrm>
          <a:prstGeom prst="roundRect">
            <a:avLst>
              <a:gd name="adj" fmla="val 12632"/>
            </a:avLst>
          </a:prstGeom>
          <a:solidFill>
            <a:srgbClr val="FBEADF"/>
          </a:solidFill>
          <a:ln w="12700">
            <a:solidFill>
              <a:srgbClr val="FBEADF"/>
            </a:solidFill>
            <a:prstDash val="solid"/>
          </a:ln>
        </p:spPr>
      </p:sp>
      <p:sp>
        <p:nvSpPr>
          <p:cNvPr id="26" name="Text 22"/>
          <p:cNvSpPr txBox="1"/>
          <p:nvPr/>
        </p:nvSpPr>
        <p:spPr>
          <a:xfrm>
            <a:off x="868680" y="5257800"/>
            <a:ext cx="10454335" cy="868680"/>
          </a:xfrm>
          <a:prstGeom prst="rect">
            <a:avLst/>
          </a:prstGeom>
          <a:noFill/>
          <a:ln/>
        </p:spPr>
        <p:txBody>
          <a:bodyPr wrap="square" lIns="0" tIns="0" rIns="0" bIns="0" rtlCol="0" anchor="ctr"/>
          <a:lstStyle/>
          <a:p>
            <a:pPr indent="0" marL="0">
              <a:buNone/>
            </a:pPr>
            <a:r>
              <a:rPr lang="en-US" sz="1700" b="1" dirty="0">
                <a:solidFill>
                  <a:srgbClr val="163A33"/>
                </a:solidFill>
                <a:latin typeface="Calibri" pitchFamily="34" charset="0"/>
                <a:ea typeface="Calibri" pitchFamily="34" charset="-122"/>
                <a:cs typeface="Calibri" pitchFamily="34" charset="-120"/>
              </a:rPr>
              <a:t>Слушания — способ выявить мнение, а не право вето. Исход решает мотивировка решения главы администрации.</a:t>
            </a:r>
            <a:endParaRPr lang="en-US" sz="17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2 · СЛОЖНОСТЬ 3</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Проблемы квалификации и доказывания</a:t>
            </a:r>
            <a:endParaRPr lang="en-US" sz="3000" dirty="0"/>
          </a:p>
        </p:txBody>
      </p:sp>
      <p:sp>
        <p:nvSpPr>
          <p:cNvPr id="5" name="Shape 3"/>
          <p:cNvSpPr/>
          <p:nvPr/>
        </p:nvSpPr>
        <p:spPr>
          <a:xfrm>
            <a:off x="548640" y="1645920"/>
            <a:ext cx="11094415" cy="1371600"/>
          </a:xfrm>
          <a:prstGeom prst="roundRect">
            <a:avLst>
              <a:gd name="adj" fmla="val 8000"/>
            </a:avLst>
          </a:prstGeom>
          <a:solidFill>
            <a:srgbClr val="EEF3F0"/>
          </a:solidFill>
          <a:ln w="12700">
            <a:solidFill>
              <a:srgbClr val="EEF3F0"/>
            </a:solidFill>
            <a:prstDash val="solid"/>
          </a:ln>
        </p:spPr>
      </p:sp>
      <p:sp>
        <p:nvSpPr>
          <p:cNvPr id="6" name="Shape 4"/>
          <p:cNvSpPr/>
          <p:nvPr/>
        </p:nvSpPr>
        <p:spPr>
          <a:xfrm>
            <a:off x="822960" y="1947672"/>
            <a:ext cx="768096" cy="768096"/>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1007303" y="2132015"/>
            <a:ext cx="399410" cy="399410"/>
          </a:xfrm>
          <a:prstGeom prst="rect">
            <a:avLst/>
          </a:prstGeom>
        </p:spPr>
      </p:pic>
      <p:sp>
        <p:nvSpPr>
          <p:cNvPr id="8" name="Text 5"/>
          <p:cNvSpPr txBox="1"/>
          <p:nvPr/>
        </p:nvSpPr>
        <p:spPr>
          <a:xfrm>
            <a:off x="1874520" y="1773936"/>
            <a:ext cx="9494215" cy="411480"/>
          </a:xfrm>
          <a:prstGeom prst="rect">
            <a:avLst/>
          </a:prstGeom>
          <a:noFill/>
          <a:ln/>
        </p:spPr>
        <p:txBody>
          <a:bodyPr wrap="square" lIns="0" tIns="0" rIns="0" bIns="0" rtlCol="0" anchor="ctr"/>
          <a:lstStyle/>
          <a:p>
            <a:pPr indent="0" marL="0">
              <a:buNone/>
            </a:pPr>
            <a:r>
              <a:rPr lang="en-US" sz="1800" b="1" dirty="0">
                <a:solidFill>
                  <a:srgbClr val="163A33"/>
                </a:solidFill>
                <a:latin typeface="Calibri" pitchFamily="34" charset="0"/>
                <a:ea typeface="Calibri" pitchFamily="34" charset="-122"/>
                <a:cs typeface="Calibri" pitchFamily="34" charset="-120"/>
              </a:rPr>
              <a:t>Разрешение или изменение правил землепользования</a:t>
            </a:r>
            <a:endParaRPr lang="en-US" sz="1800" dirty="0"/>
          </a:p>
        </p:txBody>
      </p:sp>
      <p:sp>
        <p:nvSpPr>
          <p:cNvPr id="9" name="Text 6"/>
          <p:cNvSpPr txBox="1"/>
          <p:nvPr/>
        </p:nvSpPr>
        <p:spPr>
          <a:xfrm>
            <a:off x="1874520" y="2194560"/>
            <a:ext cx="9494215" cy="731520"/>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Условно разрешённый вид получают по ст. 39, а вид, которого нет в регламенте, — только через изменение правил землепользования и застройки (ст. 33). Граница между процедурами — частый предмет спора</a:t>
            </a:r>
            <a:endParaRPr lang="en-US" sz="1500" dirty="0"/>
          </a:p>
        </p:txBody>
      </p:sp>
      <p:sp>
        <p:nvSpPr>
          <p:cNvPr id="10" name="Shape 7"/>
          <p:cNvSpPr/>
          <p:nvPr/>
        </p:nvSpPr>
        <p:spPr>
          <a:xfrm>
            <a:off x="548640" y="3200400"/>
            <a:ext cx="11094415" cy="1371600"/>
          </a:xfrm>
          <a:prstGeom prst="roundRect">
            <a:avLst>
              <a:gd name="adj" fmla="val 8000"/>
            </a:avLst>
          </a:prstGeom>
          <a:solidFill>
            <a:srgbClr val="EEF3F0"/>
          </a:solidFill>
          <a:ln w="12700">
            <a:solidFill>
              <a:srgbClr val="EEF3F0"/>
            </a:solidFill>
            <a:prstDash val="solid"/>
          </a:ln>
        </p:spPr>
      </p:sp>
      <p:sp>
        <p:nvSpPr>
          <p:cNvPr id="11" name="Shape 8"/>
          <p:cNvSpPr/>
          <p:nvPr/>
        </p:nvSpPr>
        <p:spPr>
          <a:xfrm>
            <a:off x="822960" y="3502152"/>
            <a:ext cx="768096" cy="768096"/>
          </a:xfrm>
          <a:prstGeom prst="roundRect">
            <a:avLst>
              <a:gd name="adj" fmla="val 18000"/>
            </a:avLst>
          </a:prstGeom>
          <a:solidFill>
            <a:srgbClr val="163A33"/>
          </a:solidFill>
          <a:ln w="12700">
            <a:solidFill>
              <a:srgbClr val="163A33"/>
            </a:solidFill>
            <a:prstDash val="solid"/>
          </a:ln>
        </p:spPr>
      </p:sp>
      <p:pic>
        <p:nvPicPr>
          <p:cNvPr id="12" name="Image 1" descr="preencoded.png">    </p:cNvPr>
          <p:cNvPicPr>
            <a:picLocks noChangeAspect="1"/>
          </p:cNvPicPr>
          <p:nvPr/>
        </p:nvPicPr>
        <p:blipFill>
          <a:blip r:embed="rId2"/>
          <a:stretch>
            <a:fillRect/>
          </a:stretch>
        </p:blipFill>
        <p:spPr>
          <a:xfrm>
            <a:off x="1007303" y="3686495"/>
            <a:ext cx="399410" cy="399410"/>
          </a:xfrm>
          <a:prstGeom prst="rect">
            <a:avLst/>
          </a:prstGeom>
        </p:spPr>
      </p:pic>
      <p:sp>
        <p:nvSpPr>
          <p:cNvPr id="13" name="Text 9"/>
          <p:cNvSpPr txBox="1"/>
          <p:nvPr/>
        </p:nvSpPr>
        <p:spPr>
          <a:xfrm>
            <a:off x="1874520" y="3328416"/>
            <a:ext cx="9494215" cy="411480"/>
          </a:xfrm>
          <a:prstGeom prst="rect">
            <a:avLst/>
          </a:prstGeom>
          <a:noFill/>
          <a:ln/>
        </p:spPr>
        <p:txBody>
          <a:bodyPr wrap="square" lIns="0" tIns="0" rIns="0" bIns="0" rtlCol="0" anchor="ctr"/>
          <a:lstStyle/>
          <a:p>
            <a:pPr indent="0" marL="0">
              <a:buNone/>
            </a:pPr>
            <a:r>
              <a:rPr lang="en-US" sz="1800" b="1" dirty="0">
                <a:solidFill>
                  <a:srgbClr val="163A33"/>
                </a:solidFill>
                <a:latin typeface="Calibri" pitchFamily="34" charset="0"/>
                <a:ea typeface="Calibri" pitchFamily="34" charset="-122"/>
                <a:cs typeface="Calibri" pitchFamily="34" charset="-120"/>
              </a:rPr>
              <a:t>Чьё мнение учитывать</a:t>
            </a:r>
            <a:endParaRPr lang="en-US" sz="1800" dirty="0"/>
          </a:p>
        </p:txBody>
      </p:sp>
      <p:sp>
        <p:nvSpPr>
          <p:cNvPr id="14" name="Text 10"/>
          <p:cNvSpPr txBox="1"/>
          <p:nvPr/>
        </p:nvSpPr>
        <p:spPr>
          <a:xfrm>
            <a:off x="1874520" y="3749040"/>
            <a:ext cx="9494215" cy="731520"/>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Ч. 3 говорит о жителях территориальной зоны, но в обсуждениях участвуют и жители других районов. Какой вес у их возражений, закон не уточняет</a:t>
            </a:r>
            <a:endParaRPr lang="en-US" sz="1500" dirty="0"/>
          </a:p>
        </p:txBody>
      </p:sp>
      <p:sp>
        <p:nvSpPr>
          <p:cNvPr id="15" name="Shape 11"/>
          <p:cNvSpPr/>
          <p:nvPr/>
        </p:nvSpPr>
        <p:spPr>
          <a:xfrm>
            <a:off x="548640" y="4754880"/>
            <a:ext cx="11094415" cy="1371600"/>
          </a:xfrm>
          <a:prstGeom prst="roundRect">
            <a:avLst>
              <a:gd name="adj" fmla="val 8000"/>
            </a:avLst>
          </a:prstGeom>
          <a:solidFill>
            <a:srgbClr val="EEF3F0"/>
          </a:solidFill>
          <a:ln w="12700">
            <a:solidFill>
              <a:srgbClr val="EEF3F0"/>
            </a:solidFill>
            <a:prstDash val="solid"/>
          </a:ln>
        </p:spPr>
      </p:sp>
      <p:sp>
        <p:nvSpPr>
          <p:cNvPr id="16" name="Shape 12"/>
          <p:cNvSpPr/>
          <p:nvPr/>
        </p:nvSpPr>
        <p:spPr>
          <a:xfrm>
            <a:off x="822960" y="5056632"/>
            <a:ext cx="768096" cy="768096"/>
          </a:xfrm>
          <a:prstGeom prst="roundRect">
            <a:avLst>
              <a:gd name="adj" fmla="val 18000"/>
            </a:avLst>
          </a:prstGeom>
          <a:solidFill>
            <a:srgbClr val="163A33"/>
          </a:solidFill>
          <a:ln w="12700">
            <a:solidFill>
              <a:srgbClr val="163A33"/>
            </a:solidFill>
            <a:prstDash val="solid"/>
          </a:ln>
        </p:spPr>
      </p:sp>
      <p:pic>
        <p:nvPicPr>
          <p:cNvPr id="17" name="Image 2" descr="preencoded.png">    </p:cNvPr>
          <p:cNvPicPr>
            <a:picLocks noChangeAspect="1"/>
          </p:cNvPicPr>
          <p:nvPr/>
        </p:nvPicPr>
        <p:blipFill>
          <a:blip r:embed="rId3"/>
          <a:stretch>
            <a:fillRect/>
          </a:stretch>
        </p:blipFill>
        <p:spPr>
          <a:xfrm>
            <a:off x="1007303" y="5240975"/>
            <a:ext cx="399410" cy="399410"/>
          </a:xfrm>
          <a:prstGeom prst="rect">
            <a:avLst/>
          </a:prstGeom>
        </p:spPr>
      </p:pic>
      <p:sp>
        <p:nvSpPr>
          <p:cNvPr id="18" name="Text 13"/>
          <p:cNvSpPr txBox="1"/>
          <p:nvPr/>
        </p:nvSpPr>
        <p:spPr>
          <a:xfrm>
            <a:off x="1874520" y="4882896"/>
            <a:ext cx="9494215" cy="411480"/>
          </a:xfrm>
          <a:prstGeom prst="rect">
            <a:avLst/>
          </a:prstGeom>
          <a:noFill/>
          <a:ln/>
        </p:spPr>
        <p:txBody>
          <a:bodyPr wrap="square" lIns="0" tIns="0" rIns="0" bIns="0" rtlCol="0" anchor="ctr"/>
          <a:lstStyle/>
          <a:p>
            <a:pPr indent="0" marL="0">
              <a:buNone/>
            </a:pPr>
            <a:r>
              <a:rPr lang="en-US" sz="1800" b="1" dirty="0">
                <a:solidFill>
                  <a:srgbClr val="163A33"/>
                </a:solidFill>
                <a:latin typeface="Calibri" pitchFamily="34" charset="0"/>
                <a:ea typeface="Calibri" pitchFamily="34" charset="-122"/>
                <a:cs typeface="Calibri" pitchFamily="34" charset="-120"/>
              </a:rPr>
              <a:t>Кто вообще вправе просить</a:t>
            </a:r>
            <a:endParaRPr lang="en-US" sz="1800" dirty="0"/>
          </a:p>
        </p:txBody>
      </p:sp>
      <p:sp>
        <p:nvSpPr>
          <p:cNvPr id="19" name="Text 14"/>
          <p:cNvSpPr txBox="1"/>
          <p:nvPr/>
        </p:nvSpPr>
        <p:spPr>
          <a:xfrm>
            <a:off x="1874520" y="5303520"/>
            <a:ext cx="9494215" cy="731520"/>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Арендатор публичной земли, полученной на торгах, не вправе требовать смены вида использования (Обзор ВС РФ от 14.11.2018); при выявленной самовольной постройке процедура заблокирована (ч. 11.1)</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3 · КЕЙС 1</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Обзор практики ВС РФ от 14.11.2018</a:t>
            </a:r>
            <a:endParaRPr lang="en-US" sz="3000" dirty="0"/>
          </a:p>
        </p:txBody>
      </p:sp>
      <p:sp>
        <p:nvSpPr>
          <p:cNvPr id="5" name="Shape 3"/>
          <p:cNvSpPr/>
          <p:nvPr/>
        </p:nvSpPr>
        <p:spPr>
          <a:xfrm>
            <a:off x="548640" y="1600200"/>
            <a:ext cx="11094415" cy="868680"/>
          </a:xfrm>
          <a:prstGeom prst="roundRect">
            <a:avLst>
              <a:gd name="adj" fmla="val 12632"/>
            </a:avLst>
          </a:prstGeom>
          <a:solidFill>
            <a:srgbClr val="EEF3F0"/>
          </a:solidFill>
          <a:ln w="12700">
            <a:solidFill>
              <a:srgbClr val="EEF3F0"/>
            </a:solidFill>
            <a:prstDash val="solid"/>
          </a:ln>
        </p:spPr>
      </p:sp>
      <p:sp>
        <p:nvSpPr>
          <p:cNvPr id="6" name="Shape 4"/>
          <p:cNvSpPr/>
          <p:nvPr/>
        </p:nvSpPr>
        <p:spPr>
          <a:xfrm>
            <a:off x="749808" y="1737360"/>
            <a:ext cx="594360" cy="594360"/>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892454" y="1880006"/>
            <a:ext cx="309067" cy="309067"/>
          </a:xfrm>
          <a:prstGeom prst="rect">
            <a:avLst/>
          </a:prstGeom>
        </p:spPr>
      </p:pic>
      <p:sp>
        <p:nvSpPr>
          <p:cNvPr id="8" name="Text 5"/>
          <p:cNvSpPr txBox="1"/>
          <p:nvPr/>
        </p:nvSpPr>
        <p:spPr>
          <a:xfrm>
            <a:off x="1554480" y="1600200"/>
            <a:ext cx="9859975" cy="868680"/>
          </a:xfrm>
          <a:prstGeom prst="rect">
            <a:avLst/>
          </a:prstGeom>
          <a:noFill/>
          <a:ln/>
        </p:spPr>
        <p:txBody>
          <a:bodyPr wrap="square" lIns="0" tIns="0" rIns="0" bIns="0" rtlCol="0" anchor="ctr"/>
          <a:lstStyle/>
          <a:p>
            <a:pPr indent="0" marL="0">
              <a:buNone/>
            </a:pPr>
            <a:r>
              <a:rPr lang="en-US" sz="1600" dirty="0">
                <a:solidFill>
                  <a:srgbClr val="163A33"/>
                </a:solidFill>
                <a:latin typeface="Calibri" pitchFamily="34" charset="0"/>
                <a:ea typeface="Calibri" pitchFamily="34" charset="-122"/>
                <a:cs typeface="Calibri" pitchFamily="34" charset="-120"/>
              </a:rPr>
              <a:t>Президиум Верховного Суда РФ обобщил практику споров об изменении вида разрешённого использования земельных участков, в том числе о разрешениях по ст. 39</a:t>
            </a:r>
            <a:endParaRPr lang="en-US" sz="1600" dirty="0"/>
          </a:p>
        </p:txBody>
      </p:sp>
      <p:sp>
        <p:nvSpPr>
          <p:cNvPr id="9" name="Shape 6"/>
          <p:cNvSpPr/>
          <p:nvPr/>
        </p:nvSpPr>
        <p:spPr>
          <a:xfrm>
            <a:off x="548640" y="2697480"/>
            <a:ext cx="3515258" cy="3429000"/>
          </a:xfrm>
          <a:prstGeom prst="roundRect">
            <a:avLst>
              <a:gd name="adj" fmla="val 3200"/>
            </a:avLst>
          </a:prstGeom>
          <a:solidFill>
            <a:srgbClr val="EEF3F0"/>
          </a:solidFill>
          <a:ln w="12700">
            <a:solidFill>
              <a:srgbClr val="EEF3F0"/>
            </a:solidFill>
            <a:prstDash val="solid"/>
          </a:ln>
        </p:spPr>
      </p:sp>
      <p:sp>
        <p:nvSpPr>
          <p:cNvPr id="10" name="Shape 7"/>
          <p:cNvSpPr/>
          <p:nvPr/>
        </p:nvSpPr>
        <p:spPr>
          <a:xfrm>
            <a:off x="822960" y="2971800"/>
            <a:ext cx="2966618" cy="438912"/>
          </a:xfrm>
          <a:prstGeom prst="roundRect">
            <a:avLst>
              <a:gd name="adj" fmla="val 16667"/>
            </a:avLst>
          </a:prstGeom>
          <a:solidFill>
            <a:srgbClr val="163A33"/>
          </a:solidFill>
          <a:ln w="12700">
            <a:solidFill>
              <a:srgbClr val="163A33"/>
            </a:solidFill>
            <a:prstDash val="solid"/>
          </a:ln>
        </p:spPr>
      </p:sp>
      <p:sp>
        <p:nvSpPr>
          <p:cNvPr id="11" name="Text 8"/>
          <p:cNvSpPr txBox="1"/>
          <p:nvPr/>
        </p:nvSpPr>
        <p:spPr>
          <a:xfrm>
            <a:off x="822960" y="2971800"/>
            <a:ext cx="2966618" cy="438912"/>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ЧТО ОБОБЩЕНО</a:t>
            </a:r>
            <a:endParaRPr lang="en-US" sz="1300" dirty="0"/>
          </a:p>
        </p:txBody>
      </p:sp>
      <p:sp>
        <p:nvSpPr>
          <p:cNvPr id="12" name="Text 9"/>
          <p:cNvSpPr txBox="1"/>
          <p:nvPr/>
        </p:nvSpPr>
        <p:spPr>
          <a:xfrm>
            <a:off x="822960" y="3593592"/>
            <a:ext cx="2966618" cy="237744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Споры правообладателей с муниципалитетами: когда вид использования выбирают самостоятельно, когда нужно разрешение по ст. 39, а когда — изменение правил землепользования</a:t>
            </a:r>
            <a:endParaRPr lang="en-US" sz="1600" dirty="0"/>
          </a:p>
        </p:txBody>
      </p:sp>
      <p:sp>
        <p:nvSpPr>
          <p:cNvPr id="13" name="Shape 10"/>
          <p:cNvSpPr/>
          <p:nvPr/>
        </p:nvSpPr>
        <p:spPr>
          <a:xfrm>
            <a:off x="4338218" y="2697480"/>
            <a:ext cx="3515258" cy="3429000"/>
          </a:xfrm>
          <a:prstGeom prst="roundRect">
            <a:avLst>
              <a:gd name="adj" fmla="val 3200"/>
            </a:avLst>
          </a:prstGeom>
          <a:solidFill>
            <a:srgbClr val="FBEADF"/>
          </a:solidFill>
          <a:ln w="12700">
            <a:solidFill>
              <a:srgbClr val="FBEADF"/>
            </a:solidFill>
            <a:prstDash val="solid"/>
          </a:ln>
        </p:spPr>
      </p:sp>
      <p:sp>
        <p:nvSpPr>
          <p:cNvPr id="14" name="Shape 11"/>
          <p:cNvSpPr/>
          <p:nvPr/>
        </p:nvSpPr>
        <p:spPr>
          <a:xfrm>
            <a:off x="4612538" y="2971800"/>
            <a:ext cx="2966618" cy="438912"/>
          </a:xfrm>
          <a:prstGeom prst="roundRect">
            <a:avLst>
              <a:gd name="adj" fmla="val 16667"/>
            </a:avLst>
          </a:prstGeom>
          <a:solidFill>
            <a:srgbClr val="D9692E"/>
          </a:solidFill>
          <a:ln w="12700">
            <a:solidFill>
              <a:srgbClr val="D9692E"/>
            </a:solidFill>
            <a:prstDash val="solid"/>
          </a:ln>
        </p:spPr>
      </p:sp>
      <p:sp>
        <p:nvSpPr>
          <p:cNvPr id="15" name="Text 12"/>
          <p:cNvSpPr txBox="1"/>
          <p:nvPr/>
        </p:nvSpPr>
        <p:spPr>
          <a:xfrm>
            <a:off x="4612538" y="2971800"/>
            <a:ext cx="2966618" cy="438912"/>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ПОЗИЦИЯ СУДА</a:t>
            </a:r>
            <a:endParaRPr lang="en-US" sz="1300" dirty="0"/>
          </a:p>
        </p:txBody>
      </p:sp>
      <p:sp>
        <p:nvSpPr>
          <p:cNvPr id="16" name="Text 13"/>
          <p:cNvSpPr txBox="1"/>
          <p:nvPr/>
        </p:nvSpPr>
        <p:spPr>
          <a:xfrm>
            <a:off x="4612538" y="3593592"/>
            <a:ext cx="2966618" cy="237744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«Принятие решения о предоставлении разрешения… или об отказе в таком разрешении без соблюдения установленной законом процедуры, включая… общественные обсуждения или публичные слушания, не допускается»</a:t>
            </a:r>
            <a:endParaRPr lang="en-US" sz="1600" dirty="0"/>
          </a:p>
        </p:txBody>
      </p:sp>
      <p:sp>
        <p:nvSpPr>
          <p:cNvPr id="17" name="Shape 14"/>
          <p:cNvSpPr/>
          <p:nvPr/>
        </p:nvSpPr>
        <p:spPr>
          <a:xfrm>
            <a:off x="8127797" y="2697480"/>
            <a:ext cx="3515258" cy="3429000"/>
          </a:xfrm>
          <a:prstGeom prst="roundRect">
            <a:avLst>
              <a:gd name="adj" fmla="val 3200"/>
            </a:avLst>
          </a:prstGeom>
          <a:solidFill>
            <a:srgbClr val="EEF3F0"/>
          </a:solidFill>
          <a:ln w="12700">
            <a:solidFill>
              <a:srgbClr val="EEF3F0"/>
            </a:solidFill>
            <a:prstDash val="solid"/>
          </a:ln>
        </p:spPr>
      </p:sp>
      <p:sp>
        <p:nvSpPr>
          <p:cNvPr id="18" name="Shape 15"/>
          <p:cNvSpPr/>
          <p:nvPr/>
        </p:nvSpPr>
        <p:spPr>
          <a:xfrm>
            <a:off x="8402117" y="2971800"/>
            <a:ext cx="2966618" cy="438912"/>
          </a:xfrm>
          <a:prstGeom prst="roundRect">
            <a:avLst>
              <a:gd name="adj" fmla="val 16667"/>
            </a:avLst>
          </a:prstGeom>
          <a:solidFill>
            <a:srgbClr val="163A33"/>
          </a:solidFill>
          <a:ln w="12700">
            <a:solidFill>
              <a:srgbClr val="163A33"/>
            </a:solidFill>
            <a:prstDash val="solid"/>
          </a:ln>
        </p:spPr>
      </p:sp>
      <p:sp>
        <p:nvSpPr>
          <p:cNvPr id="19" name="Text 16"/>
          <p:cNvSpPr txBox="1"/>
          <p:nvPr/>
        </p:nvSpPr>
        <p:spPr>
          <a:xfrm>
            <a:off x="8402117" y="2971800"/>
            <a:ext cx="2966618" cy="438912"/>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ЗНАЧЕНИЕ</a:t>
            </a:r>
            <a:endParaRPr lang="en-US" sz="1300" dirty="0"/>
          </a:p>
        </p:txBody>
      </p:sp>
      <p:sp>
        <p:nvSpPr>
          <p:cNvPr id="20" name="Text 17"/>
          <p:cNvSpPr txBox="1"/>
          <p:nvPr/>
        </p:nvSpPr>
        <p:spPr>
          <a:xfrm>
            <a:off x="8402117" y="3593592"/>
            <a:ext cx="2966618" cy="2377440"/>
          </a:xfrm>
          <a:prstGeom prst="rect">
            <a:avLst/>
          </a:prstGeom>
          <a:noFill/>
          <a:ln/>
        </p:spPr>
        <p:txBody>
          <a:bodyPr wrap="square" lIns="0" tIns="0" rIns="0" bIns="0" rtlCol="0" anchor="t"/>
          <a:lstStyle/>
          <a:p>
            <a:pPr indent="0" marL="0">
              <a:buNone/>
            </a:pPr>
            <a:r>
              <a:rPr lang="en-US" sz="1600" dirty="0">
                <a:solidFill>
                  <a:srgbClr val="1B2421"/>
                </a:solidFill>
                <a:latin typeface="Calibri" pitchFamily="34" charset="0"/>
                <a:ea typeface="Calibri" pitchFamily="34" charset="-122"/>
                <a:cs typeface="Calibri" pitchFamily="34" charset="-120"/>
              </a:rPr>
              <a:t>Ни разрешение, ни отказ нельзя «оформить» в обход жителей. Но сами обсуждения, по позиции КС РФ (№ 931-О-О), решение главы не предопределяют — всё решает мотивировка</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D9692E"/>
                </a:solidFill>
                <a:latin typeface="Calibri" pitchFamily="34" charset="0"/>
                <a:ea typeface="Calibri" pitchFamily="34" charset="-122"/>
                <a:cs typeface="Calibri" pitchFamily="34" charset="-120"/>
              </a:rPr>
              <a:t>ВОПРОС 3 · КЕЙС 2</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163A33"/>
                </a:solidFill>
                <a:latin typeface="Cambria" pitchFamily="34" charset="0"/>
                <a:ea typeface="Cambria" pitchFamily="34" charset="-122"/>
                <a:cs typeface="Cambria" pitchFamily="34" charset="-120"/>
              </a:rPr>
              <a:t>Определение ВС РФ от 06.06.2023 № 304-ЭС22-18932</a:t>
            </a:r>
            <a:endParaRPr lang="en-US" sz="3000" dirty="0"/>
          </a:p>
        </p:txBody>
      </p:sp>
      <p:sp>
        <p:nvSpPr>
          <p:cNvPr id="5" name="Shape 3"/>
          <p:cNvSpPr/>
          <p:nvPr/>
        </p:nvSpPr>
        <p:spPr>
          <a:xfrm>
            <a:off x="548640" y="1600200"/>
            <a:ext cx="11094415" cy="868680"/>
          </a:xfrm>
          <a:prstGeom prst="roundRect">
            <a:avLst>
              <a:gd name="adj" fmla="val 12632"/>
            </a:avLst>
          </a:prstGeom>
          <a:solidFill>
            <a:srgbClr val="EEF3F0"/>
          </a:solidFill>
          <a:ln w="12700">
            <a:solidFill>
              <a:srgbClr val="EEF3F0"/>
            </a:solidFill>
            <a:prstDash val="solid"/>
          </a:ln>
        </p:spPr>
      </p:sp>
      <p:sp>
        <p:nvSpPr>
          <p:cNvPr id="6" name="Shape 4"/>
          <p:cNvSpPr/>
          <p:nvPr/>
        </p:nvSpPr>
        <p:spPr>
          <a:xfrm>
            <a:off x="749808" y="1737360"/>
            <a:ext cx="594360" cy="594360"/>
          </a:xfrm>
          <a:prstGeom prst="roundRect">
            <a:avLst>
              <a:gd name="adj" fmla="val 18000"/>
            </a:avLst>
          </a:prstGeom>
          <a:solidFill>
            <a:srgbClr val="163A33"/>
          </a:solidFill>
          <a:ln w="12700">
            <a:solidFill>
              <a:srgbClr val="163A33"/>
            </a:solidFill>
            <a:prstDash val="solid"/>
          </a:ln>
        </p:spPr>
      </p:sp>
      <p:pic>
        <p:nvPicPr>
          <p:cNvPr id="7" name="Image 0" descr="preencoded.png">    </p:cNvPr>
          <p:cNvPicPr>
            <a:picLocks noChangeAspect="1"/>
          </p:cNvPicPr>
          <p:nvPr/>
        </p:nvPicPr>
        <p:blipFill>
          <a:blip r:embed="rId1"/>
          <a:stretch>
            <a:fillRect/>
          </a:stretch>
        </p:blipFill>
        <p:spPr>
          <a:xfrm>
            <a:off x="892454" y="1880006"/>
            <a:ext cx="309067" cy="309067"/>
          </a:xfrm>
          <a:prstGeom prst="rect">
            <a:avLst/>
          </a:prstGeom>
        </p:spPr>
      </p:pic>
      <p:sp>
        <p:nvSpPr>
          <p:cNvPr id="8" name="Text 5"/>
          <p:cNvSpPr txBox="1"/>
          <p:nvPr/>
        </p:nvSpPr>
        <p:spPr>
          <a:xfrm>
            <a:off x="1554480" y="1600200"/>
            <a:ext cx="9859975" cy="868680"/>
          </a:xfrm>
          <a:prstGeom prst="rect">
            <a:avLst/>
          </a:prstGeom>
          <a:noFill/>
          <a:ln/>
        </p:spPr>
        <p:txBody>
          <a:bodyPr wrap="square" lIns="0" tIns="0" rIns="0" bIns="0" rtlCol="0" anchor="ctr"/>
          <a:lstStyle/>
          <a:p>
            <a:pPr indent="0" marL="0">
              <a:buNone/>
            </a:pPr>
            <a:r>
              <a:rPr lang="en-US" sz="1600" dirty="0">
                <a:solidFill>
                  <a:srgbClr val="163A33"/>
                </a:solidFill>
                <a:latin typeface="Calibri" pitchFamily="34" charset="0"/>
                <a:ea typeface="Calibri" pitchFamily="34" charset="-122"/>
                <a:cs typeface="Calibri" pitchFamily="34" charset="-120"/>
              </a:rPr>
              <a:t>Дело № А45-16663/2021: ООО «Формула недвижимости» против мэрии Новосибирска</a:t>
            </a:r>
            <a:endParaRPr lang="en-US" sz="1600" dirty="0"/>
          </a:p>
        </p:txBody>
      </p:sp>
      <p:sp>
        <p:nvSpPr>
          <p:cNvPr id="9" name="Shape 6"/>
          <p:cNvSpPr/>
          <p:nvPr/>
        </p:nvSpPr>
        <p:spPr>
          <a:xfrm>
            <a:off x="548640" y="2697480"/>
            <a:ext cx="3423818" cy="3429000"/>
          </a:xfrm>
          <a:prstGeom prst="roundRect">
            <a:avLst>
              <a:gd name="adj" fmla="val 3205"/>
            </a:avLst>
          </a:prstGeom>
          <a:solidFill>
            <a:srgbClr val="EEF3F0"/>
          </a:solidFill>
          <a:ln w="12700">
            <a:solidFill>
              <a:srgbClr val="EEF3F0"/>
            </a:solidFill>
            <a:prstDash val="solid"/>
          </a:ln>
        </p:spPr>
      </p:sp>
      <p:sp>
        <p:nvSpPr>
          <p:cNvPr id="10" name="Shape 7"/>
          <p:cNvSpPr/>
          <p:nvPr/>
        </p:nvSpPr>
        <p:spPr>
          <a:xfrm>
            <a:off x="822960" y="2971800"/>
            <a:ext cx="502920" cy="502920"/>
          </a:xfrm>
          <a:prstGeom prst="roundRect">
            <a:avLst>
              <a:gd name="adj" fmla="val 18000"/>
            </a:avLst>
          </a:prstGeom>
          <a:solidFill>
            <a:srgbClr val="163A33"/>
          </a:solidFill>
          <a:ln w="12700">
            <a:solidFill>
              <a:srgbClr val="163A33"/>
            </a:solidFill>
            <a:prstDash val="solid"/>
          </a:ln>
        </p:spPr>
      </p:sp>
      <p:sp>
        <p:nvSpPr>
          <p:cNvPr id="11" name="Text 8"/>
          <p:cNvSpPr txBox="1"/>
          <p:nvPr/>
        </p:nvSpPr>
        <p:spPr>
          <a:xfrm>
            <a:off x="822960"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2" name="Text 9"/>
          <p:cNvSpPr txBox="1"/>
          <p:nvPr/>
        </p:nvSpPr>
        <p:spPr>
          <a:xfrm>
            <a:off x="1463040" y="2971800"/>
            <a:ext cx="2326538" cy="502920"/>
          </a:xfrm>
          <a:prstGeom prst="rect">
            <a:avLst/>
          </a:prstGeom>
          <a:noFill/>
          <a:ln/>
        </p:spPr>
        <p:txBody>
          <a:bodyPr wrap="square" lIns="0" tIns="0" rIns="0" bIns="0" rtlCol="0" anchor="ctr"/>
          <a:lstStyle/>
          <a:p>
            <a:pPr indent="0" marL="0">
              <a:buNone/>
            </a:pPr>
            <a:r>
              <a:rPr lang="en-US" sz="1800" b="1" dirty="0">
                <a:solidFill>
                  <a:srgbClr val="163A33"/>
                </a:solidFill>
                <a:latin typeface="Calibri" pitchFamily="34" charset="0"/>
                <a:ea typeface="Calibri" pitchFamily="34" charset="-122"/>
                <a:cs typeface="Calibri" pitchFamily="34" charset="-120"/>
              </a:rPr>
              <a:t>Обстоятельства</a:t>
            </a:r>
            <a:endParaRPr lang="en-US" sz="1800" dirty="0"/>
          </a:p>
        </p:txBody>
      </p:sp>
      <p:sp>
        <p:nvSpPr>
          <p:cNvPr id="13" name="Text 10"/>
          <p:cNvSpPr txBox="1"/>
          <p:nvPr/>
        </p:nvSpPr>
        <p:spPr>
          <a:xfrm>
            <a:off x="822960" y="3657600"/>
            <a:ext cx="2875178" cy="2331720"/>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В 2020 году компания купила незавершённый объект, арендовала участок под ним и запросила условно разрешённый вид. Участники обсуждений высказались против — мэрия отказала</a:t>
            </a:r>
            <a:endParaRPr lang="en-US" sz="1500" dirty="0"/>
          </a:p>
        </p:txBody>
      </p:sp>
      <p:sp>
        <p:nvSpPr>
          <p:cNvPr id="14" name="Shape 11"/>
          <p:cNvSpPr/>
          <p:nvPr/>
        </p:nvSpPr>
        <p:spPr>
          <a:xfrm>
            <a:off x="4045610" y="4265676"/>
            <a:ext cx="265176" cy="292608"/>
          </a:xfrm>
          <a:prstGeom prst="rightArrow">
            <a:avLst/>
          </a:prstGeom>
          <a:solidFill>
            <a:srgbClr val="D9692E"/>
          </a:solidFill>
          <a:ln w="12700">
            <a:solidFill>
              <a:srgbClr val="D9692E"/>
            </a:solidFill>
            <a:prstDash val="solid"/>
          </a:ln>
        </p:spPr>
      </p:sp>
      <p:sp>
        <p:nvSpPr>
          <p:cNvPr id="15" name="Shape 12"/>
          <p:cNvSpPr/>
          <p:nvPr/>
        </p:nvSpPr>
        <p:spPr>
          <a:xfrm>
            <a:off x="4383938" y="2697480"/>
            <a:ext cx="3423818" cy="3429000"/>
          </a:xfrm>
          <a:prstGeom prst="roundRect">
            <a:avLst>
              <a:gd name="adj" fmla="val 3205"/>
            </a:avLst>
          </a:prstGeom>
          <a:solidFill>
            <a:srgbClr val="EEF3F0"/>
          </a:solidFill>
          <a:ln w="12700">
            <a:solidFill>
              <a:srgbClr val="EEF3F0"/>
            </a:solidFill>
            <a:prstDash val="solid"/>
          </a:ln>
        </p:spPr>
      </p:sp>
      <p:sp>
        <p:nvSpPr>
          <p:cNvPr id="16" name="Shape 13"/>
          <p:cNvSpPr/>
          <p:nvPr/>
        </p:nvSpPr>
        <p:spPr>
          <a:xfrm>
            <a:off x="4658258" y="2971800"/>
            <a:ext cx="502920" cy="502920"/>
          </a:xfrm>
          <a:prstGeom prst="roundRect">
            <a:avLst>
              <a:gd name="adj" fmla="val 18000"/>
            </a:avLst>
          </a:prstGeom>
          <a:solidFill>
            <a:srgbClr val="163A33"/>
          </a:solidFill>
          <a:ln w="12700">
            <a:solidFill>
              <a:srgbClr val="163A33"/>
            </a:solidFill>
            <a:prstDash val="solid"/>
          </a:ln>
        </p:spPr>
      </p:sp>
      <p:sp>
        <p:nvSpPr>
          <p:cNvPr id="17" name="Text 14"/>
          <p:cNvSpPr txBox="1"/>
          <p:nvPr/>
        </p:nvSpPr>
        <p:spPr>
          <a:xfrm>
            <a:off x="4658258"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8" name="Text 15"/>
          <p:cNvSpPr txBox="1"/>
          <p:nvPr/>
        </p:nvSpPr>
        <p:spPr>
          <a:xfrm>
            <a:off x="5298338" y="2971800"/>
            <a:ext cx="2326538" cy="502920"/>
          </a:xfrm>
          <a:prstGeom prst="rect">
            <a:avLst/>
          </a:prstGeom>
          <a:noFill/>
          <a:ln/>
        </p:spPr>
        <p:txBody>
          <a:bodyPr wrap="square" lIns="0" tIns="0" rIns="0" bIns="0" rtlCol="0" anchor="ctr"/>
          <a:lstStyle/>
          <a:p>
            <a:pPr indent="0" marL="0">
              <a:buNone/>
            </a:pPr>
            <a:r>
              <a:rPr lang="en-US" sz="1800" b="1" dirty="0">
                <a:solidFill>
                  <a:srgbClr val="163A33"/>
                </a:solidFill>
                <a:latin typeface="Calibri" pitchFamily="34" charset="0"/>
                <a:ea typeface="Calibri" pitchFamily="34" charset="-122"/>
                <a:cs typeface="Calibri" pitchFamily="34" charset="-120"/>
              </a:rPr>
              <a:t>Три инстанции</a:t>
            </a:r>
            <a:endParaRPr lang="en-US" sz="1800" dirty="0"/>
          </a:p>
        </p:txBody>
      </p:sp>
      <p:sp>
        <p:nvSpPr>
          <p:cNvPr id="19" name="Text 16"/>
          <p:cNvSpPr txBox="1"/>
          <p:nvPr/>
        </p:nvSpPr>
        <p:spPr>
          <a:xfrm>
            <a:off x="4658258" y="3657600"/>
            <a:ext cx="2875178" cy="2331720"/>
          </a:xfrm>
          <a:prstGeom prst="rect">
            <a:avLst/>
          </a:prstGeom>
          <a:noFill/>
          <a:ln/>
        </p:spPr>
        <p:txBody>
          <a:bodyPr wrap="square" lIns="0" tIns="0" rIns="0" bIns="0" rtlCol="0" anchor="t"/>
          <a:lstStyle/>
          <a:p>
            <a:pPr indent="0" marL="0">
              <a:buNone/>
            </a:pPr>
            <a:r>
              <a:rPr lang="en-US" sz="1500" dirty="0">
                <a:solidFill>
                  <a:srgbClr val="1B2421"/>
                </a:solidFill>
                <a:latin typeface="Calibri" pitchFamily="34" charset="0"/>
                <a:ea typeface="Calibri" pitchFamily="34" charset="-122"/>
                <a:cs typeface="Calibri" pitchFamily="34" charset="-120"/>
              </a:rPr>
              <a:t>Арбитражные суды трёх инстанций поддержали отказ мэрии, основанный на итогах общественных обсуждений</a:t>
            </a:r>
            <a:endParaRPr lang="en-US" sz="1500" dirty="0"/>
          </a:p>
        </p:txBody>
      </p:sp>
      <p:sp>
        <p:nvSpPr>
          <p:cNvPr id="20" name="Shape 17"/>
          <p:cNvSpPr/>
          <p:nvPr/>
        </p:nvSpPr>
        <p:spPr>
          <a:xfrm>
            <a:off x="7880909" y="4265676"/>
            <a:ext cx="265176" cy="292608"/>
          </a:xfrm>
          <a:prstGeom prst="rightArrow">
            <a:avLst/>
          </a:prstGeom>
          <a:solidFill>
            <a:srgbClr val="D9692E"/>
          </a:solidFill>
          <a:ln w="12700">
            <a:solidFill>
              <a:srgbClr val="D9692E"/>
            </a:solidFill>
            <a:prstDash val="solid"/>
          </a:ln>
        </p:spPr>
      </p:sp>
      <p:sp>
        <p:nvSpPr>
          <p:cNvPr id="21" name="Shape 18"/>
          <p:cNvSpPr/>
          <p:nvPr/>
        </p:nvSpPr>
        <p:spPr>
          <a:xfrm>
            <a:off x="8219237" y="2697480"/>
            <a:ext cx="3423818" cy="3429000"/>
          </a:xfrm>
          <a:prstGeom prst="roundRect">
            <a:avLst>
              <a:gd name="adj" fmla="val 3205"/>
            </a:avLst>
          </a:prstGeom>
          <a:solidFill>
            <a:srgbClr val="163A33"/>
          </a:solidFill>
          <a:ln w="12700">
            <a:solidFill>
              <a:srgbClr val="163A33"/>
            </a:solidFill>
            <a:prstDash val="solid"/>
          </a:ln>
        </p:spPr>
      </p:sp>
      <p:sp>
        <p:nvSpPr>
          <p:cNvPr id="22" name="Shape 19"/>
          <p:cNvSpPr/>
          <p:nvPr/>
        </p:nvSpPr>
        <p:spPr>
          <a:xfrm>
            <a:off x="8493557" y="2971800"/>
            <a:ext cx="502920" cy="502920"/>
          </a:xfrm>
          <a:prstGeom prst="roundRect">
            <a:avLst>
              <a:gd name="adj" fmla="val 18000"/>
            </a:avLst>
          </a:prstGeom>
          <a:solidFill>
            <a:srgbClr val="D9692E"/>
          </a:solidFill>
          <a:ln w="12700">
            <a:solidFill>
              <a:srgbClr val="D9692E"/>
            </a:solidFill>
            <a:prstDash val="solid"/>
          </a:ln>
        </p:spPr>
      </p:sp>
      <p:sp>
        <p:nvSpPr>
          <p:cNvPr id="23" name="Text 20"/>
          <p:cNvSpPr txBox="1"/>
          <p:nvPr/>
        </p:nvSpPr>
        <p:spPr>
          <a:xfrm>
            <a:off x="8493557"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4" name="Text 21"/>
          <p:cNvSpPr txBox="1"/>
          <p:nvPr/>
        </p:nvSpPr>
        <p:spPr>
          <a:xfrm>
            <a:off x="9133637" y="2971800"/>
            <a:ext cx="2326538"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Верховный Суд</a:t>
            </a:r>
            <a:endParaRPr lang="en-US" sz="1800" dirty="0"/>
          </a:p>
        </p:txBody>
      </p:sp>
      <p:sp>
        <p:nvSpPr>
          <p:cNvPr id="25" name="Text 22"/>
          <p:cNvSpPr txBox="1"/>
          <p:nvPr/>
        </p:nvSpPr>
        <p:spPr>
          <a:xfrm>
            <a:off x="8493557" y="3657600"/>
            <a:ext cx="2875178" cy="2331720"/>
          </a:xfrm>
          <a:prstGeom prst="rect">
            <a:avLst/>
          </a:prstGeom>
          <a:noFill/>
          <a:ln/>
        </p:spPr>
        <p:txBody>
          <a:bodyPr wrap="square" lIns="0" tIns="0" rIns="0" bIns="0" rtlCol="0" anchor="t"/>
          <a:lstStyle/>
          <a:p>
            <a:pPr indent="0" marL="0">
              <a:buNone/>
            </a:pPr>
            <a:r>
              <a:rPr lang="en-US" sz="1500" dirty="0">
                <a:solidFill>
                  <a:srgbClr val="D3E3DB"/>
                </a:solidFill>
                <a:latin typeface="Calibri" pitchFamily="34" charset="0"/>
                <a:ea typeface="Calibri" pitchFamily="34" charset="-122"/>
                <a:cs typeface="Calibri" pitchFamily="34" charset="-120"/>
              </a:rPr>
              <a:t>Трое из четырёх возражавших жили в других районах, а мэрия не доказала нарушения прав соседей и баланса интересов. Акты нижестоящих судов отменены</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96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137160" cy="137160"/>
          </a:xfrm>
          <a:prstGeom prst="rect">
            <a:avLst/>
          </a:prstGeom>
          <a:solidFill>
            <a:srgbClr val="D9692E"/>
          </a:solidFill>
          <a:ln w="12700">
            <a:solidFill>
              <a:srgbClr val="D9692E"/>
            </a:solidFill>
            <a:prstDash val="solid"/>
          </a:ln>
        </p:spPr>
      </p:sp>
      <p:sp>
        <p:nvSpPr>
          <p:cNvPr id="3" name="Text 1"/>
          <p:cNvSpPr txBox="1"/>
          <p:nvPr/>
        </p:nvSpPr>
        <p:spPr>
          <a:xfrm>
            <a:off x="804672" y="365760"/>
            <a:ext cx="9144000" cy="310896"/>
          </a:xfrm>
          <a:prstGeom prst="rect">
            <a:avLst/>
          </a:prstGeom>
          <a:noFill/>
          <a:ln/>
        </p:spPr>
        <p:txBody>
          <a:bodyPr wrap="square" lIns="0" tIns="0" rIns="0" bIns="0" rtlCol="0" anchor="ctr"/>
          <a:lstStyle/>
          <a:p>
            <a:pPr indent="0" marL="0">
              <a:buNone/>
            </a:pPr>
            <a:r>
              <a:rPr lang="en-US" sz="1200" b="1" spc="200" kern="0" dirty="0">
                <a:solidFill>
                  <a:srgbClr val="8FB9A8"/>
                </a:solidFill>
                <a:latin typeface="Calibri" pitchFamily="34" charset="0"/>
                <a:ea typeface="Calibri" pitchFamily="34" charset="-122"/>
                <a:cs typeface="Calibri" pitchFamily="34" charset="-120"/>
              </a:rPr>
              <a:t>ВЫВОДЫ</a:t>
            </a:r>
            <a:endParaRPr lang="en-US" sz="1200" dirty="0"/>
          </a:p>
        </p:txBody>
      </p:sp>
      <p:sp>
        <p:nvSpPr>
          <p:cNvPr id="4" name="Text 2"/>
          <p:cNvSpPr txBox="1"/>
          <p:nvPr/>
        </p:nvSpPr>
        <p:spPr>
          <a:xfrm>
            <a:off x="548640" y="713232"/>
            <a:ext cx="11094415"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Итоги анализа статьи 39 ГрК РФ</a:t>
            </a:r>
            <a:endParaRPr lang="en-US" sz="3000" dirty="0"/>
          </a:p>
        </p:txBody>
      </p:sp>
      <p:sp>
        <p:nvSpPr>
          <p:cNvPr id="5" name="Shape 3"/>
          <p:cNvSpPr/>
          <p:nvPr/>
        </p:nvSpPr>
        <p:spPr>
          <a:xfrm>
            <a:off x="548640" y="1691640"/>
            <a:ext cx="11094415" cy="1325880"/>
          </a:xfrm>
          <a:prstGeom prst="roundRect">
            <a:avLst>
              <a:gd name="adj" fmla="val 8276"/>
            </a:avLst>
          </a:prstGeom>
          <a:solidFill>
            <a:srgbClr val="1F4D44"/>
          </a:solidFill>
          <a:ln w="12700">
            <a:solidFill>
              <a:srgbClr val="1F4D44"/>
            </a:solidFill>
            <a:prstDash val="solid"/>
          </a:ln>
        </p:spPr>
      </p:sp>
      <p:sp>
        <p:nvSpPr>
          <p:cNvPr id="6" name="Shape 4"/>
          <p:cNvSpPr/>
          <p:nvPr/>
        </p:nvSpPr>
        <p:spPr>
          <a:xfrm>
            <a:off x="822960" y="1965960"/>
            <a:ext cx="777240" cy="777240"/>
          </a:xfrm>
          <a:prstGeom prst="roundRect">
            <a:avLst>
              <a:gd name="adj" fmla="val 18000"/>
            </a:avLst>
          </a:prstGeom>
          <a:solidFill>
            <a:srgbClr val="D9692E"/>
          </a:solidFill>
          <a:ln w="12700">
            <a:solidFill>
              <a:srgbClr val="D9692E"/>
            </a:solidFill>
            <a:prstDash val="solid"/>
          </a:ln>
        </p:spPr>
      </p:sp>
      <p:sp>
        <p:nvSpPr>
          <p:cNvPr id="7" name="Text 5"/>
          <p:cNvSpPr txBox="1"/>
          <p:nvPr/>
        </p:nvSpPr>
        <p:spPr>
          <a:xfrm>
            <a:off x="822960" y="196596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1874520" y="1837944"/>
            <a:ext cx="9494215"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Решение отдано одному должностному лицу</a:t>
            </a:r>
            <a:endParaRPr lang="en-US" sz="1900" dirty="0"/>
          </a:p>
        </p:txBody>
      </p:sp>
      <p:sp>
        <p:nvSpPr>
          <p:cNvPr id="9" name="Text 7"/>
          <p:cNvSpPr txBox="1"/>
          <p:nvPr/>
        </p:nvSpPr>
        <p:spPr>
          <a:xfrm>
            <a:off x="1874520" y="2276856"/>
            <a:ext cx="9494215" cy="649224"/>
          </a:xfrm>
          <a:prstGeom prst="rect">
            <a:avLst/>
          </a:prstGeom>
          <a:noFill/>
          <a:ln/>
        </p:spPr>
        <p:txBody>
          <a:bodyPr wrap="square" lIns="0" tIns="0" rIns="0" bIns="0" rtlCol="0" anchor="t"/>
          <a:lstStyle/>
          <a:p>
            <a:pPr indent="0" marL="0">
              <a:buNone/>
            </a:pPr>
            <a:r>
              <a:rPr lang="en-US" sz="1500" dirty="0">
                <a:solidFill>
                  <a:srgbClr val="D3E3DB"/>
                </a:solidFill>
                <a:latin typeface="Calibri" pitchFamily="34" charset="0"/>
                <a:ea typeface="Calibri" pitchFamily="34" charset="-122"/>
                <a:cs typeface="Calibri" pitchFamily="34" charset="-120"/>
              </a:rPr>
              <a:t>Статья подробно описывает процедуру, но не называет оснований для отказа — выбор остаётся за главой администрации</a:t>
            </a:r>
            <a:endParaRPr lang="en-US" sz="1500" dirty="0"/>
          </a:p>
        </p:txBody>
      </p:sp>
      <p:sp>
        <p:nvSpPr>
          <p:cNvPr id="10" name="Shape 8"/>
          <p:cNvSpPr/>
          <p:nvPr/>
        </p:nvSpPr>
        <p:spPr>
          <a:xfrm>
            <a:off x="548640" y="3218688"/>
            <a:ext cx="11094415" cy="1325880"/>
          </a:xfrm>
          <a:prstGeom prst="roundRect">
            <a:avLst>
              <a:gd name="adj" fmla="val 8276"/>
            </a:avLst>
          </a:prstGeom>
          <a:solidFill>
            <a:srgbClr val="1F4D44"/>
          </a:solidFill>
          <a:ln w="12700">
            <a:solidFill>
              <a:srgbClr val="1F4D44"/>
            </a:solidFill>
            <a:prstDash val="solid"/>
          </a:ln>
        </p:spPr>
      </p:sp>
      <p:sp>
        <p:nvSpPr>
          <p:cNvPr id="11" name="Shape 9"/>
          <p:cNvSpPr/>
          <p:nvPr/>
        </p:nvSpPr>
        <p:spPr>
          <a:xfrm>
            <a:off x="822960" y="3493008"/>
            <a:ext cx="777240" cy="777240"/>
          </a:xfrm>
          <a:prstGeom prst="roundRect">
            <a:avLst>
              <a:gd name="adj" fmla="val 18000"/>
            </a:avLst>
          </a:prstGeom>
          <a:solidFill>
            <a:srgbClr val="D9692E"/>
          </a:solidFill>
          <a:ln w="12700">
            <a:solidFill>
              <a:srgbClr val="D9692E"/>
            </a:solidFill>
            <a:prstDash val="solid"/>
          </a:ln>
        </p:spPr>
      </p:sp>
      <p:sp>
        <p:nvSpPr>
          <p:cNvPr id="12" name="Text 10"/>
          <p:cNvSpPr txBox="1"/>
          <p:nvPr/>
        </p:nvSpPr>
        <p:spPr>
          <a:xfrm>
            <a:off x="822960" y="3493008"/>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1874520" y="3364992"/>
            <a:ext cx="9494215"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Обсуждения — не право вето</a:t>
            </a:r>
            <a:endParaRPr lang="en-US" sz="1900" dirty="0"/>
          </a:p>
        </p:txBody>
      </p:sp>
      <p:sp>
        <p:nvSpPr>
          <p:cNvPr id="14" name="Text 12"/>
          <p:cNvSpPr txBox="1"/>
          <p:nvPr/>
        </p:nvSpPr>
        <p:spPr>
          <a:xfrm>
            <a:off x="1874520" y="3803904"/>
            <a:ext cx="9494215" cy="649224"/>
          </a:xfrm>
          <a:prstGeom prst="rect">
            <a:avLst/>
          </a:prstGeom>
          <a:noFill/>
          <a:ln/>
        </p:spPr>
        <p:txBody>
          <a:bodyPr wrap="square" lIns="0" tIns="0" rIns="0" bIns="0" rtlCol="0" anchor="t"/>
          <a:lstStyle/>
          <a:p>
            <a:pPr indent="0" marL="0">
              <a:buNone/>
            </a:pPr>
            <a:r>
              <a:rPr lang="en-US" sz="1500" dirty="0">
                <a:solidFill>
                  <a:srgbClr val="D3E3DB"/>
                </a:solidFill>
                <a:latin typeface="Calibri" pitchFamily="34" charset="0"/>
                <a:ea typeface="Calibri" pitchFamily="34" charset="-122"/>
                <a:cs typeface="Calibri" pitchFamily="34" charset="-120"/>
              </a:rPr>
              <a:t>По позиции КС РФ итоги слушаний рекомендательны; суды проверяют, стоит ли за отказом реальное нарушение прав</a:t>
            </a:r>
            <a:endParaRPr lang="en-US" sz="1500" dirty="0"/>
          </a:p>
        </p:txBody>
      </p:sp>
      <p:sp>
        <p:nvSpPr>
          <p:cNvPr id="15" name="Shape 13"/>
          <p:cNvSpPr/>
          <p:nvPr/>
        </p:nvSpPr>
        <p:spPr>
          <a:xfrm>
            <a:off x="548640" y="4745736"/>
            <a:ext cx="11094415" cy="1325880"/>
          </a:xfrm>
          <a:prstGeom prst="roundRect">
            <a:avLst>
              <a:gd name="adj" fmla="val 8276"/>
            </a:avLst>
          </a:prstGeom>
          <a:solidFill>
            <a:srgbClr val="D9692E"/>
          </a:solidFill>
          <a:ln w="12700">
            <a:solidFill>
              <a:srgbClr val="D9692E"/>
            </a:solidFill>
            <a:prstDash val="solid"/>
          </a:ln>
        </p:spPr>
      </p:sp>
      <p:sp>
        <p:nvSpPr>
          <p:cNvPr id="16" name="Shape 14"/>
          <p:cNvSpPr/>
          <p:nvPr/>
        </p:nvSpPr>
        <p:spPr>
          <a:xfrm>
            <a:off x="822960" y="5020056"/>
            <a:ext cx="777240" cy="777240"/>
          </a:xfrm>
          <a:prstGeom prst="roundRect">
            <a:avLst>
              <a:gd name="adj" fmla="val 18000"/>
            </a:avLst>
          </a:prstGeom>
          <a:solidFill>
            <a:srgbClr val="FFFFFF"/>
          </a:solidFill>
          <a:ln w="12700">
            <a:solidFill>
              <a:srgbClr val="FFFFFF"/>
            </a:solidFill>
            <a:prstDash val="solid"/>
          </a:ln>
        </p:spPr>
      </p:sp>
      <p:sp>
        <p:nvSpPr>
          <p:cNvPr id="17" name="Text 15"/>
          <p:cNvSpPr txBox="1"/>
          <p:nvPr/>
        </p:nvSpPr>
        <p:spPr>
          <a:xfrm>
            <a:off x="822960" y="5020056"/>
            <a:ext cx="777240" cy="777240"/>
          </a:xfrm>
          <a:prstGeom prst="rect">
            <a:avLst/>
          </a:prstGeom>
          <a:noFill/>
          <a:ln/>
        </p:spPr>
        <p:txBody>
          <a:bodyPr wrap="square" lIns="0" tIns="0" rIns="0" bIns="0" rtlCol="0" anchor="ctr"/>
          <a:lstStyle/>
          <a:p>
            <a:pPr algn="ctr" indent="0" marL="0">
              <a:buNone/>
            </a:pPr>
            <a:r>
              <a:rPr lang="en-US" sz="2600" b="1" dirty="0">
                <a:solidFill>
                  <a:srgbClr val="D9692E"/>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1874520" y="4892040"/>
            <a:ext cx="9494215" cy="438912"/>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Предложение</a:t>
            </a:r>
            <a:endParaRPr lang="en-US" sz="1900" dirty="0"/>
          </a:p>
        </p:txBody>
      </p:sp>
      <p:sp>
        <p:nvSpPr>
          <p:cNvPr id="19" name="Text 17"/>
          <p:cNvSpPr txBox="1"/>
          <p:nvPr/>
        </p:nvSpPr>
        <p:spPr>
          <a:xfrm>
            <a:off x="1874520" y="5330952"/>
            <a:ext cx="9494215" cy="649224"/>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Закрепить в ст. 39 закрытый перечень оснований для отказа и обязанность мотивировать решение, если оно расходится с рекомендациями комиссии</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9A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Статья 39 ГрК РФ</dc:title>
  <dc:subject>PptxGenJS Presentation</dc:subject>
  <dc:creator>Буев Даниил</dc:creator>
  <cp:lastModifiedBy>Буев Даниил</cp:lastModifiedBy>
  <cp:revision>1</cp:revision>
  <dcterms:created xsi:type="dcterms:W3CDTF">2026-10-15T14:13:25Z</dcterms:created>
  <dcterms:modified xsi:type="dcterms:W3CDTF">2026-10-15T14:13:25Z</dcterms:modified>
</cp:coreProperties>
</file>